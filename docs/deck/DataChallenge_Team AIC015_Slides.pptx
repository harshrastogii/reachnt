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a2b5af1-2cf6-02bf-e132-e184b715b762}">
          <p14:sldIdLst>
            <p14:sldId id="256"/>
          </p14:sldIdLst>
        </p14:section>
        <p14:section name="Problem" id="{a558f3f2-7a5f-d32c-5dac-81a0d9409602}">
          <p14:sldIdLst>
            <p14:sldId id="257"/>
            <p14:sldId id="258"/>
          </p14:sldIdLst>
        </p14:section>
        <p14:section name="Solution" id="{d69e74d5-5a23-436b-b725-e7ca1ec29663}">
          <p14:sldIdLst>
            <p14:sldId id="259"/>
          </p14:sldIdLst>
        </p14:section>
        <p14:section name="Technology" id="{4c097d64-e9c4-9df2-f0f5-a7e866436d4d}">
          <p14:sldIdLst>
            <p14:sldId id="260"/>
            <p14:sldId id="261"/>
            <p14:sldId id="262"/>
            <p14:sldId id="263"/>
          </p14:sldIdLst>
        </p14:section>
        <p14:section name="Results" id="{b66a1b54-901b-e064-f42a-f235b5a8d142}">
          <p14:sldIdLst>
            <p14:sldId id="264"/>
            <p14:sldId id="265"/>
          </p14:sldIdLst>
        </p14:section>
        <p14:section name="Product" id="{20adb541-6246-695c-6cc0-3adfc2b982dd}">
          <p14:sldIdLst>
            <p14:sldId id="266"/>
          </p14:sldIdLst>
        </p14:section>
        <p14:section name="Trust" id="{075291d2-32c7-0c22-3c9f-fa2a9380583d}">
          <p14:sldIdLst>
            <p14:sldId id="267"/>
            <p14:sldId id="268"/>
          </p14:sldIdLst>
        </p14:section>
        <p14:section name="Close" id="{7a149782-aade-9fe0-4300-e1c099221b1c}">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Cheapest jobs first: 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Days until 9 in 10 urgent repairs are fixed</c:v>
                </c:pt>
              </c:strCache>
            </c:strRef>
          </c:tx>
          <c:spPr>
            <a:solidFill>
              <a:srgbClr val="D97706"/>
            </a:solidFill>
            <a:effectLst/>
          </c:spPr>
          <c:invertIfNegative val="0"/>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c:v>
                  </c:pt>
                  <c:pt idx="2">
                    <c:v>Remote (road)</c:v>
                  </c:pt>
                  <c:pt idx="3">
                    <c:v>Very remote</c:v>
                  </c:pt>
                  <c:pt idx="4">
                    <c:v>Cut off in the wet</c:v>
                  </c:pt>
                  <c:pt idx="5">
                    <c:v>Islands</c:v>
                  </c:pt>
                </c:lvl>
              </c:multiLvlStrCache>
            </c:multiLvlStrRef>
          </c:cat>
          <c:val>
            <c:numRef>
              <c:f>Sheet1!$B$2:$B$7</c:f>
              <c:numCache>
                <c:formatCode>General</c:formatCode>
                <c:ptCount val="6"/>
                <c:pt idx="0">
                  <c:v>3</c:v>
                </c:pt>
                <c:pt idx="1">
                  <c:v>7</c:v>
                </c:pt>
                <c:pt idx="2">
                  <c:v>70</c:v>
                </c:pt>
                <c:pt idx="3">
                  <c:v>74</c:v>
                </c:pt>
                <c:pt idx="4">
                  <c:v>69</c:v>
                </c:pt>
                <c:pt idx="5">
                  <c:v>73</c:v>
                </c:pt>
              </c:numCache>
            </c:numRef>
          </c:val>
        </c:ser>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households lived with a fault in a year (thousands)</a:t>
            </a:r>
          </a:p>
        </c:rich>
      </c:tx>
      <c:layout/>
      <c:overlay val="0"/>
    </c:title>
    <c:autoTitleDeleted val="0"/>
    <c:plotArea>
      <c:layout/>
      <c:barChart>
        <c:barDir val="col"/>
        <c:grouping val="clustered"/>
        <c:varyColors val="0"/>
        <c:ser>
          <c:idx val="0"/>
          <c:order val="0"/>
          <c:tx>
            <c:strRef>
              <c:f>Sheet1!$B$1</c:f>
              <c:strCache>
                <c:ptCount val="1"/>
                <c:pt idx="0">
                  <c:v>Days households lived with a fault (thousands)</c:v>
                </c:pt>
              </c:strCache>
            </c:strRef>
          </c:tx>
          <c:spPr>
            <a:solidFill>
              <a:srgbClr val="D97706"/>
            </a:solidFill>
            <a:effectLst/>
          </c:spPr>
          <c:invertIfNegative val="0"/>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dPt>
            <c:idx val="0"/>
            <c:invertIfNegative val="0"/>
            <c:bubble3D val="0"/>
            <c:spPr>
              <a:solidFill>
                <a:srgbClr val="D97706"/>
              </a:solidFill>
              <a:effectLst/>
            </c:spPr>
          </c:dPt>
          <c:dPt>
            <c:idx val="1"/>
            <c:invertIfNegative val="0"/>
            <c:bubble3D val="0"/>
            <c:spPr>
              <a:solidFill>
                <a:srgbClr val="0A7AFF"/>
              </a:solidFill>
              <a:effectLst/>
            </c:spPr>
          </c:dPt>
          <c:dPt>
            <c:idx val="2"/>
            <c:invertIfNegative val="0"/>
            <c:bubble3D val="0"/>
            <c:spPr>
              <a:solidFill>
                <a:srgbClr val="0E8FB8"/>
              </a:solidFill>
              <a:effectLst/>
            </c:spPr>
          </c:dPt>
          <c:cat>
            <c:multiLvlStrRef>
              <c:f>Sheet1!$A$2:$A$4</c:f>
              <c:multiLvlStrCache>
                <c:ptCount val="3"/>
                <c:lvl>
                  <c:pt idx="0">
                    <c:v>Cheapest first</c:v>
                  </c:pt>
                  <c:pt idx="1">
                    <c:v>Urgent first, no sharing</c:v>
                  </c:pt>
                  <c:pt idx="2">
                    <c:v>ReachNT</c:v>
                  </c:pt>
                </c:lvl>
              </c:multiLvlStrCache>
            </c:multiLvlStrRef>
          </c:cat>
          <c:val>
            <c:numRef>
              <c:f>Sheet1!$B$2:$B$4</c:f>
              <c:numCache>
                <c:formatCode>General</c:formatCode>
                <c:ptCount val="3"/>
                <c:pt idx="0">
                  <c:v>226</c:v>
                </c:pt>
                <c:pt idx="1">
                  <c:v>74</c:v>
                </c:pt>
                <c:pt idx="2">
                  <c:v>61</c:v>
                </c:pt>
              </c:numCache>
            </c:numRef>
          </c:val>
        </c:ser>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30 seconds]
Good morning. I'm Harsh, this is Aashish, and we're Team Top Enders.
Imagine a family in a remote community in the Northern Territory. The water to their house stops. They ring the repairs line. In town, a plumber would be there in a couple of days. For them, it can take weeks.
Our project, ReachNT, is about why that happens, and what AI can do about it. Aashish will start with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Here's the problem in four numbers.
There are 70 remote communities in our model, with about 4,500 public houses.
Emergency repairs in very remote communities cost eight and a half times as much, and travel can be almost the whole bill. Katherine's tradespeople drive up to six hours.
So here is the kind of message a tenant gets from our simulation: no water to the house, waited 57 days, held up by travel cost. Notice the last line: nobody signed off on that. It just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Why does this happen? Because the obvious way to plan repairs is to fix the most jobs for your money.
We simulated a whole year of repairs across the Territory. When you plan for the cheapest jobs, town tenants get urgent repairs in 3 days. Remote tenants wait up to 62. That's the orange bars.
The important part is on the right. No one decided this. Nobody wrote a rule saying remote families wait. It's a side effect of chasing efficiency, and nobody is accountable for it.
That's the gap we set out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40 seconds]
Thanks Aashish. ReachNT does four things.
One: it reads the report the way the tenant said it. If it isn't sure, a person calls back.
Two: it ranks repairs by need alone. Where you live is never part of your score.
Three: every week it plans the trips, and close communities share one trip.
Four: a named person signs how much cost counts, and every tenant can see why their repair is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Now the AI. Tenants don't fill in forms. They say things like "no sparks now but the switch is black and the kids touch it".
ReachNT reads that with word rules and a learning model for wording the rules miss.
The key design choice: if it's unsure, or anything sounds dangerous, a person checks the same day, and it never downgrades danger on its own.
We tested it on wording it had never seen. The model alone is decent, a ROC-AUC of 0.84. With the person in the loop, the system caught 99.3 percent of dangerous reports.
And we're honest about its limits: its confidence isn't reliable, so we never show tenants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Thanks Harsh. There's a quieter unfairness too.
If points come only from what tenants say, "my nana lives here, nine of us, third time I rang" beats "toilet blocked, please come". Same house, same need.
So whoever the tenant tells asks the same six questions, with a free interpreter, and the tenancy record fills in the rest.
On three thousand made-up households, saying less cost 19 points from words alone. With the questions, about 2.
And the clock starts when the tenant first told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This was my favourite decision. Early on I suggested Uber's H3, an open-source map grid made of hexagons, and Harsh built the whole system around it.
Why hexagons? The middle square has neighbours at two different distances, the sides and the corners. A hexagon's six neighbours are all the same distance away.
So "within two hexagons" means the same distance in every direction, and the rule for sharing a trip treats every community the same.
And one grid does four jobs: shared trips, privacy, public numbers by area, and the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35 seconds]
Every week Google's OR-Tools plans the trips around crew hours, road closures and airstrips. A job running out of time gets a boost onto the next trip.
Instead of two trips out and back, one tradesperson does one loop, and H3 tells us which pairs are close enough. And a plumber and an electrician going to the same place share the ute or the plane.
That saves about $73 on every repair, and because the savings buy more visits, households spend 18% fewer days living with faults.
And it's fast: the solver proved 99.4 percent of over 25 thousand weekly plans to be the best possible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So what does it buy? A year of 37,508 made-up requests over the real Territory.
Planning for the cheapest jobs costs $559 a repair. ReachNT costs $803. About 44% more.
For that, nine in ten urgent remote repairs are fixed within 3 days instead of 62, and households live with faults for 73% fewer days. That's the chart.
We didn't trust one lucky year, so we ran five. The result held every time.
We're not saying cost doesn't matter. We're saying the trade-off should be visible, priced, and signed by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Floods and cyclones hit whole communities at once. The coordinator declares an event: every house made safe within 48 hours, one team trip with all the trades, and surge crews from the contractor panel.
We modelled a flood like January 2023 at Kalkarindji. With the usual crews, flood repairs took 15 days, and everyone else in the region slipped from 3 to 10.
With surge crews, both stayed at 3 days. A disaster shouldn't quietly take other communities' trades.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65 seconds, including a short live demo if there's time]
This is the working prototype, live at reachnt dot vercel dot app.
On the left is the coordinator's week: each hexagon is a community, the number is repairs waiting, green means a tradesperson goes this week, and the blue lines are shared trips.
[Live demo, keep it short: Housing officer view, record "still broken" for a tenant; Coordinator, Checks, send it to another crew; Tenant timeline.]
On the phone, tradespeople get a run sheet that works with no signal, and tenants see every week their repair waited,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45 seconds]
Because this affects people's homes, people stay in charge.
A named coordinator signs how much cost counts.
Urgency can change any time, so a person can change it: on a call, on site, from a photo. The computer never makes danger less urgent.
If a tradesperson couldn't do a job, it's never closed. The coordinator sends it to the next trip, another crew, or anyone who can go sooner, and it keeps its waiting time.
No app is needed: the housing officer can record anything for a tenant, and a fix that didn't hold moves up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We want to be straight about what we've proven and what we haven't.
On the left: we have ninety-eight automated checks that run on every change, we tested five random years, we checked every community's location against satellite photos, and the site passes accessibility checks.
On the right: the repair requests are synthetic, because no public repair data exists. The reader is tested in English only, and many tenants speak Kriol or Aboriginal English. And no community has reviewed this yet.
That's why our first recommendation is about people,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Three recommendations.
One: make the trade-off a signed decision. Publish the rules, ask every tenant the same questions, and record who decides how much cost counts.
Two: pilot it in one region, the Katherine hub's sixteen communities, and design it with tenants, Aboriginal Housing NT, land councils and interpreters.
Three: test the AI on real words before it reads anything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20 seconds]
To finish: where someone lives shouldn't decide how long they wait for water, power or a safe home.
ReachNT fixes urgent remote repairs in days instead of months, for a cost we can see and name, and it makes someone own that choice.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76656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731520" y="2880360"/>
            <a:ext cx="6035040" cy="164592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72200"/>
            <a:ext cx="10698480" cy="320040"/>
          </a:xfrm>
          <a:prstGeom prst="rect">
            <a:avLst/>
          </a:prstGeom>
          <a:noFill/>
          <a:ln/>
        </p:spPr>
        <p:txBody>
          <a:bodyPr wrap="square" rtlCol="0" anchor="ctr"/>
          <a:lstStyle/>
          <a:p>
            <a:pPr indent="0" marL="0">
              <a:buNone/>
            </a:pPr>
            <a:r>
              <a:rPr lang="en-US" sz="1200" dirty="0">
                <a:solidFill>
                  <a:srgbClr val="9AA3AD"/>
                </a:solidFill>
              </a:rPr>
              <a:t>CDU IT Code Fair 2026 · Artificial Intelligence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6B7480"/>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9AA3AD"/>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ap-backdrop" descr="map-backdrop">    </p:cNvPr>
          <p:cNvPicPr>
            <a:picLocks noChangeAspect="1"/>
          </p:cNvPicPr>
          <p:nvPr/>
        </p:nvPicPr>
        <p:blipFill>
          <a:blip r:embed="rId1">
            <a:alphaModFix amt="65000"/>
          </a:blip>
          <a:srcRect l="0" r="0" t="0" b="0"/>
          <a:stretch/>
        </p:blipFill>
        <p:spPr>
          <a:xfrm>
            <a:off x="6035040" y="0"/>
            <a:ext cx="6153912" cy="6858000"/>
          </a:xfrm>
          <a:prstGeom prst="rect">
            <a:avLst/>
          </a:prstGeom>
        </p:spPr>
      </p:pic>
      <p:sp>
        <p:nvSpPr>
          <p:cNvPr id="3" name="title-veil"/>
          <p:cNvSpPr/>
          <p:nvPr/>
        </p:nvSpPr>
        <p:spPr>
          <a:xfrm>
            <a:off x="0" y="0"/>
            <a:ext cx="6583680" cy="6858000"/>
          </a:xfrm>
          <a:prstGeom prst="rect">
            <a:avLst/>
          </a:prstGeom>
          <a:solidFill>
            <a:srgbClr val="0D1418"/>
          </a:solidFill>
          <a:ln w="12700">
            <a:solidFill>
              <a:srgbClr val="0D1418"/>
            </a:solidFill>
            <a:prstDash val="solid"/>
          </a:ln>
        </p:spPr>
      </p:sp>
      <p:sp>
        <p:nvSpPr>
          <p:cNvPr id="4"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r>
              <a:rPr lang="en-US" sz="6000" b="1" dirty="0">
                <a:solidFill>
                  <a:schemeClr val="bg1"/>
                </a:solidFill>
                <a:latin typeface="Arial" pitchFamily="34" charset="0"/>
                <a:ea typeface="Arial" pitchFamily="34" charset="-122"/>
                <a:cs typeface="Arial" pitchFamily="34" charset="-120"/>
              </a:rPr>
              <a:t>ReachNT</a:t>
            </a:r>
            <a:endParaRPr lang="en-US" sz="60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Urgent repairs fixed on time out bush, without letting cost quietly decide who waits</a:t>
            </a:r>
            <a:endParaRPr lang="en-US" sz="2200" dirty="0"/>
          </a:p>
        </p:txBody>
      </p:sp>
      <p:sp>
        <p:nvSpPr>
          <p:cNvPr id="6" name="names"/>
          <p:cNvSpPr txBox="1"/>
          <p:nvPr/>
        </p:nvSpPr>
        <p:spPr>
          <a:xfrm>
            <a:off x="731520" y="4800600"/>
            <a:ext cx="5852160" cy="365760"/>
          </a:xfrm>
          <a:prstGeom prst="rect">
            <a:avLst/>
          </a:prstGeom>
          <a:noFill/>
          <a:ln/>
        </p:spPr>
        <p:txBody>
          <a:bodyPr wrap="square" lIns="0" tIns="0" rIns="0" bIns="0" rtlCol="0" anchor="t"/>
          <a:lstStyle/>
          <a:p>
            <a:pPr indent="0" marL="0">
              <a:buNone/>
            </a:pPr>
            <a:r>
              <a:rPr lang="en-US" sz="1600" dirty="0">
                <a:solidFill>
                  <a:srgbClr val="9AA3AD"/>
                </a:solidFill>
                <a:latin typeface="Calibri" pitchFamily="34" charset="0"/>
                <a:ea typeface="Calibri" pitchFamily="34" charset="-122"/>
                <a:cs typeface="Calibri" pitchFamily="34" charset="-120"/>
              </a:rPr>
              <a:t>Harsh Rastogi · Aashish</a:t>
            </a:r>
            <a:endParaRPr lang="en-US" sz="1600" dirty="0"/>
          </a:p>
        </p:txBody>
      </p:sp>
      <p:sp>
        <p:nvSpPr>
          <p:cNvPr id="7" name="url"/>
          <p:cNvSpPr txBox="1"/>
          <p:nvPr/>
        </p:nvSpPr>
        <p:spPr>
          <a:xfrm>
            <a:off x="731520" y="521208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Remote repairs cost more, so they quietly fall to the back</a:t>
            </a:r>
            <a:endParaRPr lang="en-US" sz="2800" dirty="0"/>
          </a:p>
        </p:txBody>
      </p:sp>
      <p:sp>
        <p:nvSpPr>
          <p:cNvPr id="3" name="s-com-n"/>
          <p:cNvSpPr txBox="1"/>
          <p:nvPr/>
        </p:nvSpPr>
        <p:spPr>
          <a:xfrm>
            <a:off x="548640" y="1600200"/>
            <a:ext cx="256032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70</a:t>
            </a:r>
            <a:endParaRPr lang="en-US" sz="4800" dirty="0"/>
          </a:p>
        </p:txBody>
      </p:sp>
      <p:sp>
        <p:nvSpPr>
          <p:cNvPr id="4" name="s-com-l"/>
          <p:cNvSpPr txBox="1"/>
          <p:nvPr/>
        </p:nvSpPr>
        <p:spPr>
          <a:xfrm>
            <a:off x="5486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remote communities in our model, with 4,481 public houses</a:t>
            </a:r>
            <a:endParaRPr lang="en-US" sz="1500" dirty="0"/>
          </a:p>
        </p:txBody>
      </p:sp>
      <p:sp>
        <p:nvSpPr>
          <p:cNvPr id="5" name="s-cost-n"/>
          <p:cNvSpPr txBox="1"/>
          <p:nvPr/>
        </p:nvSpPr>
        <p:spPr>
          <a:xfrm>
            <a:off x="32918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8.5×</a:t>
            </a:r>
            <a:endParaRPr lang="en-US" sz="4800" dirty="0"/>
          </a:p>
        </p:txBody>
      </p:sp>
      <p:sp>
        <p:nvSpPr>
          <p:cNvPr id="6" name="s-cost-l"/>
          <p:cNvSpPr txBox="1"/>
          <p:nvPr/>
        </p:nvSpPr>
        <p:spPr>
          <a:xfrm>
            <a:off x="32918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what an emergency repair costs in a very remote community, against a remote one (Nous Group, 2017)</a:t>
            </a:r>
            <a:endParaRPr lang="en-US" sz="1500" dirty="0"/>
          </a:p>
        </p:txBody>
      </p:sp>
      <p:sp>
        <p:nvSpPr>
          <p:cNvPr id="7" name="s-travel-n"/>
          <p:cNvSpPr txBox="1"/>
          <p:nvPr/>
        </p:nvSpPr>
        <p:spPr>
          <a:xfrm>
            <a:off x="60350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96%</a:t>
            </a:r>
            <a:endParaRPr lang="en-US" sz="4800" dirty="0"/>
          </a:p>
        </p:txBody>
      </p:sp>
      <p:sp>
        <p:nvSpPr>
          <p:cNvPr id="8" name="s-travel-l"/>
          <p:cNvSpPr txBox="1"/>
          <p:nvPr/>
        </p:nvSpPr>
        <p:spPr>
          <a:xfrm>
            <a:off x="60350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an emergency job's cost can be travel alone (Nous Group, 2017)</a:t>
            </a:r>
            <a:endParaRPr lang="en-US" sz="1500" dirty="0"/>
          </a:p>
        </p:txBody>
      </p:sp>
      <p:sp>
        <p:nvSpPr>
          <p:cNvPr id="9" name="s-drive-n"/>
          <p:cNvSpPr txBox="1"/>
          <p:nvPr/>
        </p:nvSpPr>
        <p:spPr>
          <a:xfrm>
            <a:off x="8778240" y="1600200"/>
            <a:ext cx="2834640" cy="868680"/>
          </a:xfrm>
          <a:prstGeom prst="rect">
            <a:avLst/>
          </a:prstGeom>
          <a:noFill/>
          <a:ln/>
        </p:spPr>
        <p:txBody>
          <a:bodyPr wrap="square" lIns="0" tIns="0" rIns="0" bIns="0" rtlCol="0" anchor="t"/>
          <a:lstStyle/>
          <a:p>
            <a:pPr indent="0" marL="0">
              <a:buNone/>
            </a:pPr>
            <a:r>
              <a:rPr lang="en-US" sz="4800" b="1" dirty="0">
                <a:solidFill>
                  <a:srgbClr val="6E56CF"/>
                </a:solidFill>
                <a:latin typeface="Arial" pitchFamily="34" charset="0"/>
                <a:ea typeface="Arial" pitchFamily="34" charset="-122"/>
                <a:cs typeface="Arial" pitchFamily="34" charset="-120"/>
              </a:rPr>
              <a:t>6 h</a:t>
            </a:r>
            <a:endParaRPr lang="en-US" sz="4800" dirty="0"/>
          </a:p>
        </p:txBody>
      </p:sp>
      <p:sp>
        <p:nvSpPr>
          <p:cNvPr id="10" name="s-drive-l"/>
          <p:cNvSpPr txBox="1"/>
          <p:nvPr/>
        </p:nvSpPr>
        <p:spPr>
          <a:xfrm>
            <a:off x="8778240" y="2514600"/>
            <a:ext cx="283464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drive from Katherine to Kalkarindji, one of the 16 communities its tradespeople serve</a:t>
            </a:r>
            <a:endParaRPr lang="en-US" sz="1500" dirty="0"/>
          </a:p>
        </p:txBody>
      </p:sp>
      <p:sp>
        <p:nvSpPr>
          <p:cNvPr id="11" name="story-card"/>
          <p:cNvSpPr/>
          <p:nvPr/>
        </p:nvSpPr>
        <p:spPr>
          <a:xfrm>
            <a:off x="548640" y="4160520"/>
            <a:ext cx="11064240" cy="1920240"/>
          </a:xfrm>
          <a:prstGeom prst="roundRect">
            <a:avLst>
              <a:gd name="adj" fmla="val 4762"/>
            </a:avLst>
          </a:prstGeom>
          <a:solidFill>
            <a:srgbClr val="F1F3F5"/>
          </a:solidFill>
          <a:ln w="12700">
            <a:solidFill>
              <a:srgbClr val="F1F3F5"/>
            </a:solidFill>
            <a:prstDash val="solid"/>
          </a:ln>
        </p:spPr>
      </p:sp>
      <p:sp>
        <p:nvSpPr>
          <p:cNvPr id="12" name="story-hex"/>
          <p:cNvSpPr/>
          <p:nvPr/>
        </p:nvSpPr>
        <p:spPr>
          <a:xfrm>
            <a:off x="868680" y="4526280"/>
            <a:ext cx="822960" cy="724205"/>
          </a:xfrm>
          <a:prstGeom prst="hexagon">
            <a:avLst/>
          </a:prstGeom>
          <a:solidFill>
            <a:srgbClr val="D97706"/>
          </a:solidFill>
          <a:ln w="12700">
            <a:solidFill>
              <a:srgbClr val="D97706"/>
            </a:solidFill>
            <a:prstDash val="solid"/>
          </a:ln>
        </p:spPr>
      </p:sp>
      <p:sp>
        <p:nvSpPr>
          <p:cNvPr id="13" name="story-hex-t"/>
          <p:cNvSpPr txBox="1"/>
          <p:nvPr/>
        </p:nvSpPr>
        <p:spPr>
          <a:xfrm>
            <a:off x="868680" y="4526280"/>
            <a:ext cx="822960" cy="724205"/>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4" name="story-label"/>
          <p:cNvSpPr txBox="1"/>
          <p:nvPr/>
        </p:nvSpPr>
        <p:spPr>
          <a:xfrm>
            <a:off x="1965960" y="4389120"/>
            <a:ext cx="9326880" cy="320040"/>
          </a:xfrm>
          <a:prstGeom prst="rect">
            <a:avLst/>
          </a:prstGeom>
          <a:noFill/>
          <a:ln/>
        </p:spPr>
        <p:txBody>
          <a:bodyPr wrap="square" lIns="0" tIns="0" rIns="0" bIns="0" rtlCol="0" anchor="t"/>
          <a:lstStyle/>
          <a:p>
            <a:pPr indent="0" marL="0">
              <a:buNone/>
            </a:pPr>
            <a:r>
              <a:rPr lang="en-US" sz="1300" b="1" dirty="0">
                <a:solidFill>
                  <a:srgbClr val="6B7480"/>
                </a:solidFill>
                <a:latin typeface="Calibri" pitchFamily="34" charset="0"/>
                <a:ea typeface="Calibri" pitchFamily="34" charset="-122"/>
                <a:cs typeface="Calibri" pitchFamily="34" charset="-120"/>
              </a:rPr>
              <a:t>A real kind of message, from our simulated year</a:t>
            </a:r>
            <a:endParaRPr lang="en-US" sz="1300" dirty="0"/>
          </a:p>
        </p:txBody>
      </p:sp>
      <p:sp>
        <p:nvSpPr>
          <p:cNvPr id="15" name="story-sms"/>
          <p:cNvSpPr txBox="1"/>
          <p:nvPr/>
        </p:nvSpPr>
        <p:spPr>
          <a:xfrm>
            <a:off x="1965960" y="4709160"/>
            <a:ext cx="9326880" cy="45720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“Your no water to the house repair is urgent. Waiting 57 days. Held up by travel cost.”</a:t>
            </a:r>
            <a:endParaRPr lang="en-US" sz="1800" dirty="0"/>
          </a:p>
        </p:txBody>
      </p:sp>
      <p:sp>
        <p:nvSpPr>
          <p:cNvPr id="16" name="story-why"/>
          <p:cNvSpPr txBox="1"/>
          <p:nvPr/>
        </p:nvSpPr>
        <p:spPr>
          <a:xfrm>
            <a:off x="1965960" y="5166360"/>
            <a:ext cx="9326880" cy="7772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For 28 days no plumber was sent to your community. It costs about $7,700 to fly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Plan for the cheapest jobs, and remote tenants wait weeks</a:t>
            </a:r>
            <a:endParaRPr lang="en-US" sz="2800" dirty="0"/>
          </a:p>
        </p:txBody>
      </p:sp>
      <p:graphicFrame>
        <p:nvGraphicFramePr>
          <p:cNvPr id="3" name="wait-chart"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rap-card"/>
          <p:cNvSpPr/>
          <p:nvPr/>
        </p:nvSpPr>
        <p:spPr>
          <a:xfrm>
            <a:off x="7680960" y="1463040"/>
            <a:ext cx="3931920" cy="2148840"/>
          </a:xfrm>
          <a:prstGeom prst="roundRect">
            <a:avLst>
              <a:gd name="adj" fmla="val 4255"/>
            </a:avLst>
          </a:prstGeom>
          <a:solidFill>
            <a:srgbClr val="FBEEDD"/>
          </a:solidFill>
          <a:ln w="12700">
            <a:solidFill>
              <a:srgbClr val="FBEEDD"/>
            </a:solidFill>
            <a:prstDash val="solid"/>
          </a:ln>
        </p:spPr>
      </p:sp>
      <p:sp>
        <p:nvSpPr>
          <p:cNvPr id="5" name="trap-n"/>
          <p:cNvSpPr txBox="1"/>
          <p:nvPr/>
        </p:nvSpPr>
        <p:spPr>
          <a:xfrm>
            <a:off x="7955280" y="1645920"/>
            <a:ext cx="3474720" cy="731520"/>
          </a:xfrm>
          <a:prstGeom prst="rect">
            <a:avLst/>
          </a:prstGeom>
          <a:noFill/>
          <a:ln/>
        </p:spPr>
        <p:txBody>
          <a:bodyPr wrap="square" lIns="0" tIns="0" rIns="0" bIns="0" rtlCol="0" anchor="t"/>
          <a:lstStyle/>
          <a:p>
            <a:pPr indent="0" marL="0">
              <a:buNone/>
            </a:pPr>
            <a:r>
              <a:rPr lang="en-US" sz="4400" b="1" dirty="0">
                <a:solidFill>
                  <a:srgbClr val="D97706"/>
                </a:solidFill>
                <a:latin typeface="Arial" pitchFamily="34" charset="0"/>
                <a:ea typeface="Arial" pitchFamily="34" charset="-122"/>
                <a:cs typeface="Arial" pitchFamily="34" charset="-120"/>
              </a:rPr>
              <a:t>62 days</a:t>
            </a:r>
            <a:endParaRPr lang="en-US" sz="4400" dirty="0"/>
          </a:p>
        </p:txBody>
      </p:sp>
      <p:sp>
        <p:nvSpPr>
          <p:cNvPr id="6" name="trap-l"/>
          <p:cNvSpPr txBox="1"/>
          <p:nvPr/>
        </p:nvSpPr>
        <p:spPr>
          <a:xfrm>
            <a:off x="7955280" y="2423160"/>
            <a:ext cx="3474720" cy="914400"/>
          </a:xfrm>
          <a:prstGeom prst="rect">
            <a:avLst/>
          </a:prstGeom>
          <a:noFill/>
          <a:ln/>
        </p:spPr>
        <p:txBody>
          <a:bodyPr wrap="square" lIns="0" tIns="0" rIns="0" bIns="0" rtlCol="0" anchor="t"/>
          <a:lstStyle/>
          <a:p>
            <a:pPr indent="0" marL="0">
              <a:buNone/>
            </a:pPr>
            <a:r>
              <a:rPr lang="en-US" sz="1600" dirty="0">
                <a:solidFill>
                  <a:srgbClr val="14181D"/>
                </a:solidFill>
                <a:latin typeface="Calibri" pitchFamily="34" charset="0"/>
                <a:ea typeface="Calibri" pitchFamily="34" charset="-122"/>
                <a:cs typeface="Calibri" pitchFamily="34" charset="-120"/>
              </a:rPr>
              <a:t>for 9 in 10 urgent remote repairs, against 3 days in town</a:t>
            </a:r>
            <a:endParaRPr lang="en-US" sz="1600" dirty="0"/>
          </a:p>
        </p:txBody>
      </p:sp>
      <p:sp>
        <p:nvSpPr>
          <p:cNvPr id="7" name="why-card"/>
          <p:cNvSpPr/>
          <p:nvPr/>
        </p:nvSpPr>
        <p:spPr>
          <a:xfrm>
            <a:off x="7680960" y="3840480"/>
            <a:ext cx="3931920" cy="2240280"/>
          </a:xfrm>
          <a:prstGeom prst="roundRect">
            <a:avLst>
              <a:gd name="adj" fmla="val 4082"/>
            </a:avLst>
          </a:prstGeom>
          <a:solidFill>
            <a:srgbClr val="F1F3F5"/>
          </a:solidFill>
          <a:ln w="12700">
            <a:solidFill>
              <a:srgbClr val="F1F3F5"/>
            </a:solidFill>
            <a:prstDash val="solid"/>
          </a:ln>
        </p:spPr>
      </p:sp>
      <p:sp>
        <p:nvSpPr>
          <p:cNvPr id="8" name="why-text"/>
          <p:cNvSpPr txBox="1"/>
          <p:nvPr/>
        </p:nvSpPr>
        <p:spPr>
          <a:xfrm>
            <a:off x="7955280" y="4069080"/>
            <a:ext cx="3474720" cy="182880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Why: </a:t>
            </a:r>
            <a:pPr indent="0" marL="0">
              <a:buNone/>
            </a:pPr>
            <a:r>
              <a:rPr lang="en-US" sz="1600" dirty="0">
                <a:solidFill>
                  <a:srgbClr val="4A525C"/>
                </a:solidFill>
                <a:latin typeface="Calibri" pitchFamily="34" charset="0"/>
                <a:ea typeface="Calibri" pitchFamily="34" charset="-122"/>
                <a:cs typeface="Calibri" pitchFamily="34" charset="-120"/>
              </a:rPr>
              <a:t>a schedule built to fix the most jobs for the money always picks town first. It's efficient on paper, and no one ever decides that remote families should wait.</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ReachNT: rank by need, share trips, and put a name on the trade-off</a:t>
            </a:r>
            <a:endParaRPr lang="en-US" sz="2800" dirty="0"/>
          </a:p>
        </p:txBody>
      </p:sp>
      <p:sp>
        <p:nvSpPr>
          <p:cNvPr id="3" name="step-1"/>
          <p:cNvSpPr/>
          <p:nvPr/>
        </p:nvSpPr>
        <p:spPr>
          <a:xfrm>
            <a:off x="548640" y="1600200"/>
            <a:ext cx="2633472" cy="3931920"/>
          </a:xfrm>
          <a:prstGeom prst="roundRect">
            <a:avLst>
              <a:gd name="adj" fmla="val 3472"/>
            </a:avLst>
          </a:prstGeom>
          <a:solidFill>
            <a:srgbClr val="F1F3F5"/>
          </a:solidFill>
          <a:ln w="12700">
            <a:solidFill>
              <a:srgbClr val="F1F3F5"/>
            </a:solidFill>
            <a:prstDash val="solid"/>
          </a:ln>
        </p:spPr>
      </p:sp>
      <p:sp>
        <p:nvSpPr>
          <p:cNvPr id="4" name="step-hex-1"/>
          <p:cNvSpPr/>
          <p:nvPr/>
        </p:nvSpPr>
        <p:spPr>
          <a:xfrm>
            <a:off x="822960" y="1874520"/>
            <a:ext cx="868680" cy="764438"/>
          </a:xfrm>
          <a:prstGeom prst="hexagon">
            <a:avLst/>
          </a:prstGeom>
          <a:solidFill>
            <a:srgbClr val="0E8FB8"/>
          </a:solidFill>
          <a:ln w="12700">
            <a:solidFill>
              <a:srgbClr val="0E8FB8"/>
            </a:solidFill>
            <a:prstDash val="solid"/>
          </a:ln>
        </p:spPr>
      </p:sp>
      <p:sp>
        <p:nvSpPr>
          <p:cNvPr id="5" name="step-hex-1-t"/>
          <p:cNvSpPr txBox="1"/>
          <p:nvPr/>
        </p:nvSpPr>
        <p:spPr>
          <a:xfrm>
            <a:off x="822960"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step-h-1"/>
          <p:cNvSpPr txBox="1"/>
          <p:nvPr/>
        </p:nvSpPr>
        <p:spPr>
          <a:xfrm>
            <a:off x="822960"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Read</a:t>
            </a:r>
            <a:endParaRPr lang="en-US" sz="2100" dirty="0"/>
          </a:p>
        </p:txBody>
      </p:sp>
      <p:sp>
        <p:nvSpPr>
          <p:cNvPr id="7" name="step-b-1"/>
          <p:cNvSpPr txBox="1"/>
          <p:nvPr/>
        </p:nvSpPr>
        <p:spPr>
          <a:xfrm>
            <a:off x="822960"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Reads what the tenant said, in their words, and picks the fault and how urgent it is. Unsure? A person calls back.</a:t>
            </a:r>
            <a:endParaRPr lang="en-US" sz="1500" dirty="0"/>
          </a:p>
        </p:txBody>
      </p:sp>
      <p:sp>
        <p:nvSpPr>
          <p:cNvPr id="8" name="step-2"/>
          <p:cNvSpPr/>
          <p:nvPr/>
        </p:nvSpPr>
        <p:spPr>
          <a:xfrm>
            <a:off x="3364992" y="1600200"/>
            <a:ext cx="2633472" cy="3931920"/>
          </a:xfrm>
          <a:prstGeom prst="roundRect">
            <a:avLst>
              <a:gd name="adj" fmla="val 3472"/>
            </a:avLst>
          </a:prstGeom>
          <a:solidFill>
            <a:srgbClr val="F1F3F5"/>
          </a:solidFill>
          <a:ln w="12700">
            <a:solidFill>
              <a:srgbClr val="F1F3F5"/>
            </a:solidFill>
            <a:prstDash val="solid"/>
          </a:ln>
        </p:spPr>
      </p:sp>
      <p:sp>
        <p:nvSpPr>
          <p:cNvPr id="9" name="step-hex-2"/>
          <p:cNvSpPr/>
          <p:nvPr/>
        </p:nvSpPr>
        <p:spPr>
          <a:xfrm>
            <a:off x="3639312" y="1874520"/>
            <a:ext cx="868680" cy="764438"/>
          </a:xfrm>
          <a:prstGeom prst="hexagon">
            <a:avLst/>
          </a:prstGeom>
          <a:solidFill>
            <a:srgbClr val="1F9D4C"/>
          </a:solidFill>
          <a:ln w="12700">
            <a:solidFill>
              <a:srgbClr val="1F9D4C"/>
            </a:solidFill>
            <a:prstDash val="solid"/>
          </a:ln>
        </p:spPr>
      </p:sp>
      <p:sp>
        <p:nvSpPr>
          <p:cNvPr id="10" name="step-hex-2-t"/>
          <p:cNvSpPr txBox="1"/>
          <p:nvPr/>
        </p:nvSpPr>
        <p:spPr>
          <a:xfrm>
            <a:off x="3639312"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step-h-2"/>
          <p:cNvSpPr txBox="1"/>
          <p:nvPr/>
        </p:nvSpPr>
        <p:spPr>
          <a:xfrm>
            <a:off x="3639312"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Rank by need</a:t>
            </a:r>
            <a:endParaRPr lang="en-US" sz="2100" dirty="0"/>
          </a:p>
        </p:txBody>
      </p:sp>
      <p:sp>
        <p:nvSpPr>
          <p:cNvPr id="12" name="step-b-2"/>
          <p:cNvSpPr txBox="1"/>
          <p:nvPr/>
        </p:nvSpPr>
        <p:spPr>
          <a:xfrm>
            <a:off x="3639312"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Danger, health, who lives there and time waited set the order. Distance and cost are never in the score.</a:t>
            </a:r>
            <a:endParaRPr lang="en-US" sz="1500" dirty="0"/>
          </a:p>
        </p:txBody>
      </p:sp>
      <p:sp>
        <p:nvSpPr>
          <p:cNvPr id="13" name="step-3"/>
          <p:cNvSpPr/>
          <p:nvPr/>
        </p:nvSpPr>
        <p:spPr>
          <a:xfrm>
            <a:off x="6181344" y="1600200"/>
            <a:ext cx="2633472" cy="3931920"/>
          </a:xfrm>
          <a:prstGeom prst="roundRect">
            <a:avLst>
              <a:gd name="adj" fmla="val 3472"/>
            </a:avLst>
          </a:prstGeom>
          <a:solidFill>
            <a:srgbClr val="F1F3F5"/>
          </a:solidFill>
          <a:ln w="12700">
            <a:solidFill>
              <a:srgbClr val="F1F3F5"/>
            </a:solidFill>
            <a:prstDash val="solid"/>
          </a:ln>
        </p:spPr>
      </p:sp>
      <p:sp>
        <p:nvSpPr>
          <p:cNvPr id="14" name="step-hex-3"/>
          <p:cNvSpPr/>
          <p:nvPr/>
        </p:nvSpPr>
        <p:spPr>
          <a:xfrm>
            <a:off x="6455664" y="1874520"/>
            <a:ext cx="868680" cy="764438"/>
          </a:xfrm>
          <a:prstGeom prst="hexagon">
            <a:avLst/>
          </a:prstGeom>
          <a:solidFill>
            <a:srgbClr val="6E56CF"/>
          </a:solidFill>
          <a:ln w="12700">
            <a:solidFill>
              <a:srgbClr val="6E56CF"/>
            </a:solidFill>
            <a:prstDash val="solid"/>
          </a:ln>
        </p:spPr>
      </p:sp>
      <p:sp>
        <p:nvSpPr>
          <p:cNvPr id="15" name="step-hex-3-t"/>
          <p:cNvSpPr txBox="1"/>
          <p:nvPr/>
        </p:nvSpPr>
        <p:spPr>
          <a:xfrm>
            <a:off x="6455664"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step-h-3"/>
          <p:cNvSpPr txBox="1"/>
          <p:nvPr/>
        </p:nvSpPr>
        <p:spPr>
          <a:xfrm>
            <a:off x="6455664"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Plan shared trips</a:t>
            </a:r>
            <a:endParaRPr lang="en-US" sz="2100" dirty="0"/>
          </a:p>
        </p:txBody>
      </p:sp>
      <p:sp>
        <p:nvSpPr>
          <p:cNvPr id="17" name="step-b-3"/>
          <p:cNvSpPr txBox="1"/>
          <p:nvPr/>
        </p:nvSpPr>
        <p:spPr>
          <a:xfrm>
            <a:off x="6455664"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Each week it plans who goes where. Neighbouring communities share one trip, found with Uber's H3 hexagons.</a:t>
            </a:r>
            <a:endParaRPr lang="en-US" sz="1500" dirty="0"/>
          </a:p>
        </p:txBody>
      </p:sp>
      <p:sp>
        <p:nvSpPr>
          <p:cNvPr id="18" name="step-4"/>
          <p:cNvSpPr/>
          <p:nvPr/>
        </p:nvSpPr>
        <p:spPr>
          <a:xfrm>
            <a:off x="8997696" y="1600200"/>
            <a:ext cx="2633472" cy="3931920"/>
          </a:xfrm>
          <a:prstGeom prst="roundRect">
            <a:avLst>
              <a:gd name="adj" fmla="val 3472"/>
            </a:avLst>
          </a:prstGeom>
          <a:solidFill>
            <a:srgbClr val="F1F3F5"/>
          </a:solidFill>
          <a:ln w="12700">
            <a:solidFill>
              <a:srgbClr val="F1F3F5"/>
            </a:solidFill>
            <a:prstDash val="solid"/>
          </a:ln>
        </p:spPr>
      </p:sp>
      <p:sp>
        <p:nvSpPr>
          <p:cNvPr id="19" name="step-hex-4"/>
          <p:cNvSpPr/>
          <p:nvPr/>
        </p:nvSpPr>
        <p:spPr>
          <a:xfrm>
            <a:off x="9272016" y="1874520"/>
            <a:ext cx="868680" cy="764438"/>
          </a:xfrm>
          <a:prstGeom prst="hexagon">
            <a:avLst/>
          </a:prstGeom>
          <a:solidFill>
            <a:srgbClr val="D97706"/>
          </a:solidFill>
          <a:ln w="12700">
            <a:solidFill>
              <a:srgbClr val="D97706"/>
            </a:solidFill>
            <a:prstDash val="solid"/>
          </a:ln>
        </p:spPr>
      </p:sp>
      <p:sp>
        <p:nvSpPr>
          <p:cNvPr id="20" name="step-hex-4-t"/>
          <p:cNvSpPr txBox="1"/>
          <p:nvPr/>
        </p:nvSpPr>
        <p:spPr>
          <a:xfrm>
            <a:off x="9272016"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1" name="step-h-4"/>
          <p:cNvSpPr txBox="1"/>
          <p:nvPr/>
        </p:nvSpPr>
        <p:spPr>
          <a:xfrm>
            <a:off x="9272016"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Explain and sign</a:t>
            </a:r>
            <a:endParaRPr lang="en-US" sz="2100" dirty="0"/>
          </a:p>
        </p:txBody>
      </p:sp>
      <p:sp>
        <p:nvSpPr>
          <p:cNvPr id="22" name="step-b-4"/>
          <p:cNvSpPr txBox="1"/>
          <p:nvPr/>
        </p:nvSpPr>
        <p:spPr>
          <a:xfrm>
            <a:off x="9272016"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named coordinator signs how much cost may count. Every tenant can see why their repair waited.</a:t>
            </a:r>
            <a:endParaRPr lang="en-US" sz="1500" dirty="0"/>
          </a:p>
        </p:txBody>
      </p:sp>
      <p:sp>
        <p:nvSpPr>
          <p:cNvPr id="23" name="views"/>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600" i="1" dirty="0">
                <a:solidFill>
                  <a:srgbClr val="4A525C"/>
                </a:solidFill>
                <a:latin typeface="Calibri" pitchFamily="34" charset="0"/>
                <a:ea typeface="Calibri" pitchFamily="34" charset="-122"/>
                <a:cs typeface="Calibri" pitchFamily="34" charset="-120"/>
              </a:rPr>
              <a:t>One tool, three views: the coordinator plans, the tradesperson gets a run sheet that works without signal, and the tenant gets a straight answer.</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AI that reads tenants' words, and knows when to ask a person</a:t>
            </a:r>
            <a:endParaRPr lang="en-US" sz="2800" dirty="0"/>
          </a:p>
        </p:txBody>
      </p:sp>
      <p:sp>
        <p:nvSpPr>
          <p:cNvPr id="3" name="flow-0"/>
          <p:cNvSpPr/>
          <p:nvPr/>
        </p:nvSpPr>
        <p:spPr>
          <a:xfrm>
            <a:off x="548640" y="1554480"/>
            <a:ext cx="5852160" cy="1188720"/>
          </a:xfrm>
          <a:prstGeom prst="roundRect">
            <a:avLst>
              <a:gd name="adj" fmla="val 7692"/>
            </a:avLst>
          </a:prstGeom>
          <a:solidFill>
            <a:srgbClr val="F1F3F5"/>
          </a:solidFill>
          <a:ln w="12700">
            <a:solidFill>
              <a:srgbClr val="F1F3F5"/>
            </a:solidFill>
            <a:prstDash val="solid"/>
          </a:ln>
        </p:spPr>
      </p:sp>
      <p:sp>
        <p:nvSpPr>
          <p:cNvPr id="4" name="flow-h-0"/>
          <p:cNvSpPr txBox="1"/>
          <p:nvPr/>
        </p:nvSpPr>
        <p:spPr>
          <a:xfrm>
            <a:off x="777240" y="169164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What the tenant said</a:t>
            </a:r>
            <a:endParaRPr lang="en-US" sz="1600" dirty="0"/>
          </a:p>
        </p:txBody>
      </p:sp>
      <p:sp>
        <p:nvSpPr>
          <p:cNvPr id="5" name="flow-b-0"/>
          <p:cNvSpPr txBox="1"/>
          <p:nvPr/>
        </p:nvSpPr>
        <p:spPr>
          <a:xfrm>
            <a:off x="777240" y="2057400"/>
            <a:ext cx="5394960" cy="64008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“no sparks now but the switch is black and kids touch it”</a:t>
            </a:r>
            <a:endParaRPr lang="en-US" sz="1400" dirty="0"/>
          </a:p>
        </p:txBody>
      </p:sp>
      <p:sp>
        <p:nvSpPr>
          <p:cNvPr id="6" name="flow-1"/>
          <p:cNvSpPr/>
          <p:nvPr/>
        </p:nvSpPr>
        <p:spPr>
          <a:xfrm>
            <a:off x="548640" y="2971800"/>
            <a:ext cx="5852160" cy="1188720"/>
          </a:xfrm>
          <a:prstGeom prst="roundRect">
            <a:avLst>
              <a:gd name="adj" fmla="val 7692"/>
            </a:avLst>
          </a:prstGeom>
          <a:solidFill>
            <a:srgbClr val="DFF2F8"/>
          </a:solidFill>
          <a:ln w="12700">
            <a:solidFill>
              <a:srgbClr val="DFF2F8"/>
            </a:solidFill>
            <a:prstDash val="solid"/>
          </a:ln>
        </p:spPr>
      </p:sp>
      <p:sp>
        <p:nvSpPr>
          <p:cNvPr id="7" name="flow-h-1"/>
          <p:cNvSpPr txBox="1"/>
          <p:nvPr/>
        </p:nvSpPr>
        <p:spPr>
          <a:xfrm>
            <a:off x="777240" y="310896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Word rules + a learning model</a:t>
            </a:r>
            <a:endParaRPr lang="en-US" sz="1600" dirty="0"/>
          </a:p>
        </p:txBody>
      </p:sp>
      <p:sp>
        <p:nvSpPr>
          <p:cNvPr id="8" name="flow-b-1"/>
          <p:cNvSpPr txBox="1"/>
          <p:nvPr/>
        </p:nvSpPr>
        <p:spPr>
          <a:xfrm>
            <a:off x="777240" y="3474720"/>
            <a:ext cx="53949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Rules catch known phrases; a logistic regression model catches wording the rules miss</a:t>
            </a:r>
            <a:endParaRPr lang="en-US" sz="1400" dirty="0"/>
          </a:p>
        </p:txBody>
      </p:sp>
      <p:sp>
        <p:nvSpPr>
          <p:cNvPr id="9" name="flow-2"/>
          <p:cNvSpPr/>
          <p:nvPr/>
        </p:nvSpPr>
        <p:spPr>
          <a:xfrm>
            <a:off x="548640" y="4389120"/>
            <a:ext cx="2880360" cy="1188720"/>
          </a:xfrm>
          <a:prstGeom prst="roundRect">
            <a:avLst>
              <a:gd name="adj" fmla="val 7692"/>
            </a:avLst>
          </a:prstGeom>
          <a:solidFill>
            <a:srgbClr val="E3F4E8"/>
          </a:solidFill>
          <a:ln w="12700">
            <a:solidFill>
              <a:srgbClr val="E3F4E8"/>
            </a:solidFill>
            <a:prstDash val="solid"/>
          </a:ln>
        </p:spPr>
      </p:sp>
      <p:sp>
        <p:nvSpPr>
          <p:cNvPr id="10" name="flow-h-2"/>
          <p:cNvSpPr txBox="1"/>
          <p:nvPr/>
        </p:nvSpPr>
        <p:spPr>
          <a:xfrm>
            <a:off x="7772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Sure, and not dangerous?</a:t>
            </a:r>
            <a:endParaRPr lang="en-US" sz="1600" dirty="0"/>
          </a:p>
        </p:txBody>
      </p:sp>
      <p:sp>
        <p:nvSpPr>
          <p:cNvPr id="11" name="flow-b-2"/>
          <p:cNvSpPr txBox="1"/>
          <p:nvPr/>
        </p:nvSpPr>
        <p:spPr>
          <a:xfrm>
            <a:off x="7772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Ranked straight away</a:t>
            </a:r>
            <a:endParaRPr lang="en-US" sz="1400" dirty="0"/>
          </a:p>
        </p:txBody>
      </p:sp>
      <p:sp>
        <p:nvSpPr>
          <p:cNvPr id="12" name="flow-3"/>
          <p:cNvSpPr/>
          <p:nvPr/>
        </p:nvSpPr>
        <p:spPr>
          <a:xfrm>
            <a:off x="3520440" y="4389120"/>
            <a:ext cx="2880360" cy="1188720"/>
          </a:xfrm>
          <a:prstGeom prst="roundRect">
            <a:avLst>
              <a:gd name="adj" fmla="val 7692"/>
            </a:avLst>
          </a:prstGeom>
          <a:solidFill>
            <a:srgbClr val="FBEEDD"/>
          </a:solidFill>
          <a:ln w="12700">
            <a:solidFill>
              <a:srgbClr val="FBEEDD"/>
            </a:solidFill>
            <a:prstDash val="solid"/>
          </a:ln>
        </p:spPr>
      </p:sp>
      <p:sp>
        <p:nvSpPr>
          <p:cNvPr id="13" name="flow-h-3"/>
          <p:cNvSpPr txBox="1"/>
          <p:nvPr/>
        </p:nvSpPr>
        <p:spPr>
          <a:xfrm>
            <a:off x="37490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Unsure or risky?</a:t>
            </a:r>
            <a:endParaRPr lang="en-US" sz="1600" dirty="0"/>
          </a:p>
        </p:txBody>
      </p:sp>
      <p:sp>
        <p:nvSpPr>
          <p:cNvPr id="14" name="flow-b-3"/>
          <p:cNvSpPr txBox="1"/>
          <p:nvPr/>
        </p:nvSpPr>
        <p:spPr>
          <a:xfrm>
            <a:off x="37490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person checks today. It never downgrades danger on its own</a:t>
            </a:r>
            <a:endParaRPr lang="en-US" sz="1400" dirty="0"/>
          </a:p>
        </p:txBody>
      </p:sp>
      <p:sp>
        <p:nvSpPr>
          <p:cNvPr id="15" name="arrow-1"/>
          <p:cNvSpPr/>
          <p:nvPr/>
        </p:nvSpPr>
        <p:spPr>
          <a:xfrm>
            <a:off x="3474720" y="2743200"/>
            <a:ext cx="0" cy="228600"/>
          </a:xfrm>
          <a:prstGeom prst="line">
            <a:avLst/>
          </a:prstGeom>
          <a:noFill/>
          <a:ln w="19050">
            <a:solidFill>
              <a:srgbClr val="6B7480"/>
            </a:solidFill>
            <a:prstDash val="solid"/>
            <a:tailEnd type="triangle"/>
          </a:ln>
        </p:spPr>
      </p:sp>
      <p:sp>
        <p:nvSpPr>
          <p:cNvPr id="16" name="arrow-2"/>
          <p:cNvSpPr/>
          <p:nvPr/>
        </p:nvSpPr>
        <p:spPr>
          <a:xfrm>
            <a:off x="3474720" y="4160520"/>
            <a:ext cx="0" cy="228600"/>
          </a:xfrm>
          <a:prstGeom prst="line">
            <a:avLst/>
          </a:prstGeom>
          <a:noFill/>
          <a:ln w="19050">
            <a:solidFill>
              <a:srgbClr val="6B7480"/>
            </a:solidFill>
            <a:prstDash val="solid"/>
            <a:tailEnd type="triangle"/>
          </a:ln>
        </p:spPr>
      </p:sp>
      <p:sp>
        <p:nvSpPr>
          <p:cNvPr id="17" name="s-caught-n"/>
          <p:cNvSpPr txBox="1"/>
          <p:nvPr/>
        </p:nvSpPr>
        <p:spPr>
          <a:xfrm>
            <a:off x="6858000" y="1554480"/>
            <a:ext cx="4754880" cy="868680"/>
          </a:xfrm>
          <a:prstGeom prst="rect">
            <a:avLst/>
          </a:prstGeom>
          <a:noFill/>
          <a:ln/>
        </p:spPr>
        <p:txBody>
          <a:bodyPr wrap="square" lIns="0" tIns="0" rIns="0" bIns="0" rtlCol="0" anchor="t"/>
          <a:lstStyle/>
          <a:p>
            <a:pPr indent="0" marL="0">
              <a:buNone/>
            </a:pPr>
            <a:r>
              <a:rPr lang="en-US" sz="5000" b="1" dirty="0">
                <a:solidFill>
                  <a:srgbClr val="1F9D4C"/>
                </a:solidFill>
                <a:latin typeface="Arial" pitchFamily="34" charset="0"/>
                <a:ea typeface="Arial" pitchFamily="34" charset="-122"/>
                <a:cs typeface="Arial" pitchFamily="34" charset="-120"/>
              </a:rPr>
              <a:t>99.3%</a:t>
            </a:r>
            <a:endParaRPr lang="en-US" sz="5000" dirty="0"/>
          </a:p>
        </p:txBody>
      </p:sp>
      <p:sp>
        <p:nvSpPr>
          <p:cNvPr id="18" name="s-caught-l"/>
          <p:cNvSpPr txBox="1"/>
          <p:nvPr/>
        </p:nvSpPr>
        <p:spPr>
          <a:xfrm>
            <a:off x="6858000" y="2468880"/>
            <a:ext cx="475488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dangerous reports caught, on wording the AI had never seen, because doubtful ones go to a person</a:t>
            </a:r>
            <a:endParaRPr lang="en-US" sz="1500" dirty="0"/>
          </a:p>
        </p:txBody>
      </p:sp>
      <p:sp>
        <p:nvSpPr>
          <p:cNvPr id="19" name="s-auc-n"/>
          <p:cNvSpPr txBox="1"/>
          <p:nvPr/>
        </p:nvSpPr>
        <p:spPr>
          <a:xfrm>
            <a:off x="6858000" y="3337560"/>
            <a:ext cx="2286000" cy="868680"/>
          </a:xfrm>
          <a:prstGeom prst="rect">
            <a:avLst/>
          </a:prstGeom>
          <a:noFill/>
          <a:ln/>
        </p:spPr>
        <p:txBody>
          <a:bodyPr wrap="square" lIns="0" tIns="0" rIns="0" bIns="0" rtlCol="0" anchor="t"/>
          <a:lstStyle/>
          <a:p>
            <a:pPr indent="0" marL="0">
              <a:buNone/>
            </a:pPr>
            <a:r>
              <a:rPr lang="en-US" sz="4000" b="1" dirty="0">
                <a:solidFill>
                  <a:srgbClr val="0E8FB8"/>
                </a:solidFill>
                <a:latin typeface="Arial" pitchFamily="34" charset="0"/>
                <a:ea typeface="Arial" pitchFamily="34" charset="-122"/>
                <a:cs typeface="Arial" pitchFamily="34" charset="-120"/>
              </a:rPr>
              <a:t>0.84</a:t>
            </a:r>
            <a:endParaRPr lang="en-US" sz="4000" dirty="0"/>
          </a:p>
        </p:txBody>
      </p:sp>
      <p:sp>
        <p:nvSpPr>
          <p:cNvPr id="20" name="s-auc-l"/>
          <p:cNvSpPr txBox="1"/>
          <p:nvPr/>
        </p:nvSpPr>
        <p:spPr>
          <a:xfrm>
            <a:off x="685800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ROC-AUC for the model alone on new wording (1.00 on familiar)</a:t>
            </a:r>
            <a:endParaRPr lang="en-US" sz="1500" dirty="0"/>
          </a:p>
        </p:txBody>
      </p:sp>
      <p:sp>
        <p:nvSpPr>
          <p:cNvPr id="21" name="s-person-n"/>
          <p:cNvSpPr txBox="1"/>
          <p:nvPr/>
        </p:nvSpPr>
        <p:spPr>
          <a:xfrm>
            <a:off x="9326880" y="3337560"/>
            <a:ext cx="2286000" cy="868680"/>
          </a:xfrm>
          <a:prstGeom prst="rect">
            <a:avLst/>
          </a:prstGeom>
          <a:noFill/>
          <a:ln/>
        </p:spPr>
        <p:txBody>
          <a:bodyPr wrap="square" lIns="0" tIns="0" rIns="0" bIns="0" rtlCol="0" anchor="t"/>
          <a:lstStyle/>
          <a:p>
            <a:pPr indent="0" marL="0">
              <a:buNone/>
            </a:pPr>
            <a:r>
              <a:rPr lang="en-US" sz="4000" b="1" dirty="0">
                <a:solidFill>
                  <a:srgbClr val="D97706"/>
                </a:solidFill>
                <a:latin typeface="Arial" pitchFamily="34" charset="0"/>
                <a:ea typeface="Arial" pitchFamily="34" charset="-122"/>
                <a:cs typeface="Arial" pitchFamily="34" charset="-120"/>
              </a:rPr>
              <a:t>40%</a:t>
            </a:r>
            <a:endParaRPr lang="en-US" sz="4000" dirty="0"/>
          </a:p>
        </p:txBody>
      </p:sp>
      <p:sp>
        <p:nvSpPr>
          <p:cNvPr id="22" name="s-person-l"/>
          <p:cNvSpPr txBox="1"/>
          <p:nvPr/>
        </p:nvSpPr>
        <p:spPr>
          <a:xfrm>
            <a:off x="932688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unfamiliar reports sent to a person</a:t>
            </a:r>
            <a:endParaRPr lang="en-US" sz="1500" dirty="0"/>
          </a:p>
        </p:txBody>
      </p:sp>
      <p:sp>
        <p:nvSpPr>
          <p:cNvPr id="23" name="honest"/>
          <p:cNvSpPr txBox="1"/>
          <p:nvPr/>
        </p:nvSpPr>
        <p:spPr>
          <a:xfrm>
            <a:off x="6858000" y="5120640"/>
            <a:ext cx="4754880" cy="100584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We never show tenants a confidence percentage: when the model said it was 90% sure, it was right about half the time. Being honest about that is part of the design.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 to people who say less, or say it differently</a:t>
            </a:r>
            <a:endParaRPr lang="en-US" sz="2800" dirty="0"/>
          </a:p>
        </p:txBody>
      </p:sp>
      <p:pic>
        <p:nvPicPr>
          <p:cNvPr id="3" name="shot-intake" descr="shot-intake">    </p:cNvPr>
          <p:cNvPicPr>
            <a:picLocks noChangeAspect="1"/>
          </p:cNvPicPr>
          <p:nvPr/>
        </p:nvPicPr>
        <p:blipFill>
          <a:blip r:embed="rId1"/>
          <a:stretch>
            <a:fillRect/>
          </a:stretch>
        </p:blipFill>
        <p:spPr>
          <a:xfrm>
            <a:off x="548640" y="1371600"/>
            <a:ext cx="2423160" cy="4617720"/>
          </a:xfrm>
          <a:prstGeom prst="rect">
            <a:avLst/>
          </a:prstGeom>
        </p:spPr>
      </p:pic>
      <p:sp>
        <p:nvSpPr>
          <p:cNvPr id="4" name="tell-0"/>
          <p:cNvSpPr/>
          <p:nvPr/>
        </p:nvSpPr>
        <p:spPr>
          <a:xfrm>
            <a:off x="3246120" y="1371600"/>
            <a:ext cx="4343400" cy="1280160"/>
          </a:xfrm>
          <a:prstGeom prst="roundRect">
            <a:avLst>
              <a:gd name="adj" fmla="val 7143"/>
            </a:avLst>
          </a:prstGeom>
          <a:solidFill>
            <a:srgbClr val="F1F3F5"/>
          </a:solidFill>
          <a:ln w="12700">
            <a:solidFill>
              <a:srgbClr val="F1F3F5"/>
            </a:solidFill>
            <a:prstDash val="solid"/>
          </a:ln>
        </p:spPr>
      </p:sp>
      <p:sp>
        <p:nvSpPr>
          <p:cNvPr id="5" name="tell-h-0"/>
          <p:cNvSpPr txBox="1"/>
          <p:nvPr/>
        </p:nvSpPr>
        <p:spPr>
          <a:xfrm>
            <a:off x="3474720" y="148132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full</a:t>
            </a:r>
            <a:endParaRPr lang="en-US" sz="1350" dirty="0"/>
          </a:p>
        </p:txBody>
      </p:sp>
      <p:sp>
        <p:nvSpPr>
          <p:cNvPr id="6" name="tell-b-0"/>
          <p:cNvSpPr txBox="1"/>
          <p:nvPr/>
        </p:nvSpPr>
        <p:spPr>
          <a:xfrm>
            <a:off x="3474720" y="1828800"/>
            <a:ext cx="3931920" cy="777240"/>
          </a:xfrm>
          <a:prstGeom prst="rect">
            <a:avLst/>
          </a:prstGeom>
          <a:noFill/>
          <a:ln/>
        </p:spPr>
        <p:txBody>
          <a:bodyPr wrap="square" lIns="0" tIns="0" rIns="0" bIns="0" rtlCol="0" anchor="t"/>
          <a:lstStyle/>
          <a:p>
            <a:pPr indent="0" marL="0">
              <a:buNone/>
            </a:pPr>
            <a:r>
              <a:rPr lang="en-US" sz="1300" i="1" dirty="0">
                <a:solidFill>
                  <a:srgbClr val="4A525C"/>
                </a:solidFill>
                <a:latin typeface="Calibri" pitchFamily="34" charset="0"/>
                <a:ea typeface="Calibri" pitchFamily="34" charset="-122"/>
                <a:cs typeface="Calibri" pitchFamily="34" charset="-120"/>
              </a:rPr>
              <a:t>“toilet blocked, my nana lives here, 9 of us, third time I rang”</a:t>
            </a:r>
            <a:endParaRPr lang="en-US" sz="1300" dirty="0"/>
          </a:p>
        </p:txBody>
      </p:sp>
      <p:sp>
        <p:nvSpPr>
          <p:cNvPr id="7" name="tell-1"/>
          <p:cNvSpPr/>
          <p:nvPr/>
        </p:nvSpPr>
        <p:spPr>
          <a:xfrm>
            <a:off x="3246120" y="2788920"/>
            <a:ext cx="4343400" cy="1280160"/>
          </a:xfrm>
          <a:prstGeom prst="roundRect">
            <a:avLst>
              <a:gd name="adj" fmla="val 7143"/>
            </a:avLst>
          </a:prstGeom>
          <a:solidFill>
            <a:srgbClr val="FBEEDD"/>
          </a:solidFill>
          <a:ln w="12700">
            <a:solidFill>
              <a:srgbClr val="FBEEDD"/>
            </a:solidFill>
            <a:prstDash val="solid"/>
          </a:ln>
        </p:spPr>
      </p:sp>
      <p:sp>
        <p:nvSpPr>
          <p:cNvPr id="8" name="tell-h-1"/>
          <p:cNvSpPr txBox="1"/>
          <p:nvPr/>
        </p:nvSpPr>
        <p:spPr>
          <a:xfrm>
            <a:off x="3474720" y="289864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a few words, in Kriol, to the housing officer</a:t>
            </a:r>
            <a:endParaRPr lang="en-US" sz="1350" dirty="0"/>
          </a:p>
        </p:txBody>
      </p:sp>
      <p:sp>
        <p:nvSpPr>
          <p:cNvPr id="9" name="tell-b-1"/>
          <p:cNvSpPr txBox="1"/>
          <p:nvPr/>
        </p:nvSpPr>
        <p:spPr>
          <a:xfrm>
            <a:off x="3474720" y="3246120"/>
            <a:ext cx="3931920" cy="7772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“toilet blocked pls come”. Same house, same need. From the words alone: up to 45 points less</a:t>
            </a:r>
            <a:endParaRPr lang="en-US" sz="1300" dirty="0"/>
          </a:p>
        </p:txBody>
      </p:sp>
      <p:sp>
        <p:nvSpPr>
          <p:cNvPr id="10" name="ask-card"/>
          <p:cNvSpPr/>
          <p:nvPr/>
        </p:nvSpPr>
        <p:spPr>
          <a:xfrm>
            <a:off x="3246120" y="4206240"/>
            <a:ext cx="4343400" cy="1783080"/>
          </a:xfrm>
          <a:prstGeom prst="roundRect">
            <a:avLst>
              <a:gd name="adj" fmla="val 5128"/>
            </a:avLst>
          </a:prstGeom>
          <a:solidFill>
            <a:srgbClr val="E3F4E8"/>
          </a:solidFill>
          <a:ln w="12700">
            <a:solidFill>
              <a:srgbClr val="E3F4E8"/>
            </a:solidFill>
            <a:prstDash val="solid"/>
          </a:ln>
        </p:spPr>
      </p:sp>
      <p:sp>
        <p:nvSpPr>
          <p:cNvPr id="11" name="ask-h"/>
          <p:cNvSpPr txBox="1"/>
          <p:nvPr/>
        </p:nvSpPr>
        <p:spPr>
          <a:xfrm>
            <a:off x="3474720" y="4315968"/>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So everyone is asked the same six questions</a:t>
            </a:r>
            <a:endParaRPr lang="en-US" sz="1400" dirty="0"/>
          </a:p>
        </p:txBody>
      </p:sp>
      <p:sp>
        <p:nvSpPr>
          <p:cNvPr id="12" name="ask-b"/>
          <p:cNvSpPr txBox="1"/>
          <p:nvPr/>
        </p:nvSpPr>
        <p:spPr>
          <a:xfrm>
            <a:off x="3474720" y="4663440"/>
            <a:ext cx="3931920" cy="1280160"/>
          </a:xfrm>
          <a:prstGeom prst="rect">
            <a:avLst/>
          </a:prstGeom>
          <a:noFill/>
          <a:ln/>
        </p:spPr>
        <p:txBody>
          <a:bodyPr wrap="square" lIns="0" tIns="0" rIns="0" bIns="0" rtlCol="0" anchor="t"/>
          <a:lstStyle/>
          <a:p>
            <a:pPr indent="0" marL="0">
              <a:buNone/>
            </a:pPr>
            <a:r>
              <a:rPr lang="en-US" sz="1250" dirty="0">
                <a:solidFill>
                  <a:srgbClr val="4A525C"/>
                </a:solidFill>
                <a:latin typeface="Calibri" pitchFamily="34" charset="0"/>
                <a:ea typeface="Calibri" pitchFamily="34" charset="-122"/>
                <a:cs typeface="Calibri" pitchFamily="34" charset="-120"/>
              </a:rPr>
              <a:t>Anyone in danger now? A baby or young child? An elder? Someone sick, pregnant or with a disability? How many people live there? Told anyone before? The tenancy record and repair history fill in the rest. "Not asked" never takes points away.</a:t>
            </a:r>
            <a:endParaRPr lang="en-US" sz="1250" dirty="0"/>
          </a:p>
        </p:txBody>
      </p:sp>
      <p:sp>
        <p:nvSpPr>
          <p:cNvPr id="13" name="fair-n-0"/>
          <p:cNvSpPr txBox="1"/>
          <p:nvPr/>
        </p:nvSpPr>
        <p:spPr>
          <a:xfrm>
            <a:off x="7955280" y="1371600"/>
            <a:ext cx="3657600" cy="594360"/>
          </a:xfrm>
          <a:prstGeom prst="rect">
            <a:avLst/>
          </a:prstGeom>
          <a:noFill/>
          <a:ln/>
        </p:spPr>
        <p:txBody>
          <a:bodyPr wrap="square" lIns="0" tIns="0" rIns="0" bIns="0" rtlCol="0" anchor="t"/>
          <a:lstStyle/>
          <a:p>
            <a:pPr indent="0" marL="0">
              <a:buNone/>
            </a:pPr>
            <a:r>
              <a:rPr lang="en-US" sz="3600" b="1" dirty="0">
                <a:solidFill>
                  <a:srgbClr val="1F9D4C"/>
                </a:solidFill>
                <a:latin typeface="Arial" pitchFamily="34" charset="0"/>
                <a:ea typeface="Arial" pitchFamily="34" charset="-122"/>
                <a:cs typeface="Arial" pitchFamily="34" charset="-120"/>
              </a:rPr>
              <a:t>19 → 2</a:t>
            </a:r>
            <a:endParaRPr lang="en-US" sz="3600" dirty="0"/>
          </a:p>
        </p:txBody>
      </p:sp>
      <p:sp>
        <p:nvSpPr>
          <p:cNvPr id="14" name="fair-l-0"/>
          <p:cNvSpPr txBox="1"/>
          <p:nvPr/>
        </p:nvSpPr>
        <p:spPr>
          <a:xfrm>
            <a:off x="7955280" y="1993392"/>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points a household lost for saying less (average)</a:t>
            </a:r>
            <a:endParaRPr lang="en-US" sz="1400" dirty="0"/>
          </a:p>
        </p:txBody>
      </p:sp>
      <p:sp>
        <p:nvSpPr>
          <p:cNvPr id="15" name="fair-n-1"/>
          <p:cNvSpPr txBox="1"/>
          <p:nvPr/>
        </p:nvSpPr>
        <p:spPr>
          <a:xfrm>
            <a:off x="7955280" y="2852928"/>
            <a:ext cx="3657600" cy="594360"/>
          </a:xfrm>
          <a:prstGeom prst="rect">
            <a:avLst/>
          </a:prstGeom>
          <a:noFill/>
          <a:ln/>
        </p:spPr>
        <p:txBody>
          <a:bodyPr wrap="square" lIns="0" tIns="0" rIns="0" bIns="0" rtlCol="0" anchor="t"/>
          <a:lstStyle/>
          <a:p>
            <a:pPr indent="0" marL="0">
              <a:buNone/>
            </a:pPr>
            <a:r>
              <a:rPr lang="en-US" sz="3600" b="1" dirty="0">
                <a:solidFill>
                  <a:srgbClr val="0E8FB8"/>
                </a:solidFill>
                <a:latin typeface="Arial" pitchFamily="34" charset="0"/>
                <a:ea typeface="Arial" pitchFamily="34" charset="-122"/>
                <a:cs typeface="Arial" pitchFamily="34" charset="-120"/>
              </a:rPr>
              <a:t>97% → 11%</a:t>
            </a:r>
            <a:endParaRPr lang="en-US" sz="3600" dirty="0"/>
          </a:p>
        </p:txBody>
      </p:sp>
      <p:sp>
        <p:nvSpPr>
          <p:cNvPr id="16" name="fair-l-1"/>
          <p:cNvSpPr txBox="1"/>
          <p:nvPr/>
        </p:nvSpPr>
        <p:spPr>
          <a:xfrm>
            <a:off x="7955280" y="3474720"/>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short reports ranked below the same household told in full</a:t>
            </a:r>
            <a:endParaRPr lang="en-US" sz="1400" dirty="0"/>
          </a:p>
        </p:txBody>
      </p:sp>
      <p:sp>
        <p:nvSpPr>
          <p:cNvPr id="17" name="fair-n-2"/>
          <p:cNvSpPr txBox="1"/>
          <p:nvPr/>
        </p:nvSpPr>
        <p:spPr>
          <a:xfrm>
            <a:off x="7955280" y="4334256"/>
            <a:ext cx="3657600" cy="594360"/>
          </a:xfrm>
          <a:prstGeom prst="rect">
            <a:avLst/>
          </a:prstGeom>
          <a:noFill/>
          <a:ln/>
        </p:spPr>
        <p:txBody>
          <a:bodyPr wrap="square" lIns="0" tIns="0" rIns="0" bIns="0" rtlCol="0" anchor="t"/>
          <a:lstStyle/>
          <a:p>
            <a:pPr indent="0" marL="0">
              <a:buNone/>
            </a:pPr>
            <a:r>
              <a:rPr lang="en-US" sz="3600" b="1" dirty="0">
                <a:solidFill>
                  <a:srgbClr val="6E56CF"/>
                </a:solidFill>
                <a:latin typeface="Arial" pitchFamily="34" charset="0"/>
                <a:ea typeface="Arial" pitchFamily="34" charset="-122"/>
                <a:cs typeface="Arial" pitchFamily="34" charset="-120"/>
              </a:rPr>
              <a:t>4% → 92%</a:t>
            </a:r>
            <a:endParaRPr lang="en-US" sz="3600" dirty="0"/>
          </a:p>
        </p:txBody>
      </p:sp>
      <p:sp>
        <p:nvSpPr>
          <p:cNvPr id="18" name="fair-l-2"/>
          <p:cNvSpPr txBox="1"/>
          <p:nvPr/>
        </p:nvSpPr>
        <p:spPr>
          <a:xfrm>
            <a:off x="7955280" y="4956048"/>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vulnerable households recognised from a few words</a:t>
            </a:r>
            <a:endParaRPr lang="en-US" sz="1400" dirty="0"/>
          </a:p>
        </p:txBody>
      </p:sp>
      <p:sp>
        <p:nvSpPr>
          <p:cNvPr id="19" name="fair-foot"/>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50" i="1" dirty="0">
                <a:solidFill>
                  <a:srgbClr val="4A525C"/>
                </a:solidFill>
                <a:latin typeface="Calibri" pitchFamily="34" charset="0"/>
                <a:ea typeface="Calibri" pitchFamily="34" charset="-122"/>
                <a:cs typeface="Calibri" pitchFamily="34" charset="-120"/>
              </a:rPr>
              <a:t>Clock starts at first contact · free interpreters (AIS, TIS National, NRS) · how, when and in what language you report is never scored</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Why we built it on Uber's H3 hexagon grid</a:t>
            </a:r>
            <a:endParaRPr lang="en-US" sz="2800" dirty="0"/>
          </a:p>
        </p:txBody>
      </p:sp>
      <p:sp>
        <p:nvSpPr>
          <p:cNvPr id="3" name="sq-label"/>
          <p:cNvSpPr txBox="1"/>
          <p:nvPr/>
        </p:nvSpPr>
        <p:spPr>
          <a:xfrm>
            <a:off x="548640" y="1417320"/>
            <a:ext cx="237744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Squares</a:t>
            </a:r>
            <a:endParaRPr lang="en-US" sz="1500" dirty="0"/>
          </a:p>
        </p:txBody>
      </p:sp>
      <p:sp>
        <p:nvSpPr>
          <p:cNvPr id="4" name="sq-0-0"/>
          <p:cNvSpPr/>
          <p:nvPr/>
        </p:nvSpPr>
        <p:spPr>
          <a:xfrm>
            <a:off x="548640" y="1783080"/>
            <a:ext cx="658368" cy="658368"/>
          </a:xfrm>
          <a:prstGeom prst="rect">
            <a:avLst/>
          </a:prstGeom>
          <a:solidFill>
            <a:srgbClr val="FBEEDD"/>
          </a:solidFill>
          <a:ln w="12700">
            <a:solidFill>
              <a:srgbClr val="FFFFFF"/>
            </a:solidFill>
            <a:prstDash val="solid"/>
          </a:ln>
        </p:spPr>
      </p:sp>
      <p:sp>
        <p:nvSpPr>
          <p:cNvPr id="5" name="sq-0-1"/>
          <p:cNvSpPr/>
          <p:nvPr/>
        </p:nvSpPr>
        <p:spPr>
          <a:xfrm>
            <a:off x="1261872" y="1783080"/>
            <a:ext cx="658368" cy="658368"/>
          </a:xfrm>
          <a:prstGeom prst="rect">
            <a:avLst/>
          </a:prstGeom>
          <a:solidFill>
            <a:srgbClr val="DFF2F8"/>
          </a:solidFill>
          <a:ln w="12700">
            <a:solidFill>
              <a:srgbClr val="FFFFFF"/>
            </a:solidFill>
            <a:prstDash val="solid"/>
          </a:ln>
        </p:spPr>
      </p:sp>
      <p:sp>
        <p:nvSpPr>
          <p:cNvPr id="6" name="sq-0-2"/>
          <p:cNvSpPr/>
          <p:nvPr/>
        </p:nvSpPr>
        <p:spPr>
          <a:xfrm>
            <a:off x="1975104" y="1783080"/>
            <a:ext cx="658368" cy="658368"/>
          </a:xfrm>
          <a:prstGeom prst="rect">
            <a:avLst/>
          </a:prstGeom>
          <a:solidFill>
            <a:srgbClr val="FBEEDD"/>
          </a:solidFill>
          <a:ln w="12700">
            <a:solidFill>
              <a:srgbClr val="FFFFFF"/>
            </a:solidFill>
            <a:prstDash val="solid"/>
          </a:ln>
        </p:spPr>
      </p:sp>
      <p:sp>
        <p:nvSpPr>
          <p:cNvPr id="7" name="sq-1-0"/>
          <p:cNvSpPr/>
          <p:nvPr/>
        </p:nvSpPr>
        <p:spPr>
          <a:xfrm>
            <a:off x="548640" y="2496312"/>
            <a:ext cx="658368" cy="658368"/>
          </a:xfrm>
          <a:prstGeom prst="rect">
            <a:avLst/>
          </a:prstGeom>
          <a:solidFill>
            <a:srgbClr val="DFF2F8"/>
          </a:solidFill>
          <a:ln w="12700">
            <a:solidFill>
              <a:srgbClr val="FFFFFF"/>
            </a:solidFill>
            <a:prstDash val="solid"/>
          </a:ln>
        </p:spPr>
      </p:sp>
      <p:sp>
        <p:nvSpPr>
          <p:cNvPr id="8" name="sq-1-1"/>
          <p:cNvSpPr/>
          <p:nvPr/>
        </p:nvSpPr>
        <p:spPr>
          <a:xfrm>
            <a:off x="1261872" y="2496312"/>
            <a:ext cx="658368" cy="658368"/>
          </a:xfrm>
          <a:prstGeom prst="rect">
            <a:avLst/>
          </a:prstGeom>
          <a:solidFill>
            <a:srgbClr val="14181D"/>
          </a:solidFill>
          <a:ln w="12700">
            <a:solidFill>
              <a:srgbClr val="FFFFFF"/>
            </a:solidFill>
            <a:prstDash val="solid"/>
          </a:ln>
        </p:spPr>
      </p:sp>
      <p:sp>
        <p:nvSpPr>
          <p:cNvPr id="9" name="sq-1-2"/>
          <p:cNvSpPr/>
          <p:nvPr/>
        </p:nvSpPr>
        <p:spPr>
          <a:xfrm>
            <a:off x="1975104" y="2496312"/>
            <a:ext cx="658368" cy="658368"/>
          </a:xfrm>
          <a:prstGeom prst="rect">
            <a:avLst/>
          </a:prstGeom>
          <a:solidFill>
            <a:srgbClr val="DFF2F8"/>
          </a:solidFill>
          <a:ln w="12700">
            <a:solidFill>
              <a:srgbClr val="FFFFFF"/>
            </a:solidFill>
            <a:prstDash val="solid"/>
          </a:ln>
        </p:spPr>
      </p:sp>
      <p:sp>
        <p:nvSpPr>
          <p:cNvPr id="10" name="sq-2-0"/>
          <p:cNvSpPr/>
          <p:nvPr/>
        </p:nvSpPr>
        <p:spPr>
          <a:xfrm>
            <a:off x="548640" y="3209544"/>
            <a:ext cx="658368" cy="658368"/>
          </a:xfrm>
          <a:prstGeom prst="rect">
            <a:avLst/>
          </a:prstGeom>
          <a:solidFill>
            <a:srgbClr val="FBEEDD"/>
          </a:solidFill>
          <a:ln w="12700">
            <a:solidFill>
              <a:srgbClr val="FFFFFF"/>
            </a:solidFill>
            <a:prstDash val="solid"/>
          </a:ln>
        </p:spPr>
      </p:sp>
      <p:sp>
        <p:nvSpPr>
          <p:cNvPr id="11" name="sq-2-1"/>
          <p:cNvSpPr/>
          <p:nvPr/>
        </p:nvSpPr>
        <p:spPr>
          <a:xfrm>
            <a:off x="1261872" y="3209544"/>
            <a:ext cx="658368" cy="658368"/>
          </a:xfrm>
          <a:prstGeom prst="rect">
            <a:avLst/>
          </a:prstGeom>
          <a:solidFill>
            <a:srgbClr val="DFF2F8"/>
          </a:solidFill>
          <a:ln w="12700">
            <a:solidFill>
              <a:srgbClr val="FFFFFF"/>
            </a:solidFill>
            <a:prstDash val="solid"/>
          </a:ln>
        </p:spPr>
      </p:sp>
      <p:sp>
        <p:nvSpPr>
          <p:cNvPr id="12" name="sq-2-2"/>
          <p:cNvSpPr/>
          <p:nvPr/>
        </p:nvSpPr>
        <p:spPr>
          <a:xfrm>
            <a:off x="1975104" y="3209544"/>
            <a:ext cx="658368" cy="658368"/>
          </a:xfrm>
          <a:prstGeom prst="rect">
            <a:avLst/>
          </a:prstGeom>
          <a:solidFill>
            <a:srgbClr val="FBEEDD"/>
          </a:solidFill>
          <a:ln w="12700">
            <a:solidFill>
              <a:srgbClr val="FFFFFF"/>
            </a:solidFill>
            <a:prstDash val="solid"/>
          </a:ln>
        </p:spPr>
      </p:sp>
      <p:sp>
        <p:nvSpPr>
          <p:cNvPr id="13" name="sq-note"/>
          <p:cNvSpPr txBox="1"/>
          <p:nvPr/>
        </p:nvSpPr>
        <p:spPr>
          <a:xfrm>
            <a:off x="548640" y="3977640"/>
            <a:ext cx="237744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8 neighbours at 2 different distances</a:t>
            </a:r>
            <a:endParaRPr lang="en-US" sz="1300" dirty="0"/>
          </a:p>
        </p:txBody>
      </p:sp>
      <p:sp>
        <p:nvSpPr>
          <p:cNvPr id="14" name="hx-label"/>
          <p:cNvSpPr txBox="1"/>
          <p:nvPr/>
        </p:nvSpPr>
        <p:spPr>
          <a:xfrm>
            <a:off x="3291840" y="1417320"/>
            <a:ext cx="256032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Hexagons</a:t>
            </a:r>
            <a:endParaRPr lang="en-US" sz="1500" dirty="0"/>
          </a:p>
        </p:txBody>
      </p:sp>
      <p:sp>
        <p:nvSpPr>
          <p:cNvPr id="15" name="hx-0"/>
          <p:cNvSpPr/>
          <p:nvPr/>
        </p:nvSpPr>
        <p:spPr>
          <a:xfrm rot="5400000">
            <a:off x="3867912" y="1783080"/>
            <a:ext cx="713232" cy="627644"/>
          </a:xfrm>
          <a:prstGeom prst="hexagon">
            <a:avLst/>
          </a:prstGeom>
          <a:solidFill>
            <a:srgbClr val="DFF2F8"/>
          </a:solidFill>
          <a:ln w="19050">
            <a:solidFill>
              <a:srgbClr val="FFFFFF"/>
            </a:solidFill>
            <a:prstDash val="solid"/>
          </a:ln>
        </p:spPr>
      </p:sp>
      <p:sp>
        <p:nvSpPr>
          <p:cNvPr id="16" name="hx-1"/>
          <p:cNvSpPr/>
          <p:nvPr/>
        </p:nvSpPr>
        <p:spPr>
          <a:xfrm rot="5400000">
            <a:off x="4581144" y="1783080"/>
            <a:ext cx="713232" cy="627644"/>
          </a:xfrm>
          <a:prstGeom prst="hexagon">
            <a:avLst/>
          </a:prstGeom>
          <a:solidFill>
            <a:srgbClr val="DFF2F8"/>
          </a:solidFill>
          <a:ln w="19050">
            <a:solidFill>
              <a:srgbClr val="FFFFFF"/>
            </a:solidFill>
            <a:prstDash val="solid"/>
          </a:ln>
        </p:spPr>
      </p:sp>
      <p:sp>
        <p:nvSpPr>
          <p:cNvPr id="17" name="hx-2"/>
          <p:cNvSpPr/>
          <p:nvPr/>
        </p:nvSpPr>
        <p:spPr>
          <a:xfrm rot="5400000">
            <a:off x="3511296" y="2423277"/>
            <a:ext cx="713232" cy="627644"/>
          </a:xfrm>
          <a:prstGeom prst="hexagon">
            <a:avLst/>
          </a:prstGeom>
          <a:solidFill>
            <a:srgbClr val="DFF2F8"/>
          </a:solidFill>
          <a:ln w="19050">
            <a:solidFill>
              <a:srgbClr val="FFFFFF"/>
            </a:solidFill>
            <a:prstDash val="solid"/>
          </a:ln>
        </p:spPr>
      </p:sp>
      <p:sp>
        <p:nvSpPr>
          <p:cNvPr id="18" name="hx-3"/>
          <p:cNvSpPr/>
          <p:nvPr/>
        </p:nvSpPr>
        <p:spPr>
          <a:xfrm rot="5400000">
            <a:off x="4224528" y="2423277"/>
            <a:ext cx="713232" cy="627644"/>
          </a:xfrm>
          <a:prstGeom prst="hexagon">
            <a:avLst/>
          </a:prstGeom>
          <a:solidFill>
            <a:srgbClr val="14181D"/>
          </a:solidFill>
          <a:ln w="19050">
            <a:solidFill>
              <a:srgbClr val="FFFFFF"/>
            </a:solidFill>
            <a:prstDash val="solid"/>
          </a:ln>
        </p:spPr>
      </p:sp>
      <p:sp>
        <p:nvSpPr>
          <p:cNvPr id="19" name="hx-4"/>
          <p:cNvSpPr/>
          <p:nvPr/>
        </p:nvSpPr>
        <p:spPr>
          <a:xfrm rot="5400000">
            <a:off x="4937760" y="2423277"/>
            <a:ext cx="713232" cy="627644"/>
          </a:xfrm>
          <a:prstGeom prst="hexagon">
            <a:avLst/>
          </a:prstGeom>
          <a:solidFill>
            <a:srgbClr val="DFF2F8"/>
          </a:solidFill>
          <a:ln w="19050">
            <a:solidFill>
              <a:srgbClr val="FFFFFF"/>
            </a:solidFill>
            <a:prstDash val="solid"/>
          </a:ln>
        </p:spPr>
      </p:sp>
      <p:sp>
        <p:nvSpPr>
          <p:cNvPr id="20" name="hx-5"/>
          <p:cNvSpPr/>
          <p:nvPr/>
        </p:nvSpPr>
        <p:spPr>
          <a:xfrm rot="5400000">
            <a:off x="3867912" y="3063474"/>
            <a:ext cx="713232" cy="627644"/>
          </a:xfrm>
          <a:prstGeom prst="hexagon">
            <a:avLst/>
          </a:prstGeom>
          <a:solidFill>
            <a:srgbClr val="DFF2F8"/>
          </a:solidFill>
          <a:ln w="19050">
            <a:solidFill>
              <a:srgbClr val="FFFFFF"/>
            </a:solidFill>
            <a:prstDash val="solid"/>
          </a:ln>
        </p:spPr>
      </p:sp>
      <p:sp>
        <p:nvSpPr>
          <p:cNvPr id="21" name="hx-6"/>
          <p:cNvSpPr/>
          <p:nvPr/>
        </p:nvSpPr>
        <p:spPr>
          <a:xfrm rot="5400000">
            <a:off x="4581144" y="3063474"/>
            <a:ext cx="713232" cy="627644"/>
          </a:xfrm>
          <a:prstGeom prst="hexagon">
            <a:avLst/>
          </a:prstGeom>
          <a:solidFill>
            <a:srgbClr val="DFF2F8"/>
          </a:solidFill>
          <a:ln w="19050">
            <a:solidFill>
              <a:srgbClr val="FFFFFF"/>
            </a:solidFill>
            <a:prstDash val="solid"/>
          </a:ln>
        </p:spPr>
      </p:sp>
      <p:sp>
        <p:nvSpPr>
          <p:cNvPr id="22" name="hx-note"/>
          <p:cNvSpPr txBox="1"/>
          <p:nvPr/>
        </p:nvSpPr>
        <p:spPr>
          <a:xfrm>
            <a:off x="3291840" y="3977640"/>
            <a:ext cx="256032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6 neighbours, all the same distance away</a:t>
            </a:r>
            <a:endParaRPr lang="en-US" sz="1300" dirty="0"/>
          </a:p>
        </p:txBody>
      </p:sp>
      <p:sp>
        <p:nvSpPr>
          <p:cNvPr id="23" name="fair-card"/>
          <p:cNvSpPr/>
          <p:nvPr/>
        </p:nvSpPr>
        <p:spPr>
          <a:xfrm>
            <a:off x="548640" y="4709160"/>
            <a:ext cx="5303520" cy="1417320"/>
          </a:xfrm>
          <a:prstGeom prst="roundRect">
            <a:avLst>
              <a:gd name="adj" fmla="val 6452"/>
            </a:avLst>
          </a:prstGeom>
          <a:solidFill>
            <a:srgbClr val="F1F3F5"/>
          </a:solidFill>
          <a:ln w="12700">
            <a:solidFill>
              <a:srgbClr val="F1F3F5"/>
            </a:solidFill>
            <a:prstDash val="solid"/>
          </a:ln>
        </p:spPr>
      </p:sp>
      <p:sp>
        <p:nvSpPr>
          <p:cNvPr id="24" name="fair-text"/>
          <p:cNvSpPr txBox="1"/>
          <p:nvPr/>
        </p:nvSpPr>
        <p:spPr>
          <a:xfrm>
            <a:off x="777240" y="4892040"/>
            <a:ext cx="4846320" cy="109728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Why it matters: </a:t>
            </a:r>
            <a:pPr indent="0" marL="0">
              <a:buNone/>
            </a:pPr>
            <a:r>
              <a:rPr lang="en-US" sz="1500" dirty="0">
                <a:solidFill>
                  <a:srgbClr val="4A525C"/>
                </a:solidFill>
                <a:latin typeface="Calibri" pitchFamily="34" charset="0"/>
                <a:ea typeface="Calibri" pitchFamily="34" charset="-122"/>
                <a:cs typeface="Calibri" pitchFamily="34" charset="-120"/>
              </a:rPr>
              <a:t>“two hexagons away” is the same distance in every direction, so deciding which communities can share a trip is fair to all of them.</a:t>
            </a:r>
            <a:endParaRPr lang="en-US" sz="1500" dirty="0"/>
          </a:p>
        </p:txBody>
      </p:sp>
      <p:sp>
        <p:nvSpPr>
          <p:cNvPr id="25" name="use-hex-0"/>
          <p:cNvSpPr/>
          <p:nvPr/>
        </p:nvSpPr>
        <p:spPr>
          <a:xfrm>
            <a:off x="6309360" y="1554480"/>
            <a:ext cx="658368" cy="579364"/>
          </a:xfrm>
          <a:prstGeom prst="hexagon">
            <a:avLst/>
          </a:prstGeom>
          <a:solidFill>
            <a:srgbClr val="6E56CF"/>
          </a:solidFill>
          <a:ln w="12700">
            <a:solidFill>
              <a:srgbClr val="6E56CF"/>
            </a:solidFill>
            <a:prstDash val="solid"/>
          </a:ln>
        </p:spPr>
      </p:sp>
      <p:sp>
        <p:nvSpPr>
          <p:cNvPr id="26" name="use-h-0"/>
          <p:cNvSpPr txBox="1"/>
          <p:nvPr/>
        </p:nvSpPr>
        <p:spPr>
          <a:xfrm>
            <a:off x="7178040" y="146304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Shared trips</a:t>
            </a:r>
            <a:endParaRPr lang="en-US" sz="1700" dirty="0"/>
          </a:p>
        </p:txBody>
      </p:sp>
      <p:sp>
        <p:nvSpPr>
          <p:cNvPr id="27" name="use-b-0"/>
          <p:cNvSpPr txBox="1"/>
          <p:nvPr/>
        </p:nvSpPr>
        <p:spPr>
          <a:xfrm>
            <a:off x="7178040" y="184708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Communities within 2 hexagons (about 90 km) can share a trip, saving $66–$73 per repair</a:t>
            </a:r>
            <a:endParaRPr lang="en-US" sz="1400" dirty="0"/>
          </a:p>
        </p:txBody>
      </p:sp>
      <p:sp>
        <p:nvSpPr>
          <p:cNvPr id="28" name="use-hex-1"/>
          <p:cNvSpPr/>
          <p:nvPr/>
        </p:nvSpPr>
        <p:spPr>
          <a:xfrm>
            <a:off x="6309360" y="2743200"/>
            <a:ext cx="658368" cy="579364"/>
          </a:xfrm>
          <a:prstGeom prst="hexagon">
            <a:avLst/>
          </a:prstGeom>
          <a:solidFill>
            <a:srgbClr val="1F9D4C"/>
          </a:solidFill>
          <a:ln w="12700">
            <a:solidFill>
              <a:srgbClr val="1F9D4C"/>
            </a:solidFill>
            <a:prstDash val="solid"/>
          </a:ln>
        </p:spPr>
      </p:sp>
      <p:sp>
        <p:nvSpPr>
          <p:cNvPr id="29" name="use-h-1"/>
          <p:cNvSpPr txBox="1"/>
          <p:nvPr/>
        </p:nvSpPr>
        <p:spPr>
          <a:xfrm>
            <a:off x="7178040" y="265176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Privacy</a:t>
            </a:r>
            <a:endParaRPr lang="en-US" sz="1700" dirty="0"/>
          </a:p>
        </p:txBody>
      </p:sp>
      <p:sp>
        <p:nvSpPr>
          <p:cNvPr id="30" name="use-b-1"/>
          <p:cNvSpPr txBox="1"/>
          <p:nvPr/>
        </p:nvSpPr>
        <p:spPr>
          <a:xfrm>
            <a:off x="7178040" y="303580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house is stored as a small hexagon, not a street address</a:t>
            </a:r>
            <a:endParaRPr lang="en-US" sz="1400" dirty="0"/>
          </a:p>
        </p:txBody>
      </p:sp>
      <p:sp>
        <p:nvSpPr>
          <p:cNvPr id="31" name="use-hex-2"/>
          <p:cNvSpPr/>
          <p:nvPr/>
        </p:nvSpPr>
        <p:spPr>
          <a:xfrm>
            <a:off x="6309360" y="3931920"/>
            <a:ext cx="658368" cy="579364"/>
          </a:xfrm>
          <a:prstGeom prst="hexagon">
            <a:avLst/>
          </a:prstGeom>
          <a:solidFill>
            <a:srgbClr val="0E8FB8"/>
          </a:solidFill>
          <a:ln w="12700">
            <a:solidFill>
              <a:srgbClr val="0E8FB8"/>
            </a:solidFill>
            <a:prstDash val="solid"/>
          </a:ln>
        </p:spPr>
      </p:sp>
      <p:sp>
        <p:nvSpPr>
          <p:cNvPr id="32" name="use-h-2"/>
          <p:cNvSpPr txBox="1"/>
          <p:nvPr/>
        </p:nvSpPr>
        <p:spPr>
          <a:xfrm>
            <a:off x="7178040" y="384048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Public numbers</a:t>
            </a:r>
            <a:endParaRPr lang="en-US" sz="1700" dirty="0"/>
          </a:p>
        </p:txBody>
      </p:sp>
      <p:sp>
        <p:nvSpPr>
          <p:cNvPr id="33" name="use-b-2"/>
          <p:cNvSpPr txBox="1"/>
          <p:nvPr/>
        </p:nvSpPr>
        <p:spPr>
          <a:xfrm>
            <a:off x="7178040" y="422452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Waits are published per larger hexagon, only where there are at least 5 repairs</a:t>
            </a:r>
            <a:endParaRPr lang="en-US" sz="1400" dirty="0"/>
          </a:p>
        </p:txBody>
      </p:sp>
      <p:sp>
        <p:nvSpPr>
          <p:cNvPr id="34" name="use-hex-3"/>
          <p:cNvSpPr/>
          <p:nvPr/>
        </p:nvSpPr>
        <p:spPr>
          <a:xfrm>
            <a:off x="6309360" y="5120640"/>
            <a:ext cx="658368" cy="579364"/>
          </a:xfrm>
          <a:prstGeom prst="hexagon">
            <a:avLst/>
          </a:prstGeom>
          <a:solidFill>
            <a:srgbClr val="D97706"/>
          </a:solidFill>
          <a:ln w="12700">
            <a:solidFill>
              <a:srgbClr val="D97706"/>
            </a:solidFill>
            <a:prstDash val="solid"/>
          </a:ln>
        </p:spPr>
      </p:sp>
      <p:sp>
        <p:nvSpPr>
          <p:cNvPr id="35" name="use-h-3"/>
          <p:cNvSpPr txBox="1"/>
          <p:nvPr/>
        </p:nvSpPr>
        <p:spPr>
          <a:xfrm>
            <a:off x="7178040" y="502920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Field and maps</a:t>
            </a:r>
            <a:endParaRPr lang="en-US" sz="1700" dirty="0"/>
          </a:p>
        </p:txBody>
      </p:sp>
      <p:sp>
        <p:nvSpPr>
          <p:cNvPr id="36" name="use-b-3"/>
          <p:cNvSpPr txBox="1"/>
          <p:nvPr/>
        </p:nvSpPr>
        <p:spPr>
          <a:xfrm>
            <a:off x="7178040" y="541324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"Nearby jobs" for tradespeople, the driving-time map, and fast database lookups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week, an optimiser plans the trips</a:t>
            </a:r>
            <a:endParaRPr lang="en-US" sz="2800" dirty="0"/>
          </a:p>
        </p:txBody>
      </p:sp>
      <p:sp>
        <p:nvSpPr>
          <p:cNvPr id="3" name="sep-label"/>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Two separate trips</a:t>
            </a:r>
            <a:endParaRPr lang="en-US" sz="1500" dirty="0"/>
          </a:p>
        </p:txBody>
      </p:sp>
      <p:sp>
        <p:nvSpPr>
          <p:cNvPr id="4" name="sep-hub"/>
          <p:cNvSpPr/>
          <p:nvPr/>
        </p:nvSpPr>
        <p:spPr>
          <a:xfrm>
            <a:off x="731520" y="3291840"/>
            <a:ext cx="685800" cy="603504"/>
          </a:xfrm>
          <a:prstGeom prst="hexagon">
            <a:avLst/>
          </a:prstGeom>
          <a:solidFill>
            <a:srgbClr val="14181D"/>
          </a:solidFill>
          <a:ln w="12700">
            <a:solidFill>
              <a:srgbClr val="14181D"/>
            </a:solidFill>
            <a:prstDash val="solid"/>
          </a:ln>
        </p:spPr>
      </p:sp>
      <p:sp>
        <p:nvSpPr>
          <p:cNvPr id="5" name="sep-hub-l"/>
          <p:cNvSpPr txBox="1"/>
          <p:nvPr/>
        </p:nvSpPr>
        <p:spPr>
          <a:xfrm>
            <a:off x="36576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6" name="sep-a"/>
          <p:cNvSpPr/>
          <p:nvPr/>
        </p:nvSpPr>
        <p:spPr>
          <a:xfrm>
            <a:off x="2377440" y="1920240"/>
            <a:ext cx="685800" cy="603504"/>
          </a:xfrm>
          <a:prstGeom prst="hexagon">
            <a:avLst/>
          </a:prstGeom>
          <a:solidFill>
            <a:srgbClr val="6E56CF"/>
          </a:solidFill>
          <a:ln w="12700">
            <a:solidFill>
              <a:srgbClr val="6E56CF"/>
            </a:solidFill>
            <a:prstDash val="solid"/>
          </a:ln>
        </p:spPr>
      </p:sp>
      <p:sp>
        <p:nvSpPr>
          <p:cNvPr id="7" name="sep-a-l"/>
          <p:cNvSpPr txBox="1"/>
          <p:nvPr/>
        </p:nvSpPr>
        <p:spPr>
          <a:xfrm>
            <a:off x="201168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8" name="sep-b"/>
          <p:cNvSpPr/>
          <p:nvPr/>
        </p:nvSpPr>
        <p:spPr>
          <a:xfrm>
            <a:off x="2926080" y="4023360"/>
            <a:ext cx="685800" cy="603504"/>
          </a:xfrm>
          <a:prstGeom prst="hexagon">
            <a:avLst/>
          </a:prstGeom>
          <a:solidFill>
            <a:srgbClr val="6E56CF"/>
          </a:solidFill>
          <a:ln w="12700">
            <a:solidFill>
              <a:srgbClr val="6E56CF"/>
            </a:solidFill>
            <a:prstDash val="solid"/>
          </a:ln>
        </p:spPr>
      </p:sp>
      <p:sp>
        <p:nvSpPr>
          <p:cNvPr id="9" name="sep-b-l"/>
          <p:cNvSpPr txBox="1"/>
          <p:nvPr/>
        </p:nvSpPr>
        <p:spPr>
          <a:xfrm>
            <a:off x="256032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10" name="sep-l1"/>
          <p:cNvSpPr/>
          <p:nvPr/>
        </p:nvSpPr>
        <p:spPr>
          <a:xfrm flipV="1">
            <a:off x="1417320" y="2377440"/>
            <a:ext cx="960120" cy="1143000"/>
          </a:xfrm>
          <a:prstGeom prst="line">
            <a:avLst/>
          </a:prstGeom>
          <a:noFill/>
          <a:ln w="31750">
            <a:solidFill>
              <a:srgbClr val="D97706"/>
            </a:solidFill>
            <a:prstDash val="solid"/>
          </a:ln>
        </p:spPr>
      </p:sp>
      <p:sp>
        <p:nvSpPr>
          <p:cNvPr id="11" name="sep-l2"/>
          <p:cNvSpPr/>
          <p:nvPr/>
        </p:nvSpPr>
        <p:spPr>
          <a:xfrm>
            <a:off x="1417320" y="3749040"/>
            <a:ext cx="1508760" cy="548640"/>
          </a:xfrm>
          <a:prstGeom prst="line">
            <a:avLst/>
          </a:prstGeom>
          <a:noFill/>
          <a:ln w="31750">
            <a:solidFill>
              <a:srgbClr val="D97706"/>
            </a:solidFill>
            <a:prstDash val="solid"/>
          </a:ln>
        </p:spPr>
      </p:sp>
      <p:sp>
        <p:nvSpPr>
          <p:cNvPr id="12" name="sep-note"/>
          <p:cNvSpPr txBox="1"/>
          <p:nvPr/>
        </p:nvSpPr>
        <p:spPr>
          <a:xfrm>
            <a:off x="548640" y="4846320"/>
            <a:ext cx="3108960" cy="32004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Two drives there and back</a:t>
            </a:r>
            <a:endParaRPr lang="en-US" sz="1300" dirty="0"/>
          </a:p>
        </p:txBody>
      </p:sp>
      <p:sp>
        <p:nvSpPr>
          <p:cNvPr id="13" name="run-label"/>
          <p:cNvSpPr txBox="1"/>
          <p:nvPr/>
        </p:nvSpPr>
        <p:spPr>
          <a:xfrm>
            <a:off x="402336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One shared trip</a:t>
            </a:r>
            <a:endParaRPr lang="en-US" sz="1500" dirty="0"/>
          </a:p>
        </p:txBody>
      </p:sp>
      <p:sp>
        <p:nvSpPr>
          <p:cNvPr id="14" name="run-hub"/>
          <p:cNvSpPr/>
          <p:nvPr/>
        </p:nvSpPr>
        <p:spPr>
          <a:xfrm>
            <a:off x="4206240" y="3291840"/>
            <a:ext cx="685800" cy="603504"/>
          </a:xfrm>
          <a:prstGeom prst="hexagon">
            <a:avLst/>
          </a:prstGeom>
          <a:solidFill>
            <a:srgbClr val="14181D"/>
          </a:solidFill>
          <a:ln w="12700">
            <a:solidFill>
              <a:srgbClr val="14181D"/>
            </a:solidFill>
            <a:prstDash val="solid"/>
          </a:ln>
        </p:spPr>
      </p:sp>
      <p:sp>
        <p:nvSpPr>
          <p:cNvPr id="15" name="run-hub-l"/>
          <p:cNvSpPr txBox="1"/>
          <p:nvPr/>
        </p:nvSpPr>
        <p:spPr>
          <a:xfrm>
            <a:off x="384048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16" name="run-a"/>
          <p:cNvSpPr/>
          <p:nvPr/>
        </p:nvSpPr>
        <p:spPr>
          <a:xfrm>
            <a:off x="5852160" y="1920240"/>
            <a:ext cx="685800" cy="603504"/>
          </a:xfrm>
          <a:prstGeom prst="hexagon">
            <a:avLst/>
          </a:prstGeom>
          <a:solidFill>
            <a:srgbClr val="6E56CF"/>
          </a:solidFill>
          <a:ln w="12700">
            <a:solidFill>
              <a:srgbClr val="6E56CF"/>
            </a:solidFill>
            <a:prstDash val="solid"/>
          </a:ln>
        </p:spPr>
      </p:sp>
      <p:sp>
        <p:nvSpPr>
          <p:cNvPr id="17" name="run-a-l"/>
          <p:cNvSpPr txBox="1"/>
          <p:nvPr/>
        </p:nvSpPr>
        <p:spPr>
          <a:xfrm>
            <a:off x="548640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18" name="run-b"/>
          <p:cNvSpPr/>
          <p:nvPr/>
        </p:nvSpPr>
        <p:spPr>
          <a:xfrm>
            <a:off x="6400800" y="4023360"/>
            <a:ext cx="685800" cy="603504"/>
          </a:xfrm>
          <a:prstGeom prst="hexagon">
            <a:avLst/>
          </a:prstGeom>
          <a:solidFill>
            <a:srgbClr val="6E56CF"/>
          </a:solidFill>
          <a:ln w="12700">
            <a:solidFill>
              <a:srgbClr val="6E56CF"/>
            </a:solidFill>
            <a:prstDash val="solid"/>
          </a:ln>
        </p:spPr>
      </p:sp>
      <p:sp>
        <p:nvSpPr>
          <p:cNvPr id="19" name="run-b-l"/>
          <p:cNvSpPr txBox="1"/>
          <p:nvPr/>
        </p:nvSpPr>
        <p:spPr>
          <a:xfrm>
            <a:off x="603504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20" name="run-l1"/>
          <p:cNvSpPr/>
          <p:nvPr/>
        </p:nvSpPr>
        <p:spPr>
          <a:xfrm flipV="1">
            <a:off x="4892040" y="2377440"/>
            <a:ext cx="960120" cy="1143000"/>
          </a:xfrm>
          <a:prstGeom prst="line">
            <a:avLst/>
          </a:prstGeom>
          <a:noFill/>
          <a:ln w="31750">
            <a:solidFill>
              <a:srgbClr val="0E8FB8"/>
            </a:solidFill>
            <a:prstDash val="solid"/>
          </a:ln>
        </p:spPr>
      </p:sp>
      <p:sp>
        <p:nvSpPr>
          <p:cNvPr id="21" name="run-l2"/>
          <p:cNvSpPr/>
          <p:nvPr/>
        </p:nvSpPr>
        <p:spPr>
          <a:xfrm>
            <a:off x="6309360" y="2697480"/>
            <a:ext cx="411480" cy="1325880"/>
          </a:xfrm>
          <a:prstGeom prst="line">
            <a:avLst/>
          </a:prstGeom>
          <a:noFill/>
          <a:ln w="31750">
            <a:solidFill>
              <a:srgbClr val="0E8FB8"/>
            </a:solidFill>
            <a:prstDash val="solid"/>
          </a:ln>
        </p:spPr>
      </p:sp>
      <p:sp>
        <p:nvSpPr>
          <p:cNvPr id="22" name="run-l3"/>
          <p:cNvSpPr/>
          <p:nvPr/>
        </p:nvSpPr>
        <p:spPr>
          <a:xfrm>
            <a:off x="4892040" y="3749040"/>
            <a:ext cx="1508760" cy="548640"/>
          </a:xfrm>
          <a:prstGeom prst="line">
            <a:avLst/>
          </a:prstGeom>
          <a:noFill/>
          <a:ln w="31750">
            <a:solidFill>
              <a:srgbClr val="0E8FB8"/>
            </a:solidFill>
            <a:prstDash val="solid"/>
          </a:ln>
        </p:spPr>
      </p:sp>
      <p:sp>
        <p:nvSpPr>
          <p:cNvPr id="23" name="run-note"/>
          <p:cNvSpPr txBox="1"/>
          <p:nvPr/>
        </p:nvSpPr>
        <p:spPr>
          <a:xfrm>
            <a:off x="4023360" y="4846320"/>
            <a:ext cx="3291840" cy="320040"/>
          </a:xfrm>
          <a:prstGeom prst="rect">
            <a:avLst/>
          </a:prstGeom>
          <a:noFill/>
          <a:ln/>
        </p:spPr>
        <p:txBody>
          <a:bodyPr wrap="square" lIns="0" tIns="0" rIns="0" bIns="0" rtlCol="0" anchor="t"/>
          <a:lstStyle/>
          <a:p>
            <a:pPr indent="0" marL="0">
              <a:buNone/>
            </a:pPr>
            <a:r>
              <a:rPr lang="en-US" sz="1300" b="1" dirty="0">
                <a:solidFill>
                  <a:srgbClr val="0E8FB8"/>
                </a:solidFill>
                <a:latin typeface="Calibri" pitchFamily="34" charset="0"/>
                <a:ea typeface="Calibri" pitchFamily="34" charset="-122"/>
                <a:cs typeface="Calibri" pitchFamily="34" charset="-120"/>
              </a:rPr>
              <a:t>One loop: hub → A → B → hub</a:t>
            </a:r>
            <a:endParaRPr lang="en-US" sz="1300" dirty="0"/>
          </a:p>
        </p:txBody>
      </p:sp>
      <p:sp>
        <p:nvSpPr>
          <p:cNvPr id="24" name="ortools"/>
          <p:cNvSpPr txBox="1"/>
          <p:nvPr/>
        </p:nvSpPr>
        <p:spPr>
          <a:xfrm>
            <a:off x="548640" y="5257800"/>
            <a:ext cx="6766560" cy="8686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Google OR-Tools (CP-SAT) chooses which communities get a visit and which jobs are done, within each tradesperson's 40 hours, road closures and airstrips. </a:t>
            </a:r>
            <a:pPr indent="0" marL="0">
              <a:buNone/>
            </a:pPr>
            <a:r>
              <a:rPr lang="en-US" sz="1400" b="1" dirty="0">
                <a:solidFill>
                  <a:srgbClr val="14181D"/>
                </a:solidFill>
                <a:latin typeface="Calibri" pitchFamily="34" charset="0"/>
                <a:ea typeface="Calibri" pitchFamily="34" charset="-122"/>
                <a:cs typeface="Calibri" pitchFamily="34" charset="-120"/>
              </a:rPr>
              <a:t>Trades going to the same place travel together: a further $130 off every repair.</a:t>
            </a:r>
            <a:endParaRPr lang="en-US" sz="1400" dirty="0"/>
          </a:p>
        </p:txBody>
      </p:sp>
      <p:sp>
        <p:nvSpPr>
          <p:cNvPr id="25" name="s-saved-n"/>
          <p:cNvSpPr txBox="1"/>
          <p:nvPr/>
        </p:nvSpPr>
        <p:spPr>
          <a:xfrm>
            <a:off x="7955280" y="1508760"/>
            <a:ext cx="365760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$73</a:t>
            </a:r>
            <a:endParaRPr lang="en-US" sz="4800" dirty="0"/>
          </a:p>
        </p:txBody>
      </p:sp>
      <p:sp>
        <p:nvSpPr>
          <p:cNvPr id="26" name="s-saved-l"/>
          <p:cNvSpPr txBox="1"/>
          <p:nvPr/>
        </p:nvSpPr>
        <p:spPr>
          <a:xfrm>
            <a:off x="7955280" y="24231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saved per repair by shared trips, against the same plan without them</a:t>
            </a:r>
            <a:endParaRPr lang="en-US" sz="1500" dirty="0"/>
          </a:p>
        </p:txBody>
      </p:sp>
      <p:sp>
        <p:nvSpPr>
          <p:cNvPr id="27" name="s-share-harm-n"/>
          <p:cNvSpPr txBox="1"/>
          <p:nvPr/>
        </p:nvSpPr>
        <p:spPr>
          <a:xfrm>
            <a:off x="7955280" y="3108960"/>
            <a:ext cx="3657600" cy="868680"/>
          </a:xfrm>
          <a:prstGeom prst="rect">
            <a:avLst/>
          </a:prstGeom>
          <a:noFill/>
          <a:ln/>
        </p:spPr>
        <p:txBody>
          <a:bodyPr wrap="square" lIns="0" tIns="0" rIns="0" bIns="0" rtlCol="0" anchor="t"/>
          <a:lstStyle/>
          <a:p>
            <a:pPr indent="0" marL="0">
              <a:buNone/>
            </a:pPr>
            <a:r>
              <a:rPr lang="en-US" sz="4800" b="1" dirty="0">
                <a:solidFill>
                  <a:srgbClr val="1F9D4C"/>
                </a:solidFill>
                <a:latin typeface="Arial" pitchFamily="34" charset="0"/>
                <a:ea typeface="Arial" pitchFamily="34" charset="-122"/>
                <a:cs typeface="Arial" pitchFamily="34" charset="-120"/>
              </a:rPr>
              <a:t>18%</a:t>
            </a:r>
            <a:endParaRPr lang="en-US" sz="4800" dirty="0"/>
          </a:p>
        </p:txBody>
      </p:sp>
      <p:sp>
        <p:nvSpPr>
          <p:cNvPr id="28" name="s-share-harm-l"/>
          <p:cNvSpPr txBox="1"/>
          <p:nvPr/>
        </p:nvSpPr>
        <p:spPr>
          <a:xfrm>
            <a:off x="7955280" y="40233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fewer days households live with a fault, because the saving buys more visits</a:t>
            </a:r>
            <a:endParaRPr lang="en-US" sz="1500" dirty="0"/>
          </a:p>
        </p:txBody>
      </p:sp>
      <p:sp>
        <p:nvSpPr>
          <p:cNvPr id="29" name="s-optimal-n"/>
          <p:cNvSpPr txBox="1"/>
          <p:nvPr/>
        </p:nvSpPr>
        <p:spPr>
          <a:xfrm>
            <a:off x="7955280" y="4709160"/>
            <a:ext cx="3657600" cy="868680"/>
          </a:xfrm>
          <a:prstGeom prst="rect">
            <a:avLst/>
          </a:prstGeom>
          <a:noFill/>
          <a:ln/>
        </p:spPr>
        <p:txBody>
          <a:bodyPr wrap="square" lIns="0" tIns="0" rIns="0" bIns="0" rtlCol="0" anchor="t"/>
          <a:lstStyle/>
          <a:p>
            <a:pPr indent="0" marL="0">
              <a:buNone/>
            </a:pPr>
            <a:r>
              <a:rPr lang="en-US" sz="4000" b="1" dirty="0">
                <a:solidFill>
                  <a:srgbClr val="6E56CF"/>
                </a:solidFill>
                <a:latin typeface="Arial" pitchFamily="34" charset="0"/>
                <a:ea typeface="Arial" pitchFamily="34" charset="-122"/>
                <a:cs typeface="Arial" pitchFamily="34" charset="-120"/>
              </a:rPr>
              <a:t>99.4%</a:t>
            </a:r>
            <a:endParaRPr lang="en-US" sz="4000" dirty="0"/>
          </a:p>
        </p:txBody>
      </p:sp>
      <p:sp>
        <p:nvSpPr>
          <p:cNvPr id="30" name="s-optimal-l"/>
          <p:cNvSpPr txBox="1"/>
          <p:nvPr/>
        </p:nvSpPr>
        <p:spPr>
          <a:xfrm>
            <a:off x="7955280" y="56235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25,996 weekly plans proved the best possible, in milliseconds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Fairness costs a little more, and saves months of waiting</a:t>
            </a:r>
            <a:endParaRPr lang="en-US" sz="2800" dirty="0"/>
          </a:p>
        </p:txBody>
      </p:sp>
      <p:graphicFrame>
        <p:nvGraphicFramePr>
          <p:cNvPr id="3" name="harm-chart" descr=""/>
          <p:cNvGraphicFramePr/>
          <p:nvPr/>
        </p:nvGraphicFramePr>
        <p:xfrm>
          <a:off x="548640" y="137160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result-table"/>
          <p:cNvGraphicFramePr>
            <a:graphicFrameLocks noGrp="1"/>
          </p:cNvGraphicFramePr>
          <p:nvPr>
            <p:extLst>
              <p:ext uri="{D42A27DB-BD31-4B8C-83A1-F6EECF244321}">
                <p14:modId xmlns:p14="http://schemas.microsoft.com/office/powerpoint/2010/main" val="1579011935"/>
              </p:ext>
            </p:extLst>
          </p:nvPr>
        </p:nvGraphicFramePr>
        <p:xfrm>
          <a:off x="6675120" y="1463040"/>
          <a:ext cx="4937760" cy="914400"/>
        </p:xfrm>
        <a:graphic>
          <a:graphicData uri="http://schemas.openxmlformats.org/drawingml/2006/table">
            <a:tbl>
              <a:tblPr/>
              <a:tblGrid>
                <a:gridCol w="2377440"/>
                <a:gridCol w="1280160"/>
                <a:gridCol w="1280160"/>
              </a:tblGrid>
              <a:tr h="50292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Cheapest first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ReachNT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Average cost per repair</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$559</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$803</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9 in 10 urgent remote repairs fixed within</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62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3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Days living with a fault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226k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61k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bl>
          </a:graphicData>
        </a:graphic>
      </p:graphicFrame>
      <p:sp>
        <p:nvSpPr>
          <p:cNvPr id="5" name="verdict-card"/>
          <p:cNvSpPr/>
          <p:nvPr/>
        </p:nvSpPr>
        <p:spPr>
          <a:xfrm>
            <a:off x="6675120" y="3886200"/>
            <a:ext cx="4937760" cy="1691640"/>
          </a:xfrm>
          <a:prstGeom prst="roundRect">
            <a:avLst>
              <a:gd name="adj" fmla="val 5405"/>
            </a:avLst>
          </a:prstGeom>
          <a:solidFill>
            <a:srgbClr val="DFF2F8"/>
          </a:solidFill>
          <a:ln w="12700">
            <a:solidFill>
              <a:srgbClr val="DFF2F8"/>
            </a:solidFill>
            <a:prstDash val="solid"/>
          </a:ln>
        </p:spPr>
      </p:sp>
      <p:sp>
        <p:nvSpPr>
          <p:cNvPr id="6" name="verdict"/>
          <p:cNvSpPr txBox="1"/>
          <p:nvPr/>
        </p:nvSpPr>
        <p:spPr>
          <a:xfrm>
            <a:off x="6903720" y="4069080"/>
            <a:ext cx="4572000" cy="457200"/>
          </a:xfrm>
          <a:prstGeom prst="rect">
            <a:avLst/>
          </a:prstGeom>
          <a:noFill/>
          <a:ln/>
        </p:spPr>
        <p:txBody>
          <a:bodyPr wrap="square" lIns="0" tIns="0" rIns="0" bIns="0" rtlCol="0" anchor="t"/>
          <a:lstStyle/>
          <a:p>
            <a:pPr indent="0" marL="0">
              <a:buNone/>
            </a:pPr>
            <a:r>
              <a:rPr lang="en-US" sz="2000" b="1" dirty="0">
                <a:solidFill>
                  <a:srgbClr val="14181D"/>
                </a:solidFill>
                <a:latin typeface="Calibri" pitchFamily="34" charset="0"/>
                <a:ea typeface="Calibri" pitchFamily="34" charset="-122"/>
                <a:cs typeface="Calibri" pitchFamily="34" charset="-120"/>
              </a:rPr>
              <a:t>+44% cost, 73% fewer days with a fault</a:t>
            </a:r>
            <a:endParaRPr lang="en-US" sz="2000" dirty="0"/>
          </a:p>
        </p:txBody>
      </p:sp>
      <p:sp>
        <p:nvSpPr>
          <p:cNvPr id="7" name="years"/>
          <p:cNvSpPr txBox="1"/>
          <p:nvPr/>
        </p:nvSpPr>
        <p:spPr>
          <a:xfrm>
            <a:off x="6903720" y="4572000"/>
            <a:ext cx="4572000" cy="86868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It held in all five random years we tested: 73%–75% fewer fault-days, for 42%–46% more per repair.</a:t>
            </a:r>
            <a:endParaRPr lang="en-US" sz="1500" dirty="0"/>
          </a:p>
        </p:txBody>
      </p:sp>
      <p:sp>
        <p:nvSpPr>
          <p:cNvPr id="8" name="basis"/>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dirty="0">
                <a:solidFill>
                  <a:srgbClr val="6B7480"/>
                </a:solidFill>
                <a:latin typeface="Calibri" pitchFamily="34" charset="0"/>
                <a:ea typeface="Calibri" pitchFamily="34" charset="-122"/>
                <a:cs typeface="Calibri" pitchFamily="34" charset="-120"/>
              </a:rPr>
              <a:t>One simulated year on real NT geography: 37,508 synthetic repair requests, 70 communities, 5 trade hubs.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Floods: surge crews, not other communities' trades</a:t>
            </a:r>
            <a:endParaRPr lang="en-US" sz="2800" dirty="0"/>
          </a:p>
        </p:txBody>
      </p:sp>
      <p:sp>
        <p:nvSpPr>
          <p:cNvPr id="3" name="resp-hex-0"/>
          <p:cNvSpPr/>
          <p:nvPr/>
        </p:nvSpPr>
        <p:spPr>
          <a:xfrm>
            <a:off x="548640" y="1472184"/>
            <a:ext cx="512064" cy="450616"/>
          </a:xfrm>
          <a:prstGeom prst="hexagon">
            <a:avLst/>
          </a:prstGeom>
          <a:solidFill>
            <a:srgbClr val="E5352B"/>
          </a:solidFill>
          <a:ln w="12700">
            <a:solidFill>
              <a:srgbClr val="E5352B"/>
            </a:solidFill>
            <a:prstDash val="solid"/>
          </a:ln>
        </p:spPr>
      </p:sp>
      <p:sp>
        <p:nvSpPr>
          <p:cNvPr id="4" name="resp-h-0"/>
          <p:cNvSpPr txBox="1"/>
          <p:nvPr/>
        </p:nvSpPr>
        <p:spPr>
          <a:xfrm>
            <a:off x="1280160" y="1417320"/>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Make every house safe within 48 hours</a:t>
            </a:r>
            <a:endParaRPr lang="en-US" sz="1700" dirty="0"/>
          </a:p>
        </p:txBody>
      </p:sp>
      <p:sp>
        <p:nvSpPr>
          <p:cNvPr id="5" name="resp-b-0"/>
          <p:cNvSpPr txBox="1"/>
          <p:nvPr/>
        </p:nvSpPr>
        <p:spPr>
          <a:xfrm>
            <a:off x="1280160" y="1783080"/>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Maintenance and housing officers check each one; danger is made safe that day</a:t>
            </a:r>
            <a:endParaRPr lang="en-US" sz="1400" dirty="0"/>
          </a:p>
        </p:txBody>
      </p:sp>
      <p:sp>
        <p:nvSpPr>
          <p:cNvPr id="6" name="resp-hex-1"/>
          <p:cNvSpPr/>
          <p:nvPr/>
        </p:nvSpPr>
        <p:spPr>
          <a:xfrm>
            <a:off x="548640" y="2459736"/>
            <a:ext cx="512064" cy="450616"/>
          </a:xfrm>
          <a:prstGeom prst="hexagon">
            <a:avLst/>
          </a:prstGeom>
          <a:solidFill>
            <a:srgbClr val="0E8FB8"/>
          </a:solidFill>
          <a:ln w="12700">
            <a:solidFill>
              <a:srgbClr val="0E8FB8"/>
            </a:solidFill>
            <a:prstDash val="solid"/>
          </a:ln>
        </p:spPr>
      </p:sp>
      <p:sp>
        <p:nvSpPr>
          <p:cNvPr id="7" name="resp-h-1"/>
          <p:cNvSpPr txBox="1"/>
          <p:nvPr/>
        </p:nvSpPr>
        <p:spPr>
          <a:xfrm>
            <a:off x="1280160" y="2404872"/>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One team, one trip</a:t>
            </a:r>
            <a:endParaRPr lang="en-US" sz="1700" dirty="0"/>
          </a:p>
        </p:txBody>
      </p:sp>
      <p:sp>
        <p:nvSpPr>
          <p:cNvPr id="8" name="resp-b-1"/>
          <p:cNvSpPr txBox="1"/>
          <p:nvPr/>
        </p:nvSpPr>
        <p:spPr>
          <a:xfrm>
            <a:off x="1280160" y="2770632"/>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Plumber, electrician, carpenter and maintenance share the vehicle or the plane</a:t>
            </a:r>
            <a:endParaRPr lang="en-US" sz="1400" dirty="0"/>
          </a:p>
        </p:txBody>
      </p:sp>
      <p:sp>
        <p:nvSpPr>
          <p:cNvPr id="9" name="resp-hex-2"/>
          <p:cNvSpPr/>
          <p:nvPr/>
        </p:nvSpPr>
        <p:spPr>
          <a:xfrm>
            <a:off x="548640" y="3447288"/>
            <a:ext cx="512064" cy="450616"/>
          </a:xfrm>
          <a:prstGeom prst="hexagon">
            <a:avLst/>
          </a:prstGeom>
          <a:solidFill>
            <a:srgbClr val="6E56CF"/>
          </a:solidFill>
          <a:ln w="12700">
            <a:solidFill>
              <a:srgbClr val="6E56CF"/>
            </a:solidFill>
            <a:prstDash val="solid"/>
          </a:ln>
        </p:spPr>
      </p:sp>
      <p:sp>
        <p:nvSpPr>
          <p:cNvPr id="10" name="resp-h-2"/>
          <p:cNvSpPr txBox="1"/>
          <p:nvPr/>
        </p:nvSpPr>
        <p:spPr>
          <a:xfrm>
            <a:off x="1280160" y="3392424"/>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Surge crews from the contractor panel</a:t>
            </a:r>
            <a:endParaRPr lang="en-US" sz="1700" dirty="0"/>
          </a:p>
        </p:txBody>
      </p:sp>
      <p:sp>
        <p:nvSpPr>
          <p:cNvPr id="11" name="resp-b-2"/>
          <p:cNvSpPr txBox="1"/>
          <p:nvPr/>
        </p:nvSpPr>
        <p:spPr>
          <a:xfrm>
            <a:off x="1280160" y="3758184"/>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Local Aboriginal Business Enterprises first; a named person signs the request</a:t>
            </a:r>
            <a:endParaRPr lang="en-US" sz="1400" dirty="0"/>
          </a:p>
        </p:txBody>
      </p:sp>
      <p:sp>
        <p:nvSpPr>
          <p:cNvPr id="12" name="resp-hex-3"/>
          <p:cNvSpPr/>
          <p:nvPr/>
        </p:nvSpPr>
        <p:spPr>
          <a:xfrm>
            <a:off x="548640" y="4434840"/>
            <a:ext cx="512064" cy="450616"/>
          </a:xfrm>
          <a:prstGeom prst="hexagon">
            <a:avLst/>
          </a:prstGeom>
          <a:solidFill>
            <a:srgbClr val="1F9D4C"/>
          </a:solidFill>
          <a:ln w="12700">
            <a:solidFill>
              <a:srgbClr val="1F9D4C"/>
            </a:solidFill>
            <a:prstDash val="solid"/>
          </a:ln>
        </p:spPr>
      </p:sp>
      <p:sp>
        <p:nvSpPr>
          <p:cNvPr id="13" name="resp-h-3"/>
          <p:cNvSpPr txBox="1"/>
          <p:nvPr/>
        </p:nvSpPr>
        <p:spPr>
          <a:xfrm>
            <a:off x="1280160" y="4379976"/>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Tell every household</a:t>
            </a:r>
            <a:endParaRPr lang="en-US" sz="1700" dirty="0"/>
          </a:p>
        </p:txBody>
      </p:sp>
      <p:sp>
        <p:nvSpPr>
          <p:cNvPr id="14" name="resp-b-3"/>
          <p:cNvSpPr txBox="1"/>
          <p:nvPr/>
        </p:nvSpPr>
        <p:spPr>
          <a:xfrm>
            <a:off x="1280160" y="4745736"/>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Hotline, housing officer, free interpreters; every report tagged to the event</a:t>
            </a:r>
            <a:endParaRPr lang="en-US" sz="1400" dirty="0"/>
          </a:p>
        </p:txBody>
      </p:sp>
      <p:sp>
        <p:nvSpPr>
          <p:cNvPr id="15" name="flood-card"/>
          <p:cNvSpPr/>
          <p:nvPr/>
        </p:nvSpPr>
        <p:spPr>
          <a:xfrm>
            <a:off x="7223760" y="1417320"/>
            <a:ext cx="4389120" cy="4343400"/>
          </a:xfrm>
          <a:prstGeom prst="roundRect">
            <a:avLst>
              <a:gd name="adj" fmla="val 2105"/>
            </a:avLst>
          </a:prstGeom>
          <a:solidFill>
            <a:srgbClr val="F1F3F5"/>
          </a:solidFill>
          <a:ln w="12700">
            <a:solidFill>
              <a:srgbClr val="F1F3F5"/>
            </a:solidFill>
            <a:prstDash val="solid"/>
          </a:ln>
        </p:spPr>
      </p:sp>
      <p:sp>
        <p:nvSpPr>
          <p:cNvPr id="16" name="flood-h"/>
          <p:cNvSpPr txBox="1"/>
          <p:nvPr/>
        </p:nvSpPr>
        <p:spPr>
          <a:xfrm>
            <a:off x="7452360" y="1554480"/>
            <a:ext cx="3931920" cy="36576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Modelled flood: Kalkarindji, Daguragu, Pigeon Hole</a:t>
            </a:r>
            <a:endParaRPr lang="en-US" sz="1400" dirty="0"/>
          </a:p>
        </p:txBody>
      </p:sp>
      <p:sp>
        <p:nvSpPr>
          <p:cNvPr id="17" name="flood-sub"/>
          <p:cNvSpPr txBox="1"/>
          <p:nvPr/>
        </p:nvSpPr>
        <p:spPr>
          <a:xfrm>
            <a:off x="7452360" y="1920240"/>
            <a:ext cx="3931920" cy="64008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94 repairs, roads cut for 4 weeks (like January 2023). 9 in 10 urgent repairs fixed within:</a:t>
            </a:r>
            <a:endParaRPr lang="en-US" sz="1300" dirty="0"/>
          </a:p>
        </p:txBody>
      </p:sp>
      <p:sp>
        <p:nvSpPr>
          <p:cNvPr id="18" name="fl-event-l"/>
          <p:cNvSpPr txBox="1"/>
          <p:nvPr/>
        </p:nvSpPr>
        <p:spPr>
          <a:xfrm>
            <a:off x="7452360" y="2606040"/>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In the flooded communities</a:t>
            </a:r>
            <a:endParaRPr lang="en-US" sz="1400" dirty="0"/>
          </a:p>
        </p:txBody>
      </p:sp>
      <p:sp>
        <p:nvSpPr>
          <p:cNvPr id="19" name="fl-event-n0"/>
          <p:cNvSpPr txBox="1"/>
          <p:nvPr/>
        </p:nvSpPr>
        <p:spPr>
          <a:xfrm>
            <a:off x="7452360" y="2935224"/>
            <a:ext cx="1920240" cy="45720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15 days</a:t>
            </a:r>
            <a:endParaRPr lang="en-US" sz="2600" dirty="0"/>
          </a:p>
        </p:txBody>
      </p:sp>
      <p:sp>
        <p:nvSpPr>
          <p:cNvPr id="20" name="fl-event-u0"/>
          <p:cNvSpPr txBox="1"/>
          <p:nvPr/>
        </p:nvSpPr>
        <p:spPr>
          <a:xfrm>
            <a:off x="7452360" y="3374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usual crews</a:t>
            </a:r>
            <a:endParaRPr lang="en-US" sz="1200" dirty="0"/>
          </a:p>
        </p:txBody>
      </p:sp>
      <p:sp>
        <p:nvSpPr>
          <p:cNvPr id="21" name="fl-event-n1"/>
          <p:cNvSpPr txBox="1"/>
          <p:nvPr/>
        </p:nvSpPr>
        <p:spPr>
          <a:xfrm>
            <a:off x="9464040" y="2935224"/>
            <a:ext cx="1920240" cy="457200"/>
          </a:xfrm>
          <a:prstGeom prst="rect">
            <a:avLst/>
          </a:prstGeom>
          <a:noFill/>
          <a:ln/>
        </p:spPr>
        <p:txBody>
          <a:bodyPr wrap="square" lIns="0" tIns="0" rIns="0" bIns="0" rtlCol="0" anchor="t"/>
          <a:lstStyle/>
          <a:p>
            <a:pPr indent="0" marL="0">
              <a:buNone/>
            </a:pPr>
            <a:r>
              <a:rPr lang="en-US" sz="2600" b="1" dirty="0">
                <a:solidFill>
                  <a:srgbClr val="1F9D4C"/>
                </a:solidFill>
                <a:latin typeface="Arial" pitchFamily="34" charset="0"/>
                <a:ea typeface="Arial" pitchFamily="34" charset="-122"/>
                <a:cs typeface="Arial" pitchFamily="34" charset="-120"/>
              </a:rPr>
              <a:t>3 days</a:t>
            </a:r>
            <a:endParaRPr lang="en-US" sz="2600" dirty="0"/>
          </a:p>
        </p:txBody>
      </p:sp>
      <p:sp>
        <p:nvSpPr>
          <p:cNvPr id="22" name="fl-event-u1"/>
          <p:cNvSpPr txBox="1"/>
          <p:nvPr/>
        </p:nvSpPr>
        <p:spPr>
          <a:xfrm>
            <a:off x="9464040" y="3374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surge crews</a:t>
            </a:r>
            <a:endParaRPr lang="en-US" sz="1200" dirty="0"/>
          </a:p>
        </p:txBody>
      </p:sp>
      <p:sp>
        <p:nvSpPr>
          <p:cNvPr id="23" name="fl-other-l"/>
          <p:cNvSpPr txBox="1"/>
          <p:nvPr/>
        </p:nvSpPr>
        <p:spPr>
          <a:xfrm>
            <a:off x="7452360" y="3749040"/>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Everywhere else in the hub (3 with no flood)</a:t>
            </a:r>
            <a:endParaRPr lang="en-US" sz="1400" dirty="0"/>
          </a:p>
        </p:txBody>
      </p:sp>
      <p:sp>
        <p:nvSpPr>
          <p:cNvPr id="24" name="fl-other-n0"/>
          <p:cNvSpPr txBox="1"/>
          <p:nvPr/>
        </p:nvSpPr>
        <p:spPr>
          <a:xfrm>
            <a:off x="7452360" y="4078224"/>
            <a:ext cx="1920240" cy="45720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10 days</a:t>
            </a:r>
            <a:endParaRPr lang="en-US" sz="2600" dirty="0"/>
          </a:p>
        </p:txBody>
      </p:sp>
      <p:sp>
        <p:nvSpPr>
          <p:cNvPr id="25" name="fl-other-u0"/>
          <p:cNvSpPr txBox="1"/>
          <p:nvPr/>
        </p:nvSpPr>
        <p:spPr>
          <a:xfrm>
            <a:off x="7452360" y="4517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usual crews</a:t>
            </a:r>
            <a:endParaRPr lang="en-US" sz="1200" dirty="0"/>
          </a:p>
        </p:txBody>
      </p:sp>
      <p:sp>
        <p:nvSpPr>
          <p:cNvPr id="26" name="fl-other-n1"/>
          <p:cNvSpPr txBox="1"/>
          <p:nvPr/>
        </p:nvSpPr>
        <p:spPr>
          <a:xfrm>
            <a:off x="9464040" y="4078224"/>
            <a:ext cx="1920240" cy="457200"/>
          </a:xfrm>
          <a:prstGeom prst="rect">
            <a:avLst/>
          </a:prstGeom>
          <a:noFill/>
          <a:ln/>
        </p:spPr>
        <p:txBody>
          <a:bodyPr wrap="square" lIns="0" tIns="0" rIns="0" bIns="0" rtlCol="0" anchor="t"/>
          <a:lstStyle/>
          <a:p>
            <a:pPr indent="0" marL="0">
              <a:buNone/>
            </a:pPr>
            <a:r>
              <a:rPr lang="en-US" sz="2600" b="1" dirty="0">
                <a:solidFill>
                  <a:srgbClr val="1F9D4C"/>
                </a:solidFill>
                <a:latin typeface="Arial" pitchFamily="34" charset="0"/>
                <a:ea typeface="Arial" pitchFamily="34" charset="-122"/>
                <a:cs typeface="Arial" pitchFamily="34" charset="-120"/>
              </a:rPr>
              <a:t>3 days</a:t>
            </a:r>
            <a:endParaRPr lang="en-US" sz="2600" dirty="0"/>
          </a:p>
        </p:txBody>
      </p:sp>
      <p:sp>
        <p:nvSpPr>
          <p:cNvPr id="27" name="fl-other-u1"/>
          <p:cNvSpPr txBox="1"/>
          <p:nvPr/>
        </p:nvSpPr>
        <p:spPr>
          <a:xfrm>
            <a:off x="9464040" y="4517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surge crews</a:t>
            </a:r>
            <a:endParaRPr lang="en-US" sz="1200" dirty="0"/>
          </a:p>
        </p:txBody>
      </p:sp>
      <p:sp>
        <p:nvSpPr>
          <p:cNvPr id="28" name="fl-safe"/>
          <p:cNvSpPr txBox="1"/>
          <p:nvPr/>
        </p:nvSpPr>
        <p:spPr>
          <a:xfrm>
            <a:off x="7452360" y="5029200"/>
            <a:ext cx="3931920" cy="640080"/>
          </a:xfrm>
          <a:prstGeom prst="rect">
            <a:avLst/>
          </a:prstGeom>
          <a:noFill/>
          <a:ln/>
        </p:spPr>
        <p:txBody>
          <a:bodyPr wrap="square" lIns="0" tIns="0" rIns="0" bIns="0" rtlCol="0" anchor="t"/>
          <a:lstStyle/>
          <a:p>
            <a:pPr indent="0" marL="0">
              <a:buNone/>
            </a:pPr>
            <a:r>
              <a:rPr lang="en-US" sz="1300" i="1" dirty="0">
                <a:solidFill>
                  <a:srgbClr val="4A525C"/>
                </a:solidFill>
                <a:latin typeface="Calibri" pitchFamily="34" charset="0"/>
                <a:ea typeface="Calibri" pitchFamily="34" charset="-122"/>
                <a:cs typeface="Calibri" pitchFamily="34" charset="-120"/>
              </a:rPr>
              <a:t>Every dangerous fault was made safe the day it was reported.</a:t>
            </a:r>
            <a:endParaRPr lang="en-US" sz="1300" dirty="0"/>
          </a:p>
        </p:txBody>
      </p:sp>
      <p:sp>
        <p:nvSpPr>
          <p:cNvPr id="29" name="fl-foot"/>
          <p:cNvSpPr txBox="1"/>
          <p:nvPr/>
        </p:nvSpPr>
        <p:spPr>
          <a:xfrm>
            <a:off x="548640" y="5532120"/>
            <a:ext cx="6400800" cy="685800"/>
          </a:xfrm>
          <a:prstGeom prst="rect">
            <a:avLst/>
          </a:prstGeom>
          <a:noFill/>
          <a:ln/>
        </p:spPr>
        <p:txBody>
          <a:bodyPr wrap="square" lIns="0" tIns="0" rIns="0" bIns="0" rtlCol="0" anchor="t"/>
          <a:lstStyle/>
          <a:p>
            <a:pPr indent="0" marL="0">
              <a:buNone/>
            </a:pPr>
            <a:r>
              <a:rPr lang="en-US" sz="1350" i="1" dirty="0">
                <a:solidFill>
                  <a:srgbClr val="4A525C"/>
                </a:solidFill>
                <a:latin typeface="Calibri" pitchFamily="34" charset="0"/>
                <a:ea typeface="Calibri" pitchFamily="34" charset="-122"/>
                <a:cs typeface="Calibri" pitchFamily="34" charset="-120"/>
              </a:rPr>
              <a:t>Need still sets the order inside the flooded area. The question for fairness is everyone else: without surge crews, the flood quietly takes their trades.</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Live now, on a real satellite map, and on any phone</a:t>
            </a:r>
            <a:endParaRPr lang="en-US" sz="3000" dirty="0"/>
          </a:p>
        </p:txBody>
      </p:sp>
      <p:pic>
        <p:nvPicPr>
          <p:cNvPr id="3" name="shot-coord" descr="shot-coord">    </p:cNvPr>
          <p:cNvPicPr>
            <a:picLocks noChangeAspect="1"/>
          </p:cNvPicPr>
          <p:nvPr/>
        </p:nvPicPr>
        <p:blipFill>
          <a:blip r:embed="rId1"/>
          <a:stretch>
            <a:fillRect/>
          </a:stretch>
        </p:blipFill>
        <p:spPr>
          <a:xfrm>
            <a:off x="548640" y="1280160"/>
            <a:ext cx="6949440" cy="4343400"/>
          </a:xfrm>
          <a:prstGeom prst="rect">
            <a:avLst/>
          </a:prstGeom>
        </p:spPr>
      </p:pic>
      <p:pic>
        <p:nvPicPr>
          <p:cNvPr id="4" name="shot-coord_phone" descr="shot-coord_phone">    </p:cNvPr>
          <p:cNvPicPr>
            <a:picLocks noChangeAspect="1"/>
          </p:cNvPicPr>
          <p:nvPr/>
        </p:nvPicPr>
        <p:blipFill>
          <a:blip r:embed="rId2"/>
          <a:stretch>
            <a:fillRect/>
          </a:stretch>
        </p:blipFill>
        <p:spPr>
          <a:xfrm>
            <a:off x="7818120" y="1280160"/>
            <a:ext cx="1188720" cy="2569464"/>
          </a:xfrm>
          <a:prstGeom prst="rect">
            <a:avLst/>
          </a:prstGeom>
        </p:spPr>
      </p:pic>
      <p:sp>
        <p:nvSpPr>
          <p:cNvPr id="5" name="shot-l-0"/>
          <p:cNvSpPr txBox="1"/>
          <p:nvPr/>
        </p:nvSpPr>
        <p:spPr>
          <a:xfrm>
            <a:off x="7726680"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Coordinator</a:t>
            </a:r>
            <a:endParaRPr lang="en-US" sz="1200" dirty="0"/>
          </a:p>
        </p:txBody>
      </p:sp>
      <p:pic>
        <p:nvPicPr>
          <p:cNvPr id="6" name="shot-field_phone" descr="shot-field_phone">    </p:cNvPr>
          <p:cNvPicPr>
            <a:picLocks noChangeAspect="1"/>
          </p:cNvPicPr>
          <p:nvPr/>
        </p:nvPicPr>
        <p:blipFill>
          <a:blip r:embed="rId3"/>
          <a:stretch>
            <a:fillRect/>
          </a:stretch>
        </p:blipFill>
        <p:spPr>
          <a:xfrm>
            <a:off x="9116568" y="1280160"/>
            <a:ext cx="1188720" cy="2569464"/>
          </a:xfrm>
          <a:prstGeom prst="rect">
            <a:avLst/>
          </a:prstGeom>
        </p:spPr>
      </p:pic>
      <p:sp>
        <p:nvSpPr>
          <p:cNvPr id="7" name="shot-l-1"/>
          <p:cNvSpPr txBox="1"/>
          <p:nvPr/>
        </p:nvSpPr>
        <p:spPr>
          <a:xfrm>
            <a:off x="9025128"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Tradesperson</a:t>
            </a:r>
            <a:endParaRPr lang="en-US" sz="1200" dirty="0"/>
          </a:p>
        </p:txBody>
      </p:sp>
      <p:pic>
        <p:nvPicPr>
          <p:cNvPr id="8" name="shot-tenant_phone" descr="shot-tenant_phone">    </p:cNvPr>
          <p:cNvPicPr>
            <a:picLocks noChangeAspect="1"/>
          </p:cNvPicPr>
          <p:nvPr/>
        </p:nvPicPr>
        <p:blipFill>
          <a:blip r:embed="rId4"/>
          <a:stretch>
            <a:fillRect/>
          </a:stretch>
        </p:blipFill>
        <p:spPr>
          <a:xfrm>
            <a:off x="10415016" y="1280160"/>
            <a:ext cx="1188720" cy="2569464"/>
          </a:xfrm>
          <a:prstGeom prst="rect">
            <a:avLst/>
          </a:prstGeom>
        </p:spPr>
      </p:pic>
      <p:sp>
        <p:nvSpPr>
          <p:cNvPr id="9" name="shot-l-2"/>
          <p:cNvSpPr txBox="1"/>
          <p:nvPr/>
        </p:nvSpPr>
        <p:spPr>
          <a:xfrm>
            <a:off x="10323576"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Tenant</a:t>
            </a:r>
            <a:endParaRPr lang="en-US" sz="1200" dirty="0"/>
          </a:p>
        </p:txBody>
      </p:sp>
      <p:sp>
        <p:nvSpPr>
          <p:cNvPr id="10" name="feat-0"/>
          <p:cNvSpPr txBox="1"/>
          <p:nvPr/>
        </p:nvSpPr>
        <p:spPr>
          <a:xfrm>
            <a:off x="7818120" y="4434840"/>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Anyone the tenant tells can log a report, with the same questions</a:t>
            </a:r>
            <a:endParaRPr lang="en-US" sz="1300" dirty="0"/>
          </a:p>
        </p:txBody>
      </p:sp>
      <p:sp>
        <p:nvSpPr>
          <p:cNvPr id="11" name="feat-1"/>
          <p:cNvSpPr txBox="1"/>
          <p:nvPr/>
        </p:nvSpPr>
        <p:spPr>
          <a:xfrm>
            <a:off x="7818120" y="5001768"/>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Works without signal: updates are saved on the phone and sent later</a:t>
            </a:r>
            <a:endParaRPr lang="en-US" sz="1300" dirty="0"/>
          </a:p>
        </p:txBody>
      </p:sp>
      <p:sp>
        <p:nvSpPr>
          <p:cNvPr id="12" name="feat-2"/>
          <p:cNvSpPr txBox="1"/>
          <p:nvPr/>
        </p:nvSpPr>
        <p:spPr>
          <a:xfrm>
            <a:off x="7818120" y="5568696"/>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Plain words, WCAG 2.2 AA checked, PDFs, no confidence percentages</a:t>
            </a:r>
            <a:endParaRPr lang="en-US" sz="1300" dirty="0"/>
          </a:p>
        </p:txBody>
      </p:sp>
      <p:sp>
        <p:nvSpPr>
          <p:cNvPr id="13" name="shot-url"/>
          <p:cNvSpPr txBox="1"/>
          <p:nvPr/>
        </p:nvSpPr>
        <p:spPr>
          <a:xfrm>
            <a:off x="548640" y="5760720"/>
            <a:ext cx="694944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People stay in charge, and tenants can push back</a:t>
            </a:r>
            <a:endParaRPr lang="en-US" sz="2800" dirty="0"/>
          </a:p>
        </p:txBody>
      </p:sp>
      <p:pic>
        <p:nvPicPr>
          <p:cNvPr id="3" name="trust-phone" descr="trust-phone">    </p:cNvPr>
          <p:cNvPicPr>
            <a:picLocks noChangeAspect="1"/>
          </p:cNvPicPr>
          <p:nvPr/>
        </p:nvPicPr>
        <p:blipFill>
          <a:blip r:embed="rId1"/>
          <a:stretch>
            <a:fillRect/>
          </a:stretch>
        </p:blipFill>
        <p:spPr>
          <a:xfrm>
            <a:off x="548640" y="1325880"/>
            <a:ext cx="2194560" cy="4754880"/>
          </a:xfrm>
          <a:prstGeom prst="rect">
            <a:avLst/>
          </a:prstGeom>
        </p:spPr>
      </p:pic>
      <p:sp>
        <p:nvSpPr>
          <p:cNvPr id="4" name="trust-hex-0"/>
          <p:cNvSpPr/>
          <p:nvPr/>
        </p:nvSpPr>
        <p:spPr>
          <a:xfrm>
            <a:off x="3108960" y="1335024"/>
            <a:ext cx="512064" cy="450616"/>
          </a:xfrm>
          <a:prstGeom prst="hexagon">
            <a:avLst/>
          </a:prstGeom>
          <a:solidFill>
            <a:srgbClr val="D97706"/>
          </a:solidFill>
          <a:ln w="12700">
            <a:solidFill>
              <a:srgbClr val="D97706"/>
            </a:solidFill>
            <a:prstDash val="solid"/>
          </a:ln>
        </p:spPr>
      </p:sp>
      <p:sp>
        <p:nvSpPr>
          <p:cNvPr id="5" name="trust-h-0"/>
          <p:cNvSpPr txBox="1"/>
          <p:nvPr/>
        </p:nvSpPr>
        <p:spPr>
          <a:xfrm>
            <a:off x="3840480" y="128016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named person signs the trade-off</a:t>
            </a:r>
            <a:endParaRPr lang="en-US" sz="1700" dirty="0"/>
          </a:p>
        </p:txBody>
      </p:sp>
      <p:sp>
        <p:nvSpPr>
          <p:cNvPr id="6" name="trust-b-0"/>
          <p:cNvSpPr txBox="1"/>
          <p:nvPr/>
        </p:nvSpPr>
        <p:spPr>
          <a:xfrm>
            <a:off x="3840480" y="163677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How much cost may count is a signed decision, kept in a tamper-evident record</a:t>
            </a:r>
            <a:endParaRPr lang="en-US" sz="1400" dirty="0"/>
          </a:p>
        </p:txBody>
      </p:sp>
      <p:sp>
        <p:nvSpPr>
          <p:cNvPr id="7" name="trust-hex-1"/>
          <p:cNvSpPr/>
          <p:nvPr/>
        </p:nvSpPr>
        <p:spPr>
          <a:xfrm>
            <a:off x="3108960" y="2148840"/>
            <a:ext cx="512064" cy="450616"/>
          </a:xfrm>
          <a:prstGeom prst="hexagon">
            <a:avLst/>
          </a:prstGeom>
          <a:solidFill>
            <a:srgbClr val="E5352B"/>
          </a:solidFill>
          <a:ln w="12700">
            <a:solidFill>
              <a:srgbClr val="E5352B"/>
            </a:solidFill>
            <a:prstDash val="solid"/>
          </a:ln>
        </p:spPr>
      </p:sp>
      <p:sp>
        <p:nvSpPr>
          <p:cNvPr id="8" name="trust-h-1"/>
          <p:cNvSpPr txBox="1"/>
          <p:nvPr/>
        </p:nvSpPr>
        <p:spPr>
          <a:xfrm>
            <a:off x="3840480" y="2093976"/>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person can change urgency at any time</a:t>
            </a:r>
            <a:endParaRPr lang="en-US" sz="1700" dirty="0"/>
          </a:p>
        </p:txBody>
      </p:sp>
      <p:sp>
        <p:nvSpPr>
          <p:cNvPr id="9" name="trust-b-1"/>
          <p:cNvSpPr txBox="1"/>
          <p:nvPr/>
        </p:nvSpPr>
        <p:spPr>
          <a:xfrm>
            <a:off x="3840480" y="2450592"/>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From a call, a visit, a photo or a review. Lowering danger needs someone who spoke to the tenant or saw it</a:t>
            </a:r>
            <a:endParaRPr lang="en-US" sz="1400" dirty="0"/>
          </a:p>
        </p:txBody>
      </p:sp>
      <p:sp>
        <p:nvSpPr>
          <p:cNvPr id="10" name="trust-hex-2"/>
          <p:cNvSpPr/>
          <p:nvPr/>
        </p:nvSpPr>
        <p:spPr>
          <a:xfrm>
            <a:off x="3108960" y="2962656"/>
            <a:ext cx="512064" cy="450616"/>
          </a:xfrm>
          <a:prstGeom prst="hexagon">
            <a:avLst/>
          </a:prstGeom>
          <a:solidFill>
            <a:srgbClr val="1F9D4C"/>
          </a:solidFill>
          <a:ln w="12700">
            <a:solidFill>
              <a:srgbClr val="1F9D4C"/>
            </a:solidFill>
            <a:prstDash val="solid"/>
          </a:ln>
        </p:spPr>
      </p:sp>
      <p:sp>
        <p:nvSpPr>
          <p:cNvPr id="11" name="trust-h-2"/>
          <p:cNvSpPr txBox="1"/>
          <p:nvPr/>
        </p:nvSpPr>
        <p:spPr>
          <a:xfrm>
            <a:off x="3840480" y="2907792"/>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missed visit is never closed, and keeps its place</a:t>
            </a:r>
            <a:endParaRPr lang="en-US" sz="1700" dirty="0"/>
          </a:p>
        </p:txBody>
      </p:sp>
      <p:sp>
        <p:nvSpPr>
          <p:cNvPr id="12" name="trust-b-2"/>
          <p:cNvSpPr txBox="1"/>
          <p:nvPr/>
        </p:nvSpPr>
        <p:spPr>
          <a:xfrm>
            <a:off x="3840480" y="3264408"/>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Time and what was tried are recorded; then the next trip, another crew, or anyone who can go sooner</a:t>
            </a:r>
            <a:endParaRPr lang="en-US" sz="1400" dirty="0"/>
          </a:p>
        </p:txBody>
      </p:sp>
      <p:sp>
        <p:nvSpPr>
          <p:cNvPr id="13" name="trust-hex-3"/>
          <p:cNvSpPr/>
          <p:nvPr/>
        </p:nvSpPr>
        <p:spPr>
          <a:xfrm>
            <a:off x="3108960" y="3776472"/>
            <a:ext cx="512064" cy="450616"/>
          </a:xfrm>
          <a:prstGeom prst="hexagon">
            <a:avLst/>
          </a:prstGeom>
          <a:solidFill>
            <a:srgbClr val="6E56CF"/>
          </a:solidFill>
          <a:ln w="12700">
            <a:solidFill>
              <a:srgbClr val="6E56CF"/>
            </a:solidFill>
            <a:prstDash val="solid"/>
          </a:ln>
        </p:spPr>
      </p:sp>
      <p:sp>
        <p:nvSpPr>
          <p:cNvPr id="14" name="trust-h-3"/>
          <p:cNvSpPr txBox="1"/>
          <p:nvPr/>
        </p:nvSpPr>
        <p:spPr>
          <a:xfrm>
            <a:off x="3840480" y="3721608"/>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No app needed: the housing officer acts for the tenant</a:t>
            </a:r>
            <a:endParaRPr lang="en-US" sz="1700" dirty="0"/>
          </a:p>
        </p:txBody>
      </p:sp>
      <p:sp>
        <p:nvSpPr>
          <p:cNvPr id="15" name="trust-b-3"/>
          <p:cNvSpPr txBox="1"/>
          <p:nvPr/>
        </p:nvSpPr>
        <p:spPr>
          <a:xfrm>
            <a:off x="3840480" y="4078224"/>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Fixed, still broken, got worse or a review. A fix that didn't hold moves up the line</a:t>
            </a:r>
            <a:endParaRPr lang="en-US" sz="1400" dirty="0"/>
          </a:p>
        </p:txBody>
      </p:sp>
      <p:sp>
        <p:nvSpPr>
          <p:cNvPr id="16" name="trust-hex-4"/>
          <p:cNvSpPr/>
          <p:nvPr/>
        </p:nvSpPr>
        <p:spPr>
          <a:xfrm>
            <a:off x="3108960" y="4590288"/>
            <a:ext cx="512064" cy="450616"/>
          </a:xfrm>
          <a:prstGeom prst="hexagon">
            <a:avLst/>
          </a:prstGeom>
          <a:solidFill>
            <a:srgbClr val="0E8FB8"/>
          </a:solidFill>
          <a:ln w="12700">
            <a:solidFill>
              <a:srgbClr val="0E8FB8"/>
            </a:solidFill>
            <a:prstDash val="solid"/>
          </a:ln>
        </p:spPr>
      </p:sp>
      <p:sp>
        <p:nvSpPr>
          <p:cNvPr id="17" name="trust-h-4"/>
          <p:cNvSpPr txBox="1"/>
          <p:nvPr/>
        </p:nvSpPr>
        <p:spPr>
          <a:xfrm>
            <a:off x="3840480" y="4535424"/>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People check the AI every week</a:t>
            </a:r>
            <a:endParaRPr lang="en-US" sz="1700" dirty="0"/>
          </a:p>
        </p:txBody>
      </p:sp>
      <p:sp>
        <p:nvSpPr>
          <p:cNvPr id="18" name="trust-b-4"/>
          <p:cNvSpPr txBox="1"/>
          <p:nvPr/>
        </p:nvSpPr>
        <p:spPr>
          <a:xfrm>
            <a:off x="3840480" y="4892040"/>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1 in 20 reports the computer read alone is re-read by a person</a:t>
            </a:r>
            <a:endParaRPr lang="en-US" sz="1400" dirty="0"/>
          </a:p>
        </p:txBody>
      </p:sp>
      <p:sp>
        <p:nvSpPr>
          <p:cNvPr id="19" name="trust-hex-5"/>
          <p:cNvSpPr/>
          <p:nvPr/>
        </p:nvSpPr>
        <p:spPr>
          <a:xfrm>
            <a:off x="3108960" y="5404104"/>
            <a:ext cx="512064" cy="450616"/>
          </a:xfrm>
          <a:prstGeom prst="hexagon">
            <a:avLst/>
          </a:prstGeom>
          <a:solidFill>
            <a:srgbClr val="14181D"/>
          </a:solidFill>
          <a:ln w="12700">
            <a:solidFill>
              <a:srgbClr val="14181D"/>
            </a:solidFill>
            <a:prstDash val="solid"/>
          </a:ln>
        </p:spPr>
      </p:sp>
      <p:sp>
        <p:nvSpPr>
          <p:cNvPr id="20" name="trust-h-5"/>
          <p:cNvSpPr txBox="1"/>
          <p:nvPr/>
        </p:nvSpPr>
        <p:spPr>
          <a:xfrm>
            <a:off x="3840480" y="534924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Personal details locked away</a:t>
            </a:r>
            <a:endParaRPr lang="en-US" sz="1700" dirty="0"/>
          </a:p>
        </p:txBody>
      </p:sp>
      <p:sp>
        <p:nvSpPr>
          <p:cNvPr id="21" name="trust-b-5"/>
          <p:cNvSpPr txBox="1"/>
          <p:nvPr/>
        </p:nvSpPr>
        <p:spPr>
          <a:xfrm>
            <a:off x="3840480" y="570585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Names, phones and addresses in an encrypted vault; the house is just a hexagon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tested, and what we can't claim yet</a:t>
            </a:r>
            <a:endParaRPr lang="en-US" sz="2800" dirty="0"/>
          </a:p>
        </p:txBody>
      </p:sp>
      <p:sp>
        <p:nvSpPr>
          <p:cNvPr id="3" name="tested-card"/>
          <p:cNvSpPr/>
          <p:nvPr/>
        </p:nvSpPr>
        <p:spPr>
          <a:xfrm>
            <a:off x="548640" y="1417320"/>
            <a:ext cx="5349240" cy="4663440"/>
          </a:xfrm>
          <a:prstGeom prst="roundRect">
            <a:avLst>
              <a:gd name="adj" fmla="val 1961"/>
            </a:avLst>
          </a:prstGeom>
          <a:solidFill>
            <a:srgbClr val="E3F4E8"/>
          </a:solidFill>
          <a:ln w="12700">
            <a:solidFill>
              <a:srgbClr val="E3F4E8"/>
            </a:solidFill>
            <a:prstDash val="solid"/>
          </a:ln>
        </p:spPr>
      </p:sp>
      <p:sp>
        <p:nvSpPr>
          <p:cNvPr id="4" name="tested-h"/>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F9D4C"/>
                </a:solidFill>
                <a:latin typeface="Arial" pitchFamily="34" charset="0"/>
                <a:ea typeface="Arial" pitchFamily="34" charset="-122"/>
                <a:cs typeface="Arial" pitchFamily="34" charset="-120"/>
              </a:rPr>
              <a:t>Tested</a:t>
            </a:r>
            <a:endParaRPr lang="en-US" sz="2200" dirty="0"/>
          </a:p>
        </p:txBody>
      </p:sp>
      <p:sp>
        <p:nvSpPr>
          <p:cNvPr id="5" name="tested-0"/>
          <p:cNvSpPr txBox="1"/>
          <p:nvPr/>
        </p:nvSpPr>
        <p:spPr>
          <a:xfrm>
            <a:off x="822960" y="2240280"/>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98 automated checks on every code change: data, the reader, fair intake, the planner, the server</a:t>
            </a:r>
            <a:endParaRPr lang="en-US" sz="1500" dirty="0"/>
          </a:p>
        </p:txBody>
      </p:sp>
      <p:sp>
        <p:nvSpPr>
          <p:cNvPr id="6" name="tested-1"/>
          <p:cNvSpPr txBox="1"/>
          <p:nvPr/>
        </p:nvSpPr>
        <p:spPr>
          <a:xfrm>
            <a:off x="822960" y="2990088"/>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Five random years of requests; the result held in all five</a:t>
            </a:r>
            <a:endParaRPr lang="en-US" sz="1500" dirty="0"/>
          </a:p>
        </p:txBody>
      </p:sp>
      <p:sp>
        <p:nvSpPr>
          <p:cNvPr id="7" name="tested-2"/>
          <p:cNvSpPr txBox="1"/>
          <p:nvPr/>
        </p:nvSpPr>
        <p:spPr>
          <a:xfrm>
            <a:off x="822960" y="3739896"/>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Every community's position checked against satellite photos</a:t>
            </a:r>
            <a:endParaRPr lang="en-US" sz="1500" dirty="0"/>
          </a:p>
        </p:txBody>
      </p:sp>
      <p:sp>
        <p:nvSpPr>
          <p:cNvPr id="8" name="tested-3"/>
          <p:cNvSpPr txBox="1"/>
          <p:nvPr/>
        </p:nvSpPr>
        <p:spPr>
          <a:xfrm>
            <a:off x="822960" y="4489704"/>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Accessibility: 0 WCAG 2.2 AA issues in every view</a:t>
            </a:r>
            <a:endParaRPr lang="en-US" sz="1500" dirty="0"/>
          </a:p>
        </p:txBody>
      </p:sp>
      <p:sp>
        <p:nvSpPr>
          <p:cNvPr id="9" name="tested-4"/>
          <p:cNvSpPr txBox="1"/>
          <p:nvPr/>
        </p:nvSpPr>
        <p:spPr>
          <a:xfrm>
            <a:off x="822960" y="5239512"/>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Security: locked-down site, validated inputs, sign-in rules ready</a:t>
            </a:r>
            <a:endParaRPr lang="en-US" sz="1500" dirty="0"/>
          </a:p>
        </p:txBody>
      </p:sp>
      <p:sp>
        <p:nvSpPr>
          <p:cNvPr id="10" name="limits-card"/>
          <p:cNvSpPr/>
          <p:nvPr/>
        </p:nvSpPr>
        <p:spPr>
          <a:xfrm>
            <a:off x="6263640" y="1417320"/>
            <a:ext cx="5349240" cy="4663440"/>
          </a:xfrm>
          <a:prstGeom prst="roundRect">
            <a:avLst>
              <a:gd name="adj" fmla="val 1961"/>
            </a:avLst>
          </a:prstGeom>
          <a:solidFill>
            <a:srgbClr val="FBEEDD"/>
          </a:solidFill>
          <a:ln w="12700">
            <a:solidFill>
              <a:srgbClr val="FBEEDD"/>
            </a:solidFill>
            <a:prstDash val="solid"/>
          </a:ln>
        </p:spPr>
      </p:sp>
      <p:sp>
        <p:nvSpPr>
          <p:cNvPr id="11" name="limits-h"/>
          <p:cNvSpPr txBox="1"/>
          <p:nvPr/>
        </p:nvSpPr>
        <p:spPr>
          <a:xfrm>
            <a:off x="6537960" y="1645920"/>
            <a:ext cx="4846320" cy="457200"/>
          </a:xfrm>
          <a:prstGeom prst="rect">
            <a:avLst/>
          </a:prstGeom>
          <a:noFill/>
          <a:ln/>
        </p:spPr>
        <p:txBody>
          <a:bodyPr wrap="square" lIns="0" tIns="0" rIns="0" bIns="0" rtlCol="0" anchor="t"/>
          <a:lstStyle/>
          <a:p>
            <a:pPr indent="0" marL="0">
              <a:buNone/>
            </a:pPr>
            <a:r>
              <a:rPr lang="en-US" sz="2200" b="1" dirty="0">
                <a:solidFill>
                  <a:srgbClr val="D97706"/>
                </a:solidFill>
                <a:latin typeface="Arial" pitchFamily="34" charset="0"/>
                <a:ea typeface="Arial" pitchFamily="34" charset="-122"/>
                <a:cs typeface="Arial" pitchFamily="34" charset="-120"/>
              </a:rPr>
              <a:t>Not yet</a:t>
            </a:r>
            <a:endParaRPr lang="en-US" sz="2200" dirty="0"/>
          </a:p>
        </p:txBody>
      </p:sp>
      <p:sp>
        <p:nvSpPr>
          <p:cNvPr id="12" name="limit-0"/>
          <p:cNvSpPr txBox="1"/>
          <p:nvPr/>
        </p:nvSpPr>
        <p:spPr>
          <a:xfrm>
            <a:off x="6537960" y="22402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repair requests and households are synthetic: no public NT repair data exists</a:t>
            </a:r>
            <a:endParaRPr lang="en-US" sz="1500" dirty="0"/>
          </a:p>
        </p:txBody>
      </p:sp>
      <p:sp>
        <p:nvSpPr>
          <p:cNvPr id="13" name="limit-1"/>
          <p:cNvSpPr txBox="1"/>
          <p:nvPr/>
        </p:nvSpPr>
        <p:spPr>
          <a:xfrm>
            <a:off x="6537960" y="31546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reader is tested in English only. Tenants speak Kriol, Aboriginal English and many languages</a:t>
            </a:r>
            <a:endParaRPr lang="en-US" sz="1500" dirty="0"/>
          </a:p>
        </p:txBody>
      </p:sp>
      <p:sp>
        <p:nvSpPr>
          <p:cNvPr id="14" name="limit-2"/>
          <p:cNvSpPr txBox="1"/>
          <p:nvPr/>
        </p:nvSpPr>
        <p:spPr>
          <a:xfrm>
            <a:off x="6537960" y="40690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No community has reviewed it yet. That comes first, not last</a:t>
            </a:r>
            <a:endParaRPr lang="en-US" sz="1500" dirty="0"/>
          </a:p>
        </p:txBody>
      </p:sp>
      <p:sp>
        <p:nvSpPr>
          <p:cNvPr id="15" name="limit-3"/>
          <p:cNvSpPr txBox="1"/>
          <p:nvPr/>
        </p:nvSpPr>
        <p:spPr>
          <a:xfrm>
            <a:off x="6537960" y="49834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Our test kit is ready the day real reports arrive, labelled with the Aboriginal Interpreter Service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recommend</a:t>
            </a:r>
            <a:endParaRPr lang="en-US" sz="2800" dirty="0"/>
          </a:p>
        </p:txBody>
      </p:sp>
      <p:sp>
        <p:nvSpPr>
          <p:cNvPr id="3" name="rec-1"/>
          <p:cNvSpPr/>
          <p:nvPr/>
        </p:nvSpPr>
        <p:spPr>
          <a:xfrm>
            <a:off x="548640" y="1463040"/>
            <a:ext cx="11064240" cy="1371600"/>
          </a:xfrm>
          <a:prstGeom prst="roundRect">
            <a:avLst>
              <a:gd name="adj" fmla="val 6667"/>
            </a:avLst>
          </a:prstGeom>
          <a:solidFill>
            <a:srgbClr val="F1F3F5"/>
          </a:solidFill>
          <a:ln w="12700">
            <a:solidFill>
              <a:srgbClr val="F1F3F5"/>
            </a:solidFill>
            <a:prstDash val="solid"/>
          </a:ln>
        </p:spPr>
      </p:sp>
      <p:sp>
        <p:nvSpPr>
          <p:cNvPr id="4" name="rec-hex-1"/>
          <p:cNvSpPr/>
          <p:nvPr/>
        </p:nvSpPr>
        <p:spPr>
          <a:xfrm>
            <a:off x="868680" y="1737360"/>
            <a:ext cx="868680" cy="764438"/>
          </a:xfrm>
          <a:prstGeom prst="hexagon">
            <a:avLst/>
          </a:prstGeom>
          <a:solidFill>
            <a:srgbClr val="D97706"/>
          </a:solidFill>
          <a:ln w="12700">
            <a:solidFill>
              <a:srgbClr val="D97706"/>
            </a:solidFill>
            <a:prstDash val="solid"/>
          </a:ln>
        </p:spPr>
      </p:sp>
      <p:sp>
        <p:nvSpPr>
          <p:cNvPr id="5" name="rec-hex-1-t"/>
          <p:cNvSpPr txBox="1"/>
          <p:nvPr/>
        </p:nvSpPr>
        <p:spPr>
          <a:xfrm>
            <a:off x="868680" y="173736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rec-h-1"/>
          <p:cNvSpPr txBox="1"/>
          <p:nvPr/>
        </p:nvSpPr>
        <p:spPr>
          <a:xfrm>
            <a:off x="2057400" y="166420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Make the trade-off a signed decision</a:t>
            </a:r>
            <a:endParaRPr lang="en-US" sz="2100" dirty="0"/>
          </a:p>
        </p:txBody>
      </p:sp>
      <p:sp>
        <p:nvSpPr>
          <p:cNvPr id="7" name="rec-b-1"/>
          <p:cNvSpPr txBox="1"/>
          <p:nvPr/>
        </p:nvSpPr>
        <p:spPr>
          <a:xfrm>
            <a:off x="2057400" y="212140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Publish the triage rules, ask every tenant the same questions however they report, and record who decides how much cost may count.</a:t>
            </a:r>
            <a:endParaRPr lang="en-US" sz="1600" dirty="0"/>
          </a:p>
        </p:txBody>
      </p:sp>
      <p:sp>
        <p:nvSpPr>
          <p:cNvPr id="8" name="rec-2"/>
          <p:cNvSpPr/>
          <p:nvPr/>
        </p:nvSpPr>
        <p:spPr>
          <a:xfrm>
            <a:off x="548640" y="3017520"/>
            <a:ext cx="11064240" cy="1371600"/>
          </a:xfrm>
          <a:prstGeom prst="roundRect">
            <a:avLst>
              <a:gd name="adj" fmla="val 6667"/>
            </a:avLst>
          </a:prstGeom>
          <a:solidFill>
            <a:srgbClr val="F1F3F5"/>
          </a:solidFill>
          <a:ln w="12700">
            <a:solidFill>
              <a:srgbClr val="F1F3F5"/>
            </a:solidFill>
            <a:prstDash val="solid"/>
          </a:ln>
        </p:spPr>
      </p:sp>
      <p:sp>
        <p:nvSpPr>
          <p:cNvPr id="9" name="rec-hex-2"/>
          <p:cNvSpPr/>
          <p:nvPr/>
        </p:nvSpPr>
        <p:spPr>
          <a:xfrm>
            <a:off x="868680" y="3291840"/>
            <a:ext cx="868680" cy="764438"/>
          </a:xfrm>
          <a:prstGeom prst="hexagon">
            <a:avLst/>
          </a:prstGeom>
          <a:solidFill>
            <a:srgbClr val="0E8FB8"/>
          </a:solidFill>
          <a:ln w="12700">
            <a:solidFill>
              <a:srgbClr val="0E8FB8"/>
            </a:solidFill>
            <a:prstDash val="solid"/>
          </a:ln>
        </p:spPr>
      </p:sp>
      <p:sp>
        <p:nvSpPr>
          <p:cNvPr id="10" name="rec-hex-2-t"/>
          <p:cNvSpPr txBox="1"/>
          <p:nvPr/>
        </p:nvSpPr>
        <p:spPr>
          <a:xfrm>
            <a:off x="868680" y="329184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rec-h-2"/>
          <p:cNvSpPr txBox="1"/>
          <p:nvPr/>
        </p:nvSpPr>
        <p:spPr>
          <a:xfrm>
            <a:off x="2057400" y="321868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Pilot in one region, with communities</a:t>
            </a:r>
            <a:endParaRPr lang="en-US" sz="2100" dirty="0"/>
          </a:p>
        </p:txBody>
      </p:sp>
      <p:sp>
        <p:nvSpPr>
          <p:cNvPr id="12" name="rec-b-2"/>
          <p:cNvSpPr txBox="1"/>
          <p:nvPr/>
        </p:nvSpPr>
        <p:spPr>
          <a:xfrm>
            <a:off x="2057400" y="367588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Start with the Katherine hub's 16 communities, co-designed with tenants, Aboriginal Housing NT, land councils and the Interpreter Service.</a:t>
            </a:r>
            <a:endParaRPr lang="en-US" sz="1600" dirty="0"/>
          </a:p>
        </p:txBody>
      </p:sp>
      <p:sp>
        <p:nvSpPr>
          <p:cNvPr id="13" name="rec-3"/>
          <p:cNvSpPr/>
          <p:nvPr/>
        </p:nvSpPr>
        <p:spPr>
          <a:xfrm>
            <a:off x="548640" y="4572000"/>
            <a:ext cx="11064240" cy="1371600"/>
          </a:xfrm>
          <a:prstGeom prst="roundRect">
            <a:avLst>
              <a:gd name="adj" fmla="val 6667"/>
            </a:avLst>
          </a:prstGeom>
          <a:solidFill>
            <a:srgbClr val="F1F3F5"/>
          </a:solidFill>
          <a:ln w="12700">
            <a:solidFill>
              <a:srgbClr val="F1F3F5"/>
            </a:solidFill>
            <a:prstDash val="solid"/>
          </a:ln>
        </p:spPr>
      </p:sp>
      <p:sp>
        <p:nvSpPr>
          <p:cNvPr id="14" name="rec-hex-3"/>
          <p:cNvSpPr/>
          <p:nvPr/>
        </p:nvSpPr>
        <p:spPr>
          <a:xfrm>
            <a:off x="868680" y="4846320"/>
            <a:ext cx="868680" cy="764438"/>
          </a:xfrm>
          <a:prstGeom prst="hexagon">
            <a:avLst/>
          </a:prstGeom>
          <a:solidFill>
            <a:srgbClr val="6E56CF"/>
          </a:solidFill>
          <a:ln w="12700">
            <a:solidFill>
              <a:srgbClr val="6E56CF"/>
            </a:solidFill>
            <a:prstDash val="solid"/>
          </a:ln>
        </p:spPr>
      </p:sp>
      <p:sp>
        <p:nvSpPr>
          <p:cNvPr id="15" name="rec-hex-3-t"/>
          <p:cNvSpPr txBox="1"/>
          <p:nvPr/>
        </p:nvSpPr>
        <p:spPr>
          <a:xfrm>
            <a:off x="868680" y="48463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rec-h-3"/>
          <p:cNvSpPr txBox="1"/>
          <p:nvPr/>
        </p:nvSpPr>
        <p:spPr>
          <a:xfrm>
            <a:off x="2057400" y="477316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Test the AI on real words first</a:t>
            </a:r>
            <a:endParaRPr lang="en-US" sz="2100" dirty="0"/>
          </a:p>
        </p:txBody>
      </p:sp>
      <p:sp>
        <p:nvSpPr>
          <p:cNvPr id="17" name="rec-b-3"/>
          <p:cNvSpPr txBox="1"/>
          <p:nvPr/>
        </p:nvSpPr>
        <p:spPr>
          <a:xfrm>
            <a:off x="2057400" y="523036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Score the reader on real reports in Kriol and Aboriginal English before it reads a single one on its own.</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close-backdrop" descr="close-backdrop">    </p:cNvPr>
          <p:cNvPicPr>
            <a:picLocks noChangeAspect="1"/>
          </p:cNvPicPr>
          <p:nvPr/>
        </p:nvPicPr>
        <p:blipFill>
          <a:blip r:embed="rId1">
            <a:alphaModFix amt="70000"/>
          </a:blip>
          <a:srcRect l="0" r="0" t="0" b="0"/>
          <a:stretch/>
        </p:blipFill>
        <p:spPr>
          <a:xfrm>
            <a:off x="6035040" y="0"/>
            <a:ext cx="6153912" cy="6858000"/>
          </a:xfrm>
          <a:prstGeom prst="rect">
            <a:avLst/>
          </a:prstGeom>
        </p:spPr>
      </p:pic>
      <p:sp>
        <p:nvSpPr>
          <p:cNvPr id="3" name="close-veil"/>
          <p:cNvSpPr/>
          <p:nvPr/>
        </p:nvSpPr>
        <p:spPr>
          <a:xfrm>
            <a:off x="0" y="0"/>
            <a:ext cx="6583680" cy="6858000"/>
          </a:xfrm>
          <a:prstGeom prst="rect">
            <a:avLst/>
          </a:prstGeom>
          <a:solidFill>
            <a:srgbClr val="0D1418"/>
          </a:solidFill>
          <a:ln w="12700">
            <a:solidFill>
              <a:srgbClr val="0D1418"/>
            </a:solidFill>
            <a:prstDash val="solid"/>
          </a:ln>
        </p:spPr>
      </p:sp>
      <p:sp>
        <p:nvSpPr>
          <p:cNvPr id="4" name="close-title"/>
          <p:cNvSpPr txBox="1"/>
          <p:nvPr/>
        </p:nvSpPr>
        <p:spPr>
          <a:xfrm>
            <a:off x="731520" y="685800"/>
            <a:ext cx="5486400" cy="2103120"/>
          </a:xfrm>
          <a:prstGeom prst="rect">
            <a:avLst/>
          </a:prstGeom>
          <a:noFill/>
          <a:ln/>
        </p:spPr>
        <p:txBody>
          <a:bodyPr wrap="square" lIns="0" tIns="0" rIns="0" bIns="0" rtlCol="0" anchor="b"/>
          <a:lstStyle/>
          <a:p>
            <a:pPr indent="0" marL="0">
              <a:buNone/>
            </a:pPr>
            <a:r>
              <a:rPr lang="en-US" sz="3600" b="1" dirty="0">
                <a:solidFill>
                  <a:srgbClr val="FFFFFF"/>
                </a:solidFill>
                <a:latin typeface="Arial" pitchFamily="34" charset="0"/>
                <a:ea typeface="Arial" pitchFamily="34" charset="-122"/>
                <a:cs typeface="Arial" pitchFamily="34" charset="-120"/>
              </a:rPr>
              <a:t>Where someone lives shouldn't decide how long they wait</a:t>
            </a:r>
            <a:endParaRPr lang="en-US" sz="36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ReachNT fixes 9 in 10 urgent remote repairs within 3 days instead of 62, for 44% more, and makes someone own that choice.</a:t>
            </a:r>
            <a:endParaRPr lang="en-US" sz="2200" dirty="0"/>
          </a:p>
        </p:txBody>
      </p:sp>
      <p:sp>
        <p:nvSpPr>
          <p:cNvPr id="6" name="close-links"/>
          <p:cNvSpPr txBox="1"/>
          <p:nvPr/>
        </p:nvSpPr>
        <p:spPr>
          <a:xfrm>
            <a:off x="731520" y="507492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  ·  github.com/harshrastogii/reachnt</a:t>
            </a:r>
            <a:endParaRPr lang="en-US" sz="1600" dirty="0"/>
          </a:p>
        </p:txBody>
      </p:sp>
      <p:sp>
        <p:nvSpPr>
          <p:cNvPr id="7" name="thanks"/>
          <p:cNvSpPr txBox="1"/>
          <p:nvPr/>
        </p:nvSpPr>
        <p:spPr>
          <a:xfrm>
            <a:off x="731520" y="5486400"/>
            <a:ext cx="5852160" cy="36576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Thank you. Questions welcome.</a:t>
            </a:r>
            <a:endParaRPr lang="en-US" sz="1800" dirty="0"/>
          </a:p>
        </p:txBody>
      </p:sp>
      <p:sp>
        <p:nvSpPr>
          <p:cNvPr id="9"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ReachNT">
  <a:themeElements>
    <a:clrScheme name="ReachNT">
      <a:dk1>
        <a:srgbClr val="14181D"/>
      </a:dk1>
      <a:lt1>
        <a:srgbClr val="FFFFFF"/>
      </a:lt1>
      <a:dk2>
        <a:srgbClr val="4A525C"/>
      </a:dk2>
      <a:lt2>
        <a:srgbClr val="F1F3F5"/>
      </a:lt2>
      <a:accent1>
        <a:srgbClr val="0E8FB8"/>
      </a:accent1>
      <a:accent2>
        <a:srgbClr val="D97706"/>
      </a:accent2>
      <a:accent3>
        <a:srgbClr val="1F9D4C"/>
      </a:accent3>
      <a:accent4>
        <a:srgbClr val="0A7AFF"/>
      </a:accent4>
      <a:accent5>
        <a:srgbClr val="6E56CF"/>
      </a:accent5>
      <a:accent6>
        <a:srgbClr val="E5352B"/>
      </a:accent6>
      <a:hlink>
        <a:srgbClr val="0A7AFF"/>
      </a:hlink>
      <a:folHlink>
        <a:srgbClr val="6E56CF"/>
      </a:folHlink>
    </a:clrScheme>
    <a:fontScheme name="Reach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Artificial Intelligence Challenge: housing maintenance triage</dc:subject>
  <dc:creator>Team AIC015 Top Enders</dc:creator>
  <cp:lastModifiedBy>Team AIC015 Top Enders</cp:lastModifiedBy>
  <cp:revision>1</cp:revision>
  <dcterms:created xsi:type="dcterms:W3CDTF">2026-10-08T08:46:18Z</dcterms:created>
  <dcterms:modified xsi:type="dcterms:W3CDTF">2026-10-08T08:46:18Z</dcterms:modified>
</cp:coreProperties>
</file>