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85ef469-55a9-934d-ec92-e40969e59135}">
          <p14:sldIdLst>
            <p14:sldId id="256"/>
          </p14:sldIdLst>
        </p14:section>
        <p14:section name="Problem" id="{3b097e22-a11b-d436-58e6-0143097c799e}">
          <p14:sldIdLst>
            <p14:sldId id="257"/>
            <p14:sldId id="258"/>
          </p14:sldIdLst>
        </p14:section>
        <p14:section name="Solution" id="{4bfc7166-4da2-ba8a-cf56-2cb0475498c7}">
          <p14:sldIdLst>
            <p14:sldId id="259"/>
          </p14:sldIdLst>
        </p14:section>
        <p14:section name="Technology" id="{90a8f1ed-10d7-dddb-eb95-0f0be24d5582}">
          <p14:sldIdLst>
            <p14:sldId id="260"/>
            <p14:sldId id="261"/>
            <p14:sldId id="262"/>
          </p14:sldIdLst>
        </p14:section>
        <p14:section name="Results" id="{cc7c2fcb-f719-89e1-b083-73836ab0a682}">
          <p14:sldIdLst>
            <p14:sldId id="263"/>
          </p14:sldIdLst>
        </p14:section>
        <p14:section name="Product" id="{dbfeee81-dd5a-732d-d3c1-002814b25976}">
          <p14:sldIdLst>
            <p14:sldId id="264"/>
          </p14:sldIdLst>
        </p14:section>
        <p14:section name="Trust" id="{17f63c2b-7876-a9e3-a41b-6f852129024f}">
          <p14:sldIdLst>
            <p14:sldId id="265"/>
            <p14:sldId id="266"/>
          </p14:sldIdLst>
        </p14:section>
        <p14:section name="Close" id="{1e516856-887f-80ad-ed76-febeaf26c9f5}">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181D"/>
                </a:solidFill>
                <a:latin typeface="+mn-lt"/>
              </a:defRPr>
            </a:pPr>
            <a:r>
              <a:rPr sz="1400" b="0" i="0" u="none" strike="noStrike">
                <a:solidFill>
                  <a:srgbClr val="14181D"/>
                </a:solidFill>
                <a:latin typeface="+mn-lt"/>
              </a:rPr>
              <a:t>Cheapest jobs first: days until 9 in 10 urgent repairs are fixed</a:t>
            </a:r>
          </a:p>
        </c:rich>
      </c:tx>
      <c:layout/>
      <c:overlay val="0"/>
    </c:title>
    <c:autoTitleDeleted val="0"/>
    <c:plotArea>
      <c:layout/>
      <c:barChart>
        <c:barDir val="bar"/>
        <c:grouping val="clustered"/>
        <c:varyColors val="0"/>
        <c:ser>
          <c:idx val="0"/>
          <c:order val="0"/>
          <c:tx>
            <c:strRef>
              <c:f>Sheet1!$B$1</c:f>
              <c:strCache>
                <c:ptCount val="1"/>
                <c:pt idx="0">
                  <c:v>Days until 9 in 10 urgent repairs are fixed</c:v>
                </c:pt>
              </c:strCache>
            </c:strRef>
          </c:tx>
          <c:spPr>
            <a:solidFill>
              <a:srgbClr val="D97706"/>
            </a:solidFill>
            <a:effectLst/>
          </c:spPr>
          <c:invertIfNegative val="0"/>
          <c:dLbls>
            <c:numFmt formatCode="#,##0" sourceLinked="0"/>
            <c:txPr>
              <a:bodyPr/>
              <a:lstStyle/>
              <a:p>
                <a:pPr>
                  <a:defRPr b="0" i="0" strike="noStrike" sz="1400" u="none">
                    <a:solidFill>
                      <a:srgbClr val="14181D"/>
                    </a:solidFill>
                    <a:latin typeface="+mn-lt"/>
                  </a:defRPr>
                </a:pPr>
              </a:p>
            </c:txPr>
            <c:showLegendKey val="0"/>
            <c:showVal val="1"/>
            <c:showCatName val="0"/>
            <c:showSerName val="0"/>
            <c:showPercent val="0"/>
            <c:showBubbleSize val="0"/>
            <c:showLeaderLines val="0"/>
          </c:dLbls>
          <c:cat>
            <c:multiLvlStrRef>
              <c:f>Sheet1!$A$2:$A$7</c:f>
              <c:multiLvlStrCache>
                <c:ptCount val="6"/>
                <c:lvl>
                  <c:pt idx="0">
                    <c:v>Town</c:v>
                  </c:pt>
                  <c:pt idx="1">
                    <c:v>Near town</c:v>
                  </c:pt>
                  <c:pt idx="2">
                    <c:v>Remote (road)</c:v>
                  </c:pt>
                  <c:pt idx="3">
                    <c:v>Very remote</c:v>
                  </c:pt>
                  <c:pt idx="4">
                    <c:v>Cut off in the wet</c:v>
                  </c:pt>
                  <c:pt idx="5">
                    <c:v>Islands</c:v>
                  </c:pt>
                </c:lvl>
              </c:multiLvlStrCache>
            </c:multiLvlStrRef>
          </c:cat>
          <c:val>
            <c:numRef>
              <c:f>Sheet1!$B$2:$B$7</c:f>
              <c:numCache>
                <c:formatCode>General</c:formatCode>
                <c:ptCount val="6"/>
                <c:pt idx="0">
                  <c:v>3</c:v>
                </c:pt>
                <c:pt idx="1">
                  <c:v>7</c:v>
                </c:pt>
                <c:pt idx="2">
                  <c:v>70</c:v>
                </c:pt>
                <c:pt idx="3">
                  <c:v>74</c:v>
                </c:pt>
                <c:pt idx="4">
                  <c:v>69</c:v>
                </c:pt>
                <c:pt idx="5">
                  <c:v>73</c:v>
                </c:pt>
              </c:numCache>
            </c:numRef>
          </c:val>
        </c:ser>
        <c:dLbls>
          <c:numFmt formatCode="#,##0" sourceLinked="0"/>
          <c:txPr>
            <a:bodyPr/>
            <a:lstStyle/>
            <a:p>
              <a:pPr>
                <a:defRPr b="0" i="0" strike="noStrike" sz="1400" u="none">
                  <a:solidFill>
                    <a:srgbClr val="14181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4A525C"/>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181D"/>
                </a:solidFill>
                <a:latin typeface="+mn-lt"/>
              </a:defRPr>
            </a:pPr>
            <a:r>
              <a:rPr sz="1400" b="0" i="0" u="none" strike="noStrike">
                <a:solidFill>
                  <a:srgbClr val="14181D"/>
                </a:solidFill>
                <a:latin typeface="+mn-lt"/>
              </a:rPr>
              <a:t>Days households lived with a fault in a year (thousands)</a:t>
            </a:r>
          </a:p>
        </c:rich>
      </c:tx>
      <c:layout/>
      <c:overlay val="0"/>
    </c:title>
    <c:autoTitleDeleted val="0"/>
    <c:plotArea>
      <c:layout/>
      <c:barChart>
        <c:barDir val="col"/>
        <c:grouping val="clustered"/>
        <c:varyColors val="0"/>
        <c:ser>
          <c:idx val="0"/>
          <c:order val="0"/>
          <c:tx>
            <c:strRef>
              <c:f>Sheet1!$B$1</c:f>
              <c:strCache>
                <c:ptCount val="1"/>
                <c:pt idx="0">
                  <c:v>Days households lived with a fault (thousands)</c:v>
                </c:pt>
              </c:strCache>
            </c:strRef>
          </c:tx>
          <c:spPr>
            <a:solidFill>
              <a:srgbClr val="D97706"/>
            </a:solidFill>
            <a:effectLst/>
          </c:spPr>
          <c:invertIfNegative val="0"/>
          <c:dLbls>
            <c:numFmt formatCode="0&quot;k&quot;" sourceLinked="0"/>
            <c:txPr>
              <a:bodyPr/>
              <a:lstStyle/>
              <a:p>
                <a:pPr>
                  <a:defRPr b="0" i="0" strike="noStrike" sz="1600" u="none">
                    <a:solidFill>
                      <a:srgbClr val="14181D"/>
                    </a:solidFill>
                    <a:latin typeface="+mn-lt"/>
                  </a:defRPr>
                </a:pPr>
              </a:p>
            </c:txPr>
            <c:showLegendKey val="0"/>
            <c:showVal val="1"/>
            <c:showCatName val="0"/>
            <c:showSerName val="0"/>
            <c:showPercent val="0"/>
            <c:showBubbleSize val="0"/>
            <c:showLeaderLines val="0"/>
          </c:dLbls>
          <c:dPt>
            <c:idx val="0"/>
            <c:invertIfNegative val="0"/>
            <c:bubble3D val="0"/>
            <c:spPr>
              <a:solidFill>
                <a:srgbClr val="D97706"/>
              </a:solidFill>
              <a:effectLst/>
            </c:spPr>
          </c:dPt>
          <c:dPt>
            <c:idx val="1"/>
            <c:invertIfNegative val="0"/>
            <c:bubble3D val="0"/>
            <c:spPr>
              <a:solidFill>
                <a:srgbClr val="0A7AFF"/>
              </a:solidFill>
              <a:effectLst/>
            </c:spPr>
          </c:dPt>
          <c:dPt>
            <c:idx val="2"/>
            <c:invertIfNegative val="0"/>
            <c:bubble3D val="0"/>
            <c:spPr>
              <a:solidFill>
                <a:srgbClr val="0E8FB8"/>
              </a:solidFill>
              <a:effectLst/>
            </c:spPr>
          </c:dPt>
          <c:cat>
            <c:multiLvlStrRef>
              <c:f>Sheet1!$A$2:$A$4</c:f>
              <c:multiLvlStrCache>
                <c:ptCount val="3"/>
                <c:lvl>
                  <c:pt idx="0">
                    <c:v>Cheapest first</c:v>
                  </c:pt>
                  <c:pt idx="1">
                    <c:v>Urgent first, no sharing</c:v>
                  </c:pt>
                  <c:pt idx="2">
                    <c:v>ReachNT</c:v>
                  </c:pt>
                </c:lvl>
              </c:multiLvlStrCache>
            </c:multiLvlStrRef>
          </c:cat>
          <c:val>
            <c:numRef>
              <c:f>Sheet1!$B$2:$B$4</c:f>
              <c:numCache>
                <c:formatCode>General</c:formatCode>
                <c:ptCount val="3"/>
                <c:pt idx="0">
                  <c:v>226</c:v>
                </c:pt>
                <c:pt idx="1">
                  <c:v>74</c:v>
                </c:pt>
                <c:pt idx="2">
                  <c:v>61</c:v>
                </c:pt>
              </c:numCache>
            </c:numRef>
          </c:val>
        </c:ser>
        <c:dLbls>
          <c:numFmt formatCode="0&quot;k&quot;" sourceLinked="0"/>
          <c:txPr>
            <a:bodyPr/>
            <a:lstStyle/>
            <a:p>
              <a:pPr>
                <a:defRPr b="0" i="0" strike="noStrike" sz="1600" u="none">
                  <a:solidFill>
                    <a:srgbClr val="14181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4A525C"/>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[AASHISH, about 30 seconds]
Good morning. I'm Aashish, this is Harsh, and we're Team Top Enders.
Imagine a family in a remote community in the Northern Territory. The water to their house stops. They ring the repairs line. In town, a plumber would be there in a couple of days. For them, it can take weeks.
Our project, ReachNT, is about why that happens, and what AI can do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[AASHISH, about 50 seconds]
Here's the problem in four numbers.
There are 70 remote communities in our model, with about 4,500 public houses.
Repairs there cost far more. Government research found emergency repairs in very remote communities cost eight and a half times as much, and travel can be almost the whole bill.
Katherine's tradespeople, for example, drive up to six hours to reach some communities.
So here is the kind of message a tenant gets from our simulation: no water to the house, waited 57 days, held up by travel cost. Notice the last line: nobody signed off on that. It just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[AASHISH, about 50 seconds]
Why does this happen? Because the obvious way to plan repairs is to fix the most jobs for your money.
We simulated a whole year of repairs across the Territory. When you plan for the cheapest jobs, town tenants get urgent repairs in 3 days. Remote tenants wait up to 62. That's the orange bars.
The important part is on the right. No one decided this. Nobody wrote a rule saying remote families wait. It's a side effect of chasing efficiency, and nobody is accountable for it.
That's the gap we set out to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50 seconds]
Thanks Aashish. ReachNT does four things.
One: it reads the repair report the way the tenant said it, and works out the fault and how urgent it is. If it isn't sure, a person calls back.
Two: it ranks repairs by need alone. Danger, health, who lives in the house, how long they've waited. Where you live is never part of your score.
Three: every week it plans the trips. And when two communities are close, one tradesperson visits both on one trip. That's where H3 comes in, which I'll come back to.
Four: cost still matters, but a named person has to sign how much it counts. And every tenant can see why their repair is where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60 seconds]
Now the AI. Tenants don't fill in forms. They say things like "no sparks now but the switch is black and the kids touch it".
ReachNT reads that with two methods: word rules for phrases we know, and a learning model for wording the rules miss.
The key design choice is that it knows when to ask. If it's unsure, or anything sounds dangerous, a person checks the same day. And it never downgrades danger on its own. In that example, "no sparks" doesn't make it safe.
We tested it on wording it had never seen. The model alone is decent, a ROC-AUC of 0.84. With the person in the loop, the system caught 99.3 percent of dangerous reports.
And we're honest about its limits: its confidence isn't reliable, so we never show tenants a percentage.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[AASHISH, about 60 seconds]
This was my favourite decision. Early on I suggested Uber's H3, an open-source map grid made of hexagons, and Harsh built the whole system around it.
Why hexagons? Look at the squares on the left: the middle square has neighbours at two different distances, the sides and the corners. A hexagon's six neighbours are all exactly the same distance away.
That matters for fairness. When we say two communities are "within two hexagons" of each other, that means the same distance in every direction, so the rule for sharing a trip treats every community the same.
And one grid does four jobs: it finds shared trips, it stores a house as a hexagon instead of an address for privacy, it lets us publish waiting times for areas without exposing any household, and it powers the maps and the "nearby jobs" list for tradespeople.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50 seconds]
Every week an optimiser, Google's OR-Tools, plans the trips: which communities get a visit, which jobs get done, within each tradesperson's hours, road closures in the wet, and airstrips.
Here's the shared trip. Instead of driving out to community A and back, then out to community B and back, one tradesperson does one loop. The H3 grid tells us which pairs are close enough.
That saves about $73 on every repair, and because the savings buy more visits, households spend 18% fewer days living with faults.
And it's fast: the solver proved 99.4 percent of over 25 thousand weekly plans to be the best possible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60 seconds]
So what does it buy? We ran one year of synthetic repair requests over the real Territory: real communities, roads, wet-season closures and costs, and 37,508 made-up requests.
Planning for the cheapest jobs costs $559 a repair. ReachNT costs $803. About 44% more.
For that, nine in ten urgent remote repairs are fixed within 3 days instead of 62, and households live with faults for 73% fewer days. That's the chart.
We didn't trust one lucky year, so we ran five. The result held every time.
We're not saying cost doesn't matter. We're saying the trade-off should be visible, priced, and signed by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90 seconds, including a short live demo if there's time]
This is the working prototype, live at reachnt dot vercel dot app.
On the left is the coordinator's week: each hexagon is a community, the number is repairs waiting, green means a tradesperson goes this week, and the blue lines are shared trips.
[Live demo, keep it short: tap a community; open Compare and show the four plans; switch to Tenant and show the timeline.]
On the right, the same app on a phone. The tradesperson gets a numbered run sheet that works out bush with no signal, and the tenant sees their repair, every week it waited, and the real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[AASHISH, about 50 seconds]
Because this affects people's homes, we built it so people stay in charge.
A named coordinator signs how much cost is allowed to count, and that signature is kept.
Tenants can ask for a review, and a person answers within ten working days.
Every week a person re-reads a sample of what the AI read on its own, to catch mistakes early.
A tradesperson can't close a job just by saying no one was home. They record when they came and what they tried, and the tenant is told.
And personal details sit in an encrypted vault. Everywhere else, a house is just a hexagon on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50 seconds]
We want to be straight about what we've proven and what we haven't.
On the left: we have eighty automated checks that run on every change, we tested five random years, we checked every community's location against satellite photos, and the site passes accessibility checks.
On the right: the repair requests are synthetic, because no public repair data exists. The reader is tested in English only, and many tenants speak Kriol or Aboriginal English. And no community has reviewed this yet.
That's why our first recommendation is about people, not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[AASHISH, about 40 seconds]
Three recommendations.
One: make the trade-off a signed decision. Publish the rules, and record who decides how much cost counts.
Two: pilot it in one region, the Katherine hub's sixteen communities, and design it with tenants, Aboriginal Housing NT, land councils and interpreters.
Three: test the AI on real words before it reads anything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20 seconds]
To finish: where someone lives shouldn't decide how long they wait for water, power or a safe home.
ReachNT fixes urgent remote repairs in days instead of months, for a cost we can see and name, and it makes someone own that choice.
Thank you. We're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D14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766560" cy="1280160"/>
          </a:xfrm>
          <a:prstGeom prst="rect">
            <a:avLst/>
          </a:prstGeom>
          <a:noFill/>
          <a:ln/>
        </p:spPr>
        <p:txBody>
          <a:bodyPr wrap="square" rtlCol="0"/>
          <a:lstStyle>
            <a:lvl1pPr algn="l" indent="0" marL="0">
              <a:buNone/>
              <a:defRPr lang="en-US" sz="6000" b="1" dirty="0">
                <a:solidFill>
                  <a:schemeClr val="bg1"/>
                </a:solidFill>
                <a:latin typeface="Arial" pitchFamily="34" charset="0"/>
                <a:ea typeface="Arial" pitchFamily="34" charset="-122"/>
                <a:cs typeface="Arial" pitchFamily="34" charset="-120"/>
              </a:defRPr>
            </a:lvl1pPr>
          </a:lstStyle>
          <a:p>
            <a:pPr algn="l" indent="0" marL="0">
              <a:buNone/>
            </a:pPr>
            <a:endParaRPr lang="en-US" sz="6000" dirty="0"/>
          </a:p>
        </p:txBody>
      </p:sp>
      <p:sp>
        <p:nvSpPr>
          <p:cNvPr id="3" name="Text 0"/>
          <p:cNvSpPr/>
          <p:nvPr>
            <p:ph idx="101" type="body" hasCustomPrompt="1"/>
          </p:nvPr>
        </p:nvSpPr>
        <p:spPr>
          <a:xfrm>
            <a:off x="731520" y="2880360"/>
            <a:ext cx="6035040" cy="1645920"/>
          </a:xfrm>
          <a:prstGeom prst="rect">
            <a:avLst/>
          </a:prstGeom>
          <a:noFill/>
          <a:ln/>
        </p:spPr>
        <p:txBody>
          <a:bodyPr wrap="square" rtlCol="0"/>
          <a:lstStyle>
            <a:lvl1pPr algn="l" indent="0" marL="0">
              <a:buNone/>
              <a:defRPr lang="en-US" sz="2200" dirty="0">
                <a:solidFill>
                  <a:srgbClr val="C9CFD6"/>
                </a:solidFill>
              </a:defRPr>
            </a:lvl1pPr>
          </a:lstStyle>
          <a:p>
            <a:pPr algn="l" indent="0" marL="0">
              <a:buNone/>
            </a:pPr>
            <a:endParaRPr lang="en-US" sz="2200" dirty="0"/>
          </a:p>
        </p:txBody>
      </p:sp>
      <p:sp>
        <p:nvSpPr>
          <p:cNvPr id="4" name="Text 0"/>
          <p:cNvSpPr/>
          <p:nvPr/>
        </p:nvSpPr>
        <p:spPr>
          <a:xfrm>
            <a:off x="731520" y="6172200"/>
            <a:ext cx="10698480" cy="320040"/>
          </a:xfrm>
          <a:prstGeom prst="rect">
            <a:avLst/>
          </a:prstGeom>
          <a:noFill/>
          <a:ln/>
        </p:spPr>
        <p:txBody>
          <a:bodyPr wrap="square" rtlCol="0" anchor="ctr"/>
          <a:lstStyle/>
          <a:p>
            <a:pPr indent="0" marL="0">
              <a:buNone/>
            </a:pPr>
            <a:r>
              <a:rPr lang="en-US" sz="1200" dirty="0">
                <a:solidFill>
                  <a:srgbClr val="9AA3AD"/>
                </a:solidFill>
              </a:rPr>
              <a:t>CDU IT Code Fair 2026 · Artificial Intelligence Challenge · Team AIC015 Top Enders</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lstStyle>
            <a:lvl1pPr algn="l" indent="0" marL="0">
              <a:buNone/>
              <a:defRPr lang="en-US" sz="2800" b="1" dirty="0">
                <a:solidFill>
                  <a:schemeClr val="tx1"/>
                </a:solidFill>
                <a:latin typeface="Arial" pitchFamily="34" charset="0"/>
                <a:ea typeface="Arial" pitchFamily="34" charset="-122"/>
                <a:cs typeface="Arial" pitchFamily="34" charset="-120"/>
              </a:defRPr>
            </a:lvl1pPr>
          </a:lstStyle>
          <a:p>
            <a:pPr algn="l" indent="0" marL="0">
              <a:buNone/>
            </a:pPr>
            <a:endParaRPr lang="en-US" sz="2800" dirty="0"/>
          </a:p>
        </p:txBody>
      </p:sp>
      <p:sp>
        <p:nvSpPr>
          <p:cNvPr id="3" name="Text 0"/>
          <p:cNvSpPr/>
          <p:nvPr/>
        </p:nvSpPr>
        <p:spPr>
          <a:xfrm>
            <a:off x="548640" y="6419088"/>
            <a:ext cx="9144000" cy="274320"/>
          </a:xfrm>
          <a:prstGeom prst="rect">
            <a:avLst/>
          </a:prstGeom>
          <a:noFill/>
          <a:ln/>
        </p:spPr>
        <p:txBody>
          <a:bodyPr wrap="square" rtlCol="0" anchor="ctr"/>
          <a:lstStyle/>
          <a:p>
            <a:pPr indent="0" marL="0">
              <a:buNone/>
            </a:pPr>
            <a:r>
              <a:rPr lang="en-US" sz="1000" dirty="0">
                <a:solidFill>
                  <a:srgbClr val="6B7480"/>
                </a:solidFill>
              </a:rPr>
              <a:t>ReachNT · Team AIC015 Top Enders · repair requests are synthetic; communities, roads and costs are real</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hot">
    <p:bg>
      <p:bgPr>
        <a:solidFill>
          <a:srgbClr val="0D14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rtlCol="0"/>
          <a:lstStyle>
            <a:lvl1pPr algn="l" indent="0" marL="0">
              <a:buNone/>
              <a:defRPr lang="en-US" sz="3000" b="1" dirty="0">
                <a:solidFill>
                  <a:schemeClr val="bg1"/>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3" name="Text 0"/>
          <p:cNvSpPr/>
          <p:nvPr/>
        </p:nvSpPr>
        <p:spPr>
          <a:xfrm>
            <a:off x="548640" y="6419088"/>
            <a:ext cx="9144000" cy="274320"/>
          </a:xfrm>
          <a:prstGeom prst="rect">
            <a:avLst/>
          </a:prstGeom>
          <a:noFill/>
          <a:ln/>
        </p:spPr>
        <p:txBody>
          <a:bodyPr wrap="square" rtlCol="0" anchor="ctr"/>
          <a:lstStyle/>
          <a:p>
            <a:pPr indent="0" marL="0">
              <a:buNone/>
            </a:pPr>
            <a:r>
              <a:rPr lang="en-US" sz="1000" dirty="0">
                <a:solidFill>
                  <a:srgbClr val="9AA3AD"/>
                </a:solidFill>
              </a:rPr>
              <a:t>ReachNT · Team AIC015 Top Enders · repair requests are synthetic; communities, roads and costs are real</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3AD"/>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4.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map-backdrop" descr="map-backdrop">    </p:cNvPr>
          <p:cNvPicPr>
            <a:picLocks noChangeAspect="1"/>
          </p:cNvPicPr>
          <p:nvPr/>
        </p:nvPicPr>
        <p:blipFill>
          <a:blip r:embed="rId1">
            <a:alphaModFix amt="65000"/>
          </a:blip>
          <a:srcRect l="0" r="0" t="0" b="0"/>
          <a:stretch/>
        </p:blipFill>
        <p:spPr>
          <a:xfrm>
            <a:off x="6035040" y="0"/>
            <a:ext cx="6153912" cy="6858000"/>
          </a:xfrm>
          <a:prstGeom prst="rect">
            <a:avLst/>
          </a:prstGeom>
        </p:spPr>
      </p:pic>
      <p:sp>
        <p:nvSpPr>
          <p:cNvPr id="3" name="title-veil"/>
          <p:cNvSpPr/>
          <p:nvPr/>
        </p:nvSpPr>
        <p:spPr>
          <a:xfrm>
            <a:off x="0" y="0"/>
            <a:ext cx="6583680" cy="6858000"/>
          </a:xfrm>
          <a:prstGeom prst="rect">
            <a:avLst/>
          </a:prstGeom>
          <a:solidFill>
            <a:srgbClr val="0D1418"/>
          </a:solidFill>
          <a:ln w="12700">
            <a:solidFill>
              <a:srgbClr val="0D1418"/>
            </a:solidFill>
            <a:prstDash val="solid"/>
          </a:ln>
        </p:spPr>
      </p:sp>
      <p:sp>
        <p:nvSpPr>
          <p:cNvPr id="4" name="Text 0"/>
          <p:cNvSpPr/>
          <p:nvPr>
            <p:ph idx="100" type="title" hasCustomPrompt="1"/>
          </p:nvPr>
        </p:nvSpPr>
        <p:spPr>
          <a:xfrm>
            <a:off x="731520" y="1463040"/>
            <a:ext cx="6766560" cy="1280160"/>
          </a:xfrm>
          <a:prstGeom prst="rect">
            <a:avLst/>
          </a:prstGeom>
          <a:noFill/>
          <a:ln/>
        </p:spPr>
        <p:txBody>
          <a:bodyPr wrap="square" rtlCol="0" anchor="b"/>
          <a:lstStyle/>
          <a:p>
            <a:pPr algn="l" indent="0" marL="0">
              <a:buNone/>
            </a:pPr>
            <a:r>
              <a:rPr lang="en-US" sz="6000" b="1" dirty="0">
                <a:solidFill>
                  <a:schemeClr val="bg1"/>
                </a:solidFill>
                <a:latin typeface="Arial" pitchFamily="34" charset="0"/>
                <a:ea typeface="Arial" pitchFamily="34" charset="-122"/>
                <a:cs typeface="Arial" pitchFamily="34" charset="-120"/>
              </a:rPr>
              <a:t>ReachNT</a:t>
            </a:r>
            <a:endParaRPr lang="en-US" sz="6000" dirty="0"/>
          </a:p>
        </p:txBody>
      </p:sp>
      <p:sp>
        <p:nvSpPr>
          <p:cNvPr id="5" name="Text 0"/>
          <p:cNvSpPr/>
          <p:nvPr>
            <p:ph idx="101" type="body" hasCustomPrompt="1"/>
          </p:nvPr>
        </p:nvSpPr>
        <p:spPr>
          <a:xfrm>
            <a:off x="731520" y="2880360"/>
            <a:ext cx="6035040" cy="1645920"/>
          </a:xfrm>
          <a:prstGeom prst="rect">
            <a:avLst/>
          </a:prstGeom>
          <a:noFill/>
          <a:ln/>
        </p:spPr>
        <p:txBody>
          <a:bodyPr wrap="square" rtlCol="0" anchor="t"/>
          <a:lstStyle/>
          <a:p>
            <a:pPr algn="l" indent="0" marL="0">
              <a:buNone/>
            </a:pPr>
            <a:r>
              <a:rPr lang="en-US" sz="2200" dirty="0">
                <a:solidFill>
                  <a:srgbClr val="C9CFD6"/>
                </a:solidFill>
              </a:rPr>
              <a:t>Urgent repairs fixed on time out bush, without letting cost quietly decide who waits</a:t>
            </a:r>
            <a:endParaRPr lang="en-US" sz="2200" dirty="0"/>
          </a:p>
        </p:txBody>
      </p:sp>
      <p:sp>
        <p:nvSpPr>
          <p:cNvPr id="6" name="names"/>
          <p:cNvSpPr txBox="1"/>
          <p:nvPr/>
        </p:nvSpPr>
        <p:spPr>
          <a:xfrm>
            <a:off x="731520" y="4800600"/>
            <a:ext cx="5852160" cy="365760"/>
          </a:xfrm>
          <a:prstGeom prst="rect">
            <a:avLst/>
          </a:prstGeom>
          <a:noFill/>
          <a:ln/>
        </p:spPr>
        <p:txBody>
          <a:bodyPr wrap="square" lIns="0" tIns="0" rIns="0" bIns="0" rtlCol="0" anchor="t"/>
          <a:lstStyle/>
          <a:p>
            <a:pPr indent="0" marL="0">
              <a:buNone/>
            </a:pPr>
            <a:r>
              <a:rPr lang="en-US" sz="1600" dirty="0">
                <a:solidFill>
                  <a:srgbClr val="9AA3AD"/>
                </a:solidFill>
                <a:latin typeface="Calibri" pitchFamily="34" charset="0"/>
                <a:ea typeface="Calibri" pitchFamily="34" charset="-122"/>
                <a:cs typeface="Calibri" pitchFamily="34" charset="-120"/>
              </a:rPr>
              <a:t>Harsh Rastogi · Aashish</a:t>
            </a:r>
            <a:endParaRPr lang="en-US" sz="1600" dirty="0"/>
          </a:p>
        </p:txBody>
      </p:sp>
      <p:sp>
        <p:nvSpPr>
          <p:cNvPr id="7" name="url"/>
          <p:cNvSpPr txBox="1"/>
          <p:nvPr/>
        </p:nvSpPr>
        <p:spPr>
          <a:xfrm>
            <a:off x="731520" y="5212080"/>
            <a:ext cx="5852160" cy="365760"/>
          </a:xfrm>
          <a:prstGeom prst="rect">
            <a:avLst/>
          </a:prstGeom>
          <a:noFill/>
          <a:ln/>
        </p:spPr>
        <p:txBody>
          <a:bodyPr wrap="square" lIns="0" tIns="0" rIns="0" bIns="0" rtlCol="0" anchor="t"/>
          <a:lstStyle/>
          <a:p>
            <a:pPr indent="0" marL="0">
              <a:buNone/>
            </a:pPr>
            <a:r>
              <a:rPr lang="en-US" sz="1600" b="1" dirty="0">
                <a:solidFill>
                  <a:srgbClr val="64D2FF"/>
                </a:solidFill>
                <a:latin typeface="Calibri" pitchFamily="34" charset="0"/>
                <a:ea typeface="Calibri" pitchFamily="34" charset="-122"/>
                <a:cs typeface="Calibri" pitchFamily="34" charset="-120"/>
              </a:rPr>
              <a:t>reachnt.vercel.app</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Remote repairs cost more, so they quietly fall to the back</a:t>
            </a:r>
            <a:endParaRPr lang="en-US" sz="2800" dirty="0"/>
          </a:p>
        </p:txBody>
      </p:sp>
      <p:sp>
        <p:nvSpPr>
          <p:cNvPr id="3" name="s-com-n"/>
          <p:cNvSpPr txBox="1"/>
          <p:nvPr/>
        </p:nvSpPr>
        <p:spPr>
          <a:xfrm>
            <a:off x="548640" y="1600200"/>
            <a:ext cx="2560320" cy="868680"/>
          </a:xfrm>
          <a:prstGeom prst="rect">
            <a:avLst/>
          </a:prstGeom>
          <a:noFill/>
          <a:ln/>
        </p:spPr>
        <p:txBody>
          <a:bodyPr wrap="square" lIns="0" tIns="0" rIns="0" bIns="0" rtlCol="0" anchor="t"/>
          <a:lstStyle/>
          <a:p>
            <a:pPr indent="0" marL="0">
              <a:buNone/>
            </a:pPr>
            <a:r>
              <a:rPr lang="en-US" sz="4800" b="1" dirty="0">
                <a:solidFill>
                  <a:srgbClr val="0E8FB8"/>
                </a:solidFill>
                <a:latin typeface="Arial" pitchFamily="34" charset="0"/>
                <a:ea typeface="Arial" pitchFamily="34" charset="-122"/>
                <a:cs typeface="Arial" pitchFamily="34" charset="-120"/>
              </a:rPr>
              <a:t>70</a:t>
            </a:r>
            <a:endParaRPr lang="en-US" sz="4800" dirty="0"/>
          </a:p>
        </p:txBody>
      </p:sp>
      <p:sp>
        <p:nvSpPr>
          <p:cNvPr id="4" name="s-com-l"/>
          <p:cNvSpPr txBox="1"/>
          <p:nvPr/>
        </p:nvSpPr>
        <p:spPr>
          <a:xfrm>
            <a:off x="548640" y="2514600"/>
            <a:ext cx="256032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remote communities in our model, with 4,481 public houses</a:t>
            </a:r>
            <a:endParaRPr lang="en-US" sz="1500" dirty="0"/>
          </a:p>
        </p:txBody>
      </p:sp>
      <p:sp>
        <p:nvSpPr>
          <p:cNvPr id="5" name="s-cost-n"/>
          <p:cNvSpPr txBox="1"/>
          <p:nvPr/>
        </p:nvSpPr>
        <p:spPr>
          <a:xfrm>
            <a:off x="3291840" y="1600200"/>
            <a:ext cx="2560320" cy="868680"/>
          </a:xfrm>
          <a:prstGeom prst="rect">
            <a:avLst/>
          </a:prstGeom>
          <a:noFill/>
          <a:ln/>
        </p:spPr>
        <p:txBody>
          <a:bodyPr wrap="square" lIns="0" tIns="0" rIns="0" bIns="0" rtlCol="0" anchor="t"/>
          <a:lstStyle/>
          <a:p>
            <a:pPr indent="0" marL="0">
              <a:buNone/>
            </a:pPr>
            <a:r>
              <a:rPr lang="en-US" sz="4800" b="1" dirty="0">
                <a:solidFill>
                  <a:srgbClr val="D97706"/>
                </a:solidFill>
                <a:latin typeface="Arial" pitchFamily="34" charset="0"/>
                <a:ea typeface="Arial" pitchFamily="34" charset="-122"/>
                <a:cs typeface="Arial" pitchFamily="34" charset="-120"/>
              </a:rPr>
              <a:t>8.5×</a:t>
            </a:r>
            <a:endParaRPr lang="en-US" sz="4800" dirty="0"/>
          </a:p>
        </p:txBody>
      </p:sp>
      <p:sp>
        <p:nvSpPr>
          <p:cNvPr id="6" name="s-cost-l"/>
          <p:cNvSpPr txBox="1"/>
          <p:nvPr/>
        </p:nvSpPr>
        <p:spPr>
          <a:xfrm>
            <a:off x="3291840" y="2514600"/>
            <a:ext cx="256032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what an emergency repair costs in a very remote community, against a remote one (Nous Group, 2017)</a:t>
            </a:r>
            <a:endParaRPr lang="en-US" sz="1500" dirty="0"/>
          </a:p>
        </p:txBody>
      </p:sp>
      <p:sp>
        <p:nvSpPr>
          <p:cNvPr id="7" name="s-travel-n"/>
          <p:cNvSpPr txBox="1"/>
          <p:nvPr/>
        </p:nvSpPr>
        <p:spPr>
          <a:xfrm>
            <a:off x="6035040" y="1600200"/>
            <a:ext cx="2560320" cy="868680"/>
          </a:xfrm>
          <a:prstGeom prst="rect">
            <a:avLst/>
          </a:prstGeom>
          <a:noFill/>
          <a:ln/>
        </p:spPr>
        <p:txBody>
          <a:bodyPr wrap="square" lIns="0" tIns="0" rIns="0" bIns="0" rtlCol="0" anchor="t"/>
          <a:lstStyle/>
          <a:p>
            <a:pPr indent="0" marL="0">
              <a:buNone/>
            </a:pPr>
            <a:r>
              <a:rPr lang="en-US" sz="4800" b="1" dirty="0">
                <a:solidFill>
                  <a:srgbClr val="D97706"/>
                </a:solidFill>
                <a:latin typeface="Arial" pitchFamily="34" charset="0"/>
                <a:ea typeface="Arial" pitchFamily="34" charset="-122"/>
                <a:cs typeface="Arial" pitchFamily="34" charset="-120"/>
              </a:rPr>
              <a:t>96%</a:t>
            </a:r>
            <a:endParaRPr lang="en-US" sz="4800" dirty="0"/>
          </a:p>
        </p:txBody>
      </p:sp>
      <p:sp>
        <p:nvSpPr>
          <p:cNvPr id="8" name="s-travel-l"/>
          <p:cNvSpPr txBox="1"/>
          <p:nvPr/>
        </p:nvSpPr>
        <p:spPr>
          <a:xfrm>
            <a:off x="6035040" y="2514600"/>
            <a:ext cx="256032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of an emergency job's cost can be travel alone (Nous Group, 2017)</a:t>
            </a:r>
            <a:endParaRPr lang="en-US" sz="1500" dirty="0"/>
          </a:p>
        </p:txBody>
      </p:sp>
      <p:sp>
        <p:nvSpPr>
          <p:cNvPr id="9" name="s-drive-n"/>
          <p:cNvSpPr txBox="1"/>
          <p:nvPr/>
        </p:nvSpPr>
        <p:spPr>
          <a:xfrm>
            <a:off x="8778240" y="1600200"/>
            <a:ext cx="2834640" cy="868680"/>
          </a:xfrm>
          <a:prstGeom prst="rect">
            <a:avLst/>
          </a:prstGeom>
          <a:noFill/>
          <a:ln/>
        </p:spPr>
        <p:txBody>
          <a:bodyPr wrap="square" lIns="0" tIns="0" rIns="0" bIns="0" rtlCol="0" anchor="t"/>
          <a:lstStyle/>
          <a:p>
            <a:pPr indent="0" marL="0">
              <a:buNone/>
            </a:pPr>
            <a:r>
              <a:rPr lang="en-US" sz="4800" b="1" dirty="0">
                <a:solidFill>
                  <a:srgbClr val="6E56CF"/>
                </a:solidFill>
                <a:latin typeface="Arial" pitchFamily="34" charset="0"/>
                <a:ea typeface="Arial" pitchFamily="34" charset="-122"/>
                <a:cs typeface="Arial" pitchFamily="34" charset="-120"/>
              </a:rPr>
              <a:t>6 h</a:t>
            </a:r>
            <a:endParaRPr lang="en-US" sz="4800" dirty="0"/>
          </a:p>
        </p:txBody>
      </p:sp>
      <p:sp>
        <p:nvSpPr>
          <p:cNvPr id="10" name="s-drive-l"/>
          <p:cNvSpPr txBox="1"/>
          <p:nvPr/>
        </p:nvSpPr>
        <p:spPr>
          <a:xfrm>
            <a:off x="8778240" y="2514600"/>
            <a:ext cx="283464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drive from Katherine to Kalkarindji, one of the 16 communities its tradespeople serve</a:t>
            </a:r>
            <a:endParaRPr lang="en-US" sz="1500" dirty="0"/>
          </a:p>
        </p:txBody>
      </p:sp>
      <p:sp>
        <p:nvSpPr>
          <p:cNvPr id="11" name="story-card"/>
          <p:cNvSpPr/>
          <p:nvPr/>
        </p:nvSpPr>
        <p:spPr>
          <a:xfrm>
            <a:off x="548640" y="4160520"/>
            <a:ext cx="11064240" cy="1920240"/>
          </a:xfrm>
          <a:prstGeom prst="roundRect">
            <a:avLst>
              <a:gd name="adj" fmla="val 4762"/>
            </a:avLst>
          </a:prstGeom>
          <a:solidFill>
            <a:srgbClr val="F1F3F5"/>
          </a:solidFill>
          <a:ln w="12700">
            <a:solidFill>
              <a:srgbClr val="F1F3F5"/>
            </a:solidFill>
            <a:prstDash val="solid"/>
          </a:ln>
        </p:spPr>
      </p:sp>
      <p:sp>
        <p:nvSpPr>
          <p:cNvPr id="12" name="story-hex"/>
          <p:cNvSpPr/>
          <p:nvPr/>
        </p:nvSpPr>
        <p:spPr>
          <a:xfrm>
            <a:off x="868680" y="4526280"/>
            <a:ext cx="822960" cy="724205"/>
          </a:xfrm>
          <a:prstGeom prst="hexagon">
            <a:avLst/>
          </a:prstGeom>
          <a:solidFill>
            <a:srgbClr val="D97706"/>
          </a:solidFill>
          <a:ln w="12700">
            <a:solidFill>
              <a:srgbClr val="D97706"/>
            </a:solidFill>
            <a:prstDash val="solid"/>
          </a:ln>
        </p:spPr>
      </p:sp>
      <p:sp>
        <p:nvSpPr>
          <p:cNvPr id="13" name="story-hex-t"/>
          <p:cNvSpPr txBox="1"/>
          <p:nvPr/>
        </p:nvSpPr>
        <p:spPr>
          <a:xfrm>
            <a:off x="868680" y="4526280"/>
            <a:ext cx="822960" cy="724205"/>
          </a:xfrm>
          <a:prstGeom prst="rect">
            <a:avLst/>
          </a:prstGeom>
          <a:noFill/>
          <a:ln/>
        </p:spPr>
        <p:txBody>
          <a:bodyPr wrap="squar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a:t>
            </a:r>
            <a:endParaRPr lang="en-US" sz="2600" dirty="0"/>
          </a:p>
        </p:txBody>
      </p:sp>
      <p:sp>
        <p:nvSpPr>
          <p:cNvPr id="14" name="story-label"/>
          <p:cNvSpPr txBox="1"/>
          <p:nvPr/>
        </p:nvSpPr>
        <p:spPr>
          <a:xfrm>
            <a:off x="1965960" y="4389120"/>
            <a:ext cx="9326880" cy="320040"/>
          </a:xfrm>
          <a:prstGeom prst="rect">
            <a:avLst/>
          </a:prstGeom>
          <a:noFill/>
          <a:ln/>
        </p:spPr>
        <p:txBody>
          <a:bodyPr wrap="square" lIns="0" tIns="0" rIns="0" bIns="0" rtlCol="0" anchor="t"/>
          <a:lstStyle/>
          <a:p>
            <a:pPr indent="0" marL="0">
              <a:buNone/>
            </a:pPr>
            <a:r>
              <a:rPr lang="en-US" sz="1300" b="1" dirty="0">
                <a:solidFill>
                  <a:srgbClr val="6B7480"/>
                </a:solidFill>
                <a:latin typeface="Calibri" pitchFamily="34" charset="0"/>
                <a:ea typeface="Calibri" pitchFamily="34" charset="-122"/>
                <a:cs typeface="Calibri" pitchFamily="34" charset="-120"/>
              </a:rPr>
              <a:t>A real kind of message, from our simulated year</a:t>
            </a:r>
            <a:endParaRPr lang="en-US" sz="1300" dirty="0"/>
          </a:p>
        </p:txBody>
      </p:sp>
      <p:sp>
        <p:nvSpPr>
          <p:cNvPr id="15" name="story-sms"/>
          <p:cNvSpPr txBox="1"/>
          <p:nvPr/>
        </p:nvSpPr>
        <p:spPr>
          <a:xfrm>
            <a:off x="1965960" y="4709160"/>
            <a:ext cx="9326880" cy="457200"/>
          </a:xfrm>
          <a:prstGeom prst="rect">
            <a:avLst/>
          </a:prstGeom>
          <a:noFill/>
          <a:ln/>
        </p:spPr>
        <p:txBody>
          <a:bodyPr wrap="square" lIns="0" tIns="0" rIns="0" bIns="0" rtlCol="0" anchor="t"/>
          <a:lstStyle/>
          <a:p>
            <a:pPr indent="0" marL="0">
              <a:buNone/>
            </a:pPr>
            <a:r>
              <a:rPr lang="en-US" sz="1800" b="1" dirty="0">
                <a:solidFill>
                  <a:srgbClr val="14181D"/>
                </a:solidFill>
                <a:latin typeface="Calibri" pitchFamily="34" charset="0"/>
                <a:ea typeface="Calibri" pitchFamily="34" charset="-122"/>
                <a:cs typeface="Calibri" pitchFamily="34" charset="-120"/>
              </a:rPr>
              <a:t>“Your no water to the house repair is urgent. Waiting 57 days. Held up by travel cost.”</a:t>
            </a:r>
            <a:endParaRPr lang="en-US" sz="1800" dirty="0"/>
          </a:p>
        </p:txBody>
      </p:sp>
      <p:sp>
        <p:nvSpPr>
          <p:cNvPr id="16" name="story-why"/>
          <p:cNvSpPr txBox="1"/>
          <p:nvPr/>
        </p:nvSpPr>
        <p:spPr>
          <a:xfrm>
            <a:off x="1965960" y="5166360"/>
            <a:ext cx="9326880" cy="7772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For 28 days no plumber was sent to your community. It costs about $7,700 to fly one there and back. That was a cost decision, not a judgement about your repair. Nobody signed off on it.</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Plan for the cheapest jobs, and remote tenants wait weeks</a:t>
            </a:r>
            <a:endParaRPr lang="en-US" sz="2800" dirty="0"/>
          </a:p>
        </p:txBody>
      </p:sp>
      <p:graphicFrame>
        <p:nvGraphicFramePr>
          <p:cNvPr id="3" name="wait-chart" descr=""/>
          <p:cNvGraphicFramePr/>
          <p:nvPr/>
        </p:nvGraphicFramePr>
        <p:xfrm>
          <a:off x="548640" y="1371600"/>
          <a:ext cx="6766560" cy="4754880"/>
        </p:xfrm>
        <a:graphic xmlns:a="http://schemas.openxmlformats.org/drawingml/2006/main">
          <a:graphicData uri="http://schemas.openxmlformats.org/drawingml/2006/chart">
            <c:chart xmlns:c="http://schemas.openxmlformats.org/drawingml/2006/chart" r:id="rId1"/>
          </a:graphicData>
        </a:graphic>
      </p:graphicFrame>
      <p:sp>
        <p:nvSpPr>
          <p:cNvPr id="4" name="trap-card"/>
          <p:cNvSpPr/>
          <p:nvPr/>
        </p:nvSpPr>
        <p:spPr>
          <a:xfrm>
            <a:off x="7680960" y="1463040"/>
            <a:ext cx="3931920" cy="2148840"/>
          </a:xfrm>
          <a:prstGeom prst="roundRect">
            <a:avLst>
              <a:gd name="adj" fmla="val 4255"/>
            </a:avLst>
          </a:prstGeom>
          <a:solidFill>
            <a:srgbClr val="FBEEDD"/>
          </a:solidFill>
          <a:ln w="12700">
            <a:solidFill>
              <a:srgbClr val="FBEEDD"/>
            </a:solidFill>
            <a:prstDash val="solid"/>
          </a:ln>
        </p:spPr>
      </p:sp>
      <p:sp>
        <p:nvSpPr>
          <p:cNvPr id="5" name="trap-n"/>
          <p:cNvSpPr txBox="1"/>
          <p:nvPr/>
        </p:nvSpPr>
        <p:spPr>
          <a:xfrm>
            <a:off x="7955280" y="1645920"/>
            <a:ext cx="3474720" cy="731520"/>
          </a:xfrm>
          <a:prstGeom prst="rect">
            <a:avLst/>
          </a:prstGeom>
          <a:noFill/>
          <a:ln/>
        </p:spPr>
        <p:txBody>
          <a:bodyPr wrap="square" lIns="0" tIns="0" rIns="0" bIns="0" rtlCol="0" anchor="t"/>
          <a:lstStyle/>
          <a:p>
            <a:pPr indent="0" marL="0">
              <a:buNone/>
            </a:pPr>
            <a:r>
              <a:rPr lang="en-US" sz="4400" b="1" dirty="0">
                <a:solidFill>
                  <a:srgbClr val="D97706"/>
                </a:solidFill>
                <a:latin typeface="Arial" pitchFamily="34" charset="0"/>
                <a:ea typeface="Arial" pitchFamily="34" charset="-122"/>
                <a:cs typeface="Arial" pitchFamily="34" charset="-120"/>
              </a:rPr>
              <a:t>62 days</a:t>
            </a:r>
            <a:endParaRPr lang="en-US" sz="4400" dirty="0"/>
          </a:p>
        </p:txBody>
      </p:sp>
      <p:sp>
        <p:nvSpPr>
          <p:cNvPr id="6" name="trap-l"/>
          <p:cNvSpPr txBox="1"/>
          <p:nvPr/>
        </p:nvSpPr>
        <p:spPr>
          <a:xfrm>
            <a:off x="7955280" y="2423160"/>
            <a:ext cx="3474720" cy="914400"/>
          </a:xfrm>
          <a:prstGeom prst="rect">
            <a:avLst/>
          </a:prstGeom>
          <a:noFill/>
          <a:ln/>
        </p:spPr>
        <p:txBody>
          <a:bodyPr wrap="square" lIns="0" tIns="0" rIns="0" bIns="0" rtlCol="0" anchor="t"/>
          <a:lstStyle/>
          <a:p>
            <a:pPr indent="0" marL="0">
              <a:buNone/>
            </a:pPr>
            <a:r>
              <a:rPr lang="en-US" sz="1600" dirty="0">
                <a:solidFill>
                  <a:srgbClr val="14181D"/>
                </a:solidFill>
                <a:latin typeface="Calibri" pitchFamily="34" charset="0"/>
                <a:ea typeface="Calibri" pitchFamily="34" charset="-122"/>
                <a:cs typeface="Calibri" pitchFamily="34" charset="-120"/>
              </a:rPr>
              <a:t>for 9 in 10 urgent remote repairs, against 3 days in town</a:t>
            </a:r>
            <a:endParaRPr lang="en-US" sz="1600" dirty="0"/>
          </a:p>
        </p:txBody>
      </p:sp>
      <p:sp>
        <p:nvSpPr>
          <p:cNvPr id="7" name="why-card"/>
          <p:cNvSpPr/>
          <p:nvPr/>
        </p:nvSpPr>
        <p:spPr>
          <a:xfrm>
            <a:off x="7680960" y="3840480"/>
            <a:ext cx="3931920" cy="2240280"/>
          </a:xfrm>
          <a:prstGeom prst="roundRect">
            <a:avLst>
              <a:gd name="adj" fmla="val 4082"/>
            </a:avLst>
          </a:prstGeom>
          <a:solidFill>
            <a:srgbClr val="F1F3F5"/>
          </a:solidFill>
          <a:ln w="12700">
            <a:solidFill>
              <a:srgbClr val="F1F3F5"/>
            </a:solidFill>
            <a:prstDash val="solid"/>
          </a:ln>
        </p:spPr>
      </p:sp>
      <p:sp>
        <p:nvSpPr>
          <p:cNvPr id="8" name="why-text"/>
          <p:cNvSpPr txBox="1"/>
          <p:nvPr/>
        </p:nvSpPr>
        <p:spPr>
          <a:xfrm>
            <a:off x="7955280" y="4069080"/>
            <a:ext cx="3474720" cy="1828800"/>
          </a:xfrm>
          <a:prstGeom prst="rect">
            <a:avLst/>
          </a:prstGeom>
          <a:noFill/>
          <a:ln/>
        </p:spPr>
        <p:txBody>
          <a:bodyPr wrap="square" lIns="0" tIns="0" rIns="0" bIns="0" rtlCol="0" anchor="t"/>
          <a:lstStyle/>
          <a:p>
            <a:pPr indent="0" marL="0">
              <a:buNone/>
            </a:pPr>
            <a:r>
              <a:rPr lang="en-US" sz="1600" b="1" dirty="0">
                <a:solidFill>
                  <a:srgbClr val="14181D"/>
                </a:solidFill>
                <a:latin typeface="Calibri" pitchFamily="34" charset="0"/>
                <a:ea typeface="Calibri" pitchFamily="34" charset="-122"/>
                <a:cs typeface="Calibri" pitchFamily="34" charset="-120"/>
              </a:rPr>
              <a:t>Why: </a:t>
            </a:r>
            <a:pPr indent="0" marL="0">
              <a:buNone/>
            </a:pPr>
            <a:r>
              <a:rPr lang="en-US" sz="1600" dirty="0">
                <a:solidFill>
                  <a:srgbClr val="4A525C"/>
                </a:solidFill>
                <a:latin typeface="Calibri" pitchFamily="34" charset="0"/>
                <a:ea typeface="Calibri" pitchFamily="34" charset="-122"/>
                <a:cs typeface="Calibri" pitchFamily="34" charset="-120"/>
              </a:rPr>
              <a:t>a schedule built to fix the most jobs for the money always picks town first. It's efficient on paper, and no one ever decides that remote families should wait.</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ReachNT: rank by need, share trips, and put a name on the trade-off</a:t>
            </a:r>
            <a:endParaRPr lang="en-US" sz="2800" dirty="0"/>
          </a:p>
        </p:txBody>
      </p:sp>
      <p:sp>
        <p:nvSpPr>
          <p:cNvPr id="3" name="step-1"/>
          <p:cNvSpPr/>
          <p:nvPr/>
        </p:nvSpPr>
        <p:spPr>
          <a:xfrm>
            <a:off x="548640" y="1600200"/>
            <a:ext cx="2633472" cy="3931920"/>
          </a:xfrm>
          <a:prstGeom prst="roundRect">
            <a:avLst>
              <a:gd name="adj" fmla="val 3472"/>
            </a:avLst>
          </a:prstGeom>
          <a:solidFill>
            <a:srgbClr val="F1F3F5"/>
          </a:solidFill>
          <a:ln w="12700">
            <a:solidFill>
              <a:srgbClr val="F1F3F5"/>
            </a:solidFill>
            <a:prstDash val="solid"/>
          </a:ln>
        </p:spPr>
      </p:sp>
      <p:sp>
        <p:nvSpPr>
          <p:cNvPr id="4" name="step-hex-1"/>
          <p:cNvSpPr/>
          <p:nvPr/>
        </p:nvSpPr>
        <p:spPr>
          <a:xfrm>
            <a:off x="822960" y="1874520"/>
            <a:ext cx="868680" cy="764438"/>
          </a:xfrm>
          <a:prstGeom prst="hexagon">
            <a:avLst/>
          </a:prstGeom>
          <a:solidFill>
            <a:srgbClr val="0E8FB8"/>
          </a:solidFill>
          <a:ln w="12700">
            <a:solidFill>
              <a:srgbClr val="0E8FB8"/>
            </a:solidFill>
            <a:prstDash val="solid"/>
          </a:ln>
        </p:spPr>
      </p:sp>
      <p:sp>
        <p:nvSpPr>
          <p:cNvPr id="5" name="step-hex-1-t"/>
          <p:cNvSpPr txBox="1"/>
          <p:nvPr/>
        </p:nvSpPr>
        <p:spPr>
          <a:xfrm>
            <a:off x="822960" y="1874520"/>
            <a:ext cx="868680" cy="764438"/>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1</a:t>
            </a:r>
            <a:endParaRPr lang="en-US" sz="2400" dirty="0"/>
          </a:p>
        </p:txBody>
      </p:sp>
      <p:sp>
        <p:nvSpPr>
          <p:cNvPr id="6" name="step-h-1"/>
          <p:cNvSpPr txBox="1"/>
          <p:nvPr/>
        </p:nvSpPr>
        <p:spPr>
          <a:xfrm>
            <a:off x="822960" y="2834640"/>
            <a:ext cx="2194560" cy="457200"/>
          </a:xfrm>
          <a:prstGeom prst="rect">
            <a:avLst/>
          </a:prstGeom>
          <a:noFill/>
          <a:ln/>
        </p:spPr>
        <p:txBody>
          <a:bodyPr wrap="square" lIns="0" tIns="0" rIns="0" bIns="0" rtlCol="0" anchor="t"/>
          <a:lstStyle/>
          <a:p>
            <a:pPr indent="0" marL="0">
              <a:buNone/>
            </a:pPr>
            <a:r>
              <a:rPr lang="en-US" sz="2100" b="1" dirty="0">
                <a:solidFill>
                  <a:srgbClr val="14181D"/>
                </a:solidFill>
                <a:latin typeface="Arial" pitchFamily="34" charset="0"/>
                <a:ea typeface="Arial" pitchFamily="34" charset="-122"/>
                <a:cs typeface="Arial" pitchFamily="34" charset="-120"/>
              </a:rPr>
              <a:t>Read</a:t>
            </a:r>
            <a:endParaRPr lang="en-US" sz="2100" dirty="0"/>
          </a:p>
        </p:txBody>
      </p:sp>
      <p:sp>
        <p:nvSpPr>
          <p:cNvPr id="7" name="step-b-1"/>
          <p:cNvSpPr txBox="1"/>
          <p:nvPr/>
        </p:nvSpPr>
        <p:spPr>
          <a:xfrm>
            <a:off x="822960" y="3337560"/>
            <a:ext cx="2148840" cy="210312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Reads what the tenant said, in their words, and picks the fault and how urgent it is. Unsure? A person calls back.</a:t>
            </a:r>
            <a:endParaRPr lang="en-US" sz="1500" dirty="0"/>
          </a:p>
        </p:txBody>
      </p:sp>
      <p:sp>
        <p:nvSpPr>
          <p:cNvPr id="8" name="step-2"/>
          <p:cNvSpPr/>
          <p:nvPr/>
        </p:nvSpPr>
        <p:spPr>
          <a:xfrm>
            <a:off x="3364992" y="1600200"/>
            <a:ext cx="2633472" cy="3931920"/>
          </a:xfrm>
          <a:prstGeom prst="roundRect">
            <a:avLst>
              <a:gd name="adj" fmla="val 3472"/>
            </a:avLst>
          </a:prstGeom>
          <a:solidFill>
            <a:srgbClr val="F1F3F5"/>
          </a:solidFill>
          <a:ln w="12700">
            <a:solidFill>
              <a:srgbClr val="F1F3F5"/>
            </a:solidFill>
            <a:prstDash val="solid"/>
          </a:ln>
        </p:spPr>
      </p:sp>
      <p:sp>
        <p:nvSpPr>
          <p:cNvPr id="9" name="step-hex-2"/>
          <p:cNvSpPr/>
          <p:nvPr/>
        </p:nvSpPr>
        <p:spPr>
          <a:xfrm>
            <a:off x="3639312" y="1874520"/>
            <a:ext cx="868680" cy="764438"/>
          </a:xfrm>
          <a:prstGeom prst="hexagon">
            <a:avLst/>
          </a:prstGeom>
          <a:solidFill>
            <a:srgbClr val="1F9D4C"/>
          </a:solidFill>
          <a:ln w="12700">
            <a:solidFill>
              <a:srgbClr val="1F9D4C"/>
            </a:solidFill>
            <a:prstDash val="solid"/>
          </a:ln>
        </p:spPr>
      </p:sp>
      <p:sp>
        <p:nvSpPr>
          <p:cNvPr id="10" name="step-hex-2-t"/>
          <p:cNvSpPr txBox="1"/>
          <p:nvPr/>
        </p:nvSpPr>
        <p:spPr>
          <a:xfrm>
            <a:off x="3639312" y="1874520"/>
            <a:ext cx="868680" cy="764438"/>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2</a:t>
            </a:r>
            <a:endParaRPr lang="en-US" sz="2400" dirty="0"/>
          </a:p>
        </p:txBody>
      </p:sp>
      <p:sp>
        <p:nvSpPr>
          <p:cNvPr id="11" name="step-h-2"/>
          <p:cNvSpPr txBox="1"/>
          <p:nvPr/>
        </p:nvSpPr>
        <p:spPr>
          <a:xfrm>
            <a:off x="3639312" y="2834640"/>
            <a:ext cx="2194560" cy="457200"/>
          </a:xfrm>
          <a:prstGeom prst="rect">
            <a:avLst/>
          </a:prstGeom>
          <a:noFill/>
          <a:ln/>
        </p:spPr>
        <p:txBody>
          <a:bodyPr wrap="square" lIns="0" tIns="0" rIns="0" bIns="0" rtlCol="0" anchor="t"/>
          <a:lstStyle/>
          <a:p>
            <a:pPr indent="0" marL="0">
              <a:buNone/>
            </a:pPr>
            <a:r>
              <a:rPr lang="en-US" sz="2100" b="1" dirty="0">
                <a:solidFill>
                  <a:srgbClr val="14181D"/>
                </a:solidFill>
                <a:latin typeface="Arial" pitchFamily="34" charset="0"/>
                <a:ea typeface="Arial" pitchFamily="34" charset="-122"/>
                <a:cs typeface="Arial" pitchFamily="34" charset="-120"/>
              </a:rPr>
              <a:t>Rank by need</a:t>
            </a:r>
            <a:endParaRPr lang="en-US" sz="2100" dirty="0"/>
          </a:p>
        </p:txBody>
      </p:sp>
      <p:sp>
        <p:nvSpPr>
          <p:cNvPr id="12" name="step-b-2"/>
          <p:cNvSpPr txBox="1"/>
          <p:nvPr/>
        </p:nvSpPr>
        <p:spPr>
          <a:xfrm>
            <a:off x="3639312" y="3337560"/>
            <a:ext cx="2148840" cy="210312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Danger, health, who lives there and time waited set the order. Distance and cost are never in the score.</a:t>
            </a:r>
            <a:endParaRPr lang="en-US" sz="1500" dirty="0"/>
          </a:p>
        </p:txBody>
      </p:sp>
      <p:sp>
        <p:nvSpPr>
          <p:cNvPr id="13" name="step-3"/>
          <p:cNvSpPr/>
          <p:nvPr/>
        </p:nvSpPr>
        <p:spPr>
          <a:xfrm>
            <a:off x="6181344" y="1600200"/>
            <a:ext cx="2633472" cy="3931920"/>
          </a:xfrm>
          <a:prstGeom prst="roundRect">
            <a:avLst>
              <a:gd name="adj" fmla="val 3472"/>
            </a:avLst>
          </a:prstGeom>
          <a:solidFill>
            <a:srgbClr val="F1F3F5"/>
          </a:solidFill>
          <a:ln w="12700">
            <a:solidFill>
              <a:srgbClr val="F1F3F5"/>
            </a:solidFill>
            <a:prstDash val="solid"/>
          </a:ln>
        </p:spPr>
      </p:sp>
      <p:sp>
        <p:nvSpPr>
          <p:cNvPr id="14" name="step-hex-3"/>
          <p:cNvSpPr/>
          <p:nvPr/>
        </p:nvSpPr>
        <p:spPr>
          <a:xfrm>
            <a:off x="6455664" y="1874520"/>
            <a:ext cx="868680" cy="764438"/>
          </a:xfrm>
          <a:prstGeom prst="hexagon">
            <a:avLst/>
          </a:prstGeom>
          <a:solidFill>
            <a:srgbClr val="6E56CF"/>
          </a:solidFill>
          <a:ln w="12700">
            <a:solidFill>
              <a:srgbClr val="6E56CF"/>
            </a:solidFill>
            <a:prstDash val="solid"/>
          </a:ln>
        </p:spPr>
      </p:sp>
      <p:sp>
        <p:nvSpPr>
          <p:cNvPr id="15" name="step-hex-3-t"/>
          <p:cNvSpPr txBox="1"/>
          <p:nvPr/>
        </p:nvSpPr>
        <p:spPr>
          <a:xfrm>
            <a:off x="6455664" y="1874520"/>
            <a:ext cx="868680" cy="764438"/>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3</a:t>
            </a:r>
            <a:endParaRPr lang="en-US" sz="2400" dirty="0"/>
          </a:p>
        </p:txBody>
      </p:sp>
      <p:sp>
        <p:nvSpPr>
          <p:cNvPr id="16" name="step-h-3"/>
          <p:cNvSpPr txBox="1"/>
          <p:nvPr/>
        </p:nvSpPr>
        <p:spPr>
          <a:xfrm>
            <a:off x="6455664" y="2834640"/>
            <a:ext cx="2194560" cy="457200"/>
          </a:xfrm>
          <a:prstGeom prst="rect">
            <a:avLst/>
          </a:prstGeom>
          <a:noFill/>
          <a:ln/>
        </p:spPr>
        <p:txBody>
          <a:bodyPr wrap="square" lIns="0" tIns="0" rIns="0" bIns="0" rtlCol="0" anchor="t"/>
          <a:lstStyle/>
          <a:p>
            <a:pPr indent="0" marL="0">
              <a:buNone/>
            </a:pPr>
            <a:r>
              <a:rPr lang="en-US" sz="2100" b="1" dirty="0">
                <a:solidFill>
                  <a:srgbClr val="14181D"/>
                </a:solidFill>
                <a:latin typeface="Arial" pitchFamily="34" charset="0"/>
                <a:ea typeface="Arial" pitchFamily="34" charset="-122"/>
                <a:cs typeface="Arial" pitchFamily="34" charset="-120"/>
              </a:rPr>
              <a:t>Plan shared trips</a:t>
            </a:r>
            <a:endParaRPr lang="en-US" sz="2100" dirty="0"/>
          </a:p>
        </p:txBody>
      </p:sp>
      <p:sp>
        <p:nvSpPr>
          <p:cNvPr id="17" name="step-b-3"/>
          <p:cNvSpPr txBox="1"/>
          <p:nvPr/>
        </p:nvSpPr>
        <p:spPr>
          <a:xfrm>
            <a:off x="6455664" y="3337560"/>
            <a:ext cx="2148840" cy="210312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Each week it plans who goes where. Neighbouring communities share one trip, found with Uber's H3 hexagons.</a:t>
            </a:r>
            <a:endParaRPr lang="en-US" sz="1500" dirty="0"/>
          </a:p>
        </p:txBody>
      </p:sp>
      <p:sp>
        <p:nvSpPr>
          <p:cNvPr id="18" name="step-4"/>
          <p:cNvSpPr/>
          <p:nvPr/>
        </p:nvSpPr>
        <p:spPr>
          <a:xfrm>
            <a:off x="8997696" y="1600200"/>
            <a:ext cx="2633472" cy="3931920"/>
          </a:xfrm>
          <a:prstGeom prst="roundRect">
            <a:avLst>
              <a:gd name="adj" fmla="val 3472"/>
            </a:avLst>
          </a:prstGeom>
          <a:solidFill>
            <a:srgbClr val="F1F3F5"/>
          </a:solidFill>
          <a:ln w="12700">
            <a:solidFill>
              <a:srgbClr val="F1F3F5"/>
            </a:solidFill>
            <a:prstDash val="solid"/>
          </a:ln>
        </p:spPr>
      </p:sp>
      <p:sp>
        <p:nvSpPr>
          <p:cNvPr id="19" name="step-hex-4"/>
          <p:cNvSpPr/>
          <p:nvPr/>
        </p:nvSpPr>
        <p:spPr>
          <a:xfrm>
            <a:off x="9272016" y="1874520"/>
            <a:ext cx="868680" cy="764438"/>
          </a:xfrm>
          <a:prstGeom prst="hexagon">
            <a:avLst/>
          </a:prstGeom>
          <a:solidFill>
            <a:srgbClr val="D97706"/>
          </a:solidFill>
          <a:ln w="12700">
            <a:solidFill>
              <a:srgbClr val="D97706"/>
            </a:solidFill>
            <a:prstDash val="solid"/>
          </a:ln>
        </p:spPr>
      </p:sp>
      <p:sp>
        <p:nvSpPr>
          <p:cNvPr id="20" name="step-hex-4-t"/>
          <p:cNvSpPr txBox="1"/>
          <p:nvPr/>
        </p:nvSpPr>
        <p:spPr>
          <a:xfrm>
            <a:off x="9272016" y="1874520"/>
            <a:ext cx="868680" cy="764438"/>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4</a:t>
            </a:r>
            <a:endParaRPr lang="en-US" sz="2400" dirty="0"/>
          </a:p>
        </p:txBody>
      </p:sp>
      <p:sp>
        <p:nvSpPr>
          <p:cNvPr id="21" name="step-h-4"/>
          <p:cNvSpPr txBox="1"/>
          <p:nvPr/>
        </p:nvSpPr>
        <p:spPr>
          <a:xfrm>
            <a:off x="9272016" y="2834640"/>
            <a:ext cx="2194560" cy="457200"/>
          </a:xfrm>
          <a:prstGeom prst="rect">
            <a:avLst/>
          </a:prstGeom>
          <a:noFill/>
          <a:ln/>
        </p:spPr>
        <p:txBody>
          <a:bodyPr wrap="square" lIns="0" tIns="0" rIns="0" bIns="0" rtlCol="0" anchor="t"/>
          <a:lstStyle/>
          <a:p>
            <a:pPr indent="0" marL="0">
              <a:buNone/>
            </a:pPr>
            <a:r>
              <a:rPr lang="en-US" sz="2100" b="1" dirty="0">
                <a:solidFill>
                  <a:srgbClr val="14181D"/>
                </a:solidFill>
                <a:latin typeface="Arial" pitchFamily="34" charset="0"/>
                <a:ea typeface="Arial" pitchFamily="34" charset="-122"/>
                <a:cs typeface="Arial" pitchFamily="34" charset="-120"/>
              </a:rPr>
              <a:t>Explain and sign</a:t>
            </a:r>
            <a:endParaRPr lang="en-US" sz="2100" dirty="0"/>
          </a:p>
        </p:txBody>
      </p:sp>
      <p:sp>
        <p:nvSpPr>
          <p:cNvPr id="22" name="step-b-4"/>
          <p:cNvSpPr txBox="1"/>
          <p:nvPr/>
        </p:nvSpPr>
        <p:spPr>
          <a:xfrm>
            <a:off x="9272016" y="3337560"/>
            <a:ext cx="2148840" cy="210312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A named coordinator signs how much cost may count. Every tenant can see why their repair waited.</a:t>
            </a:r>
            <a:endParaRPr lang="en-US" sz="1500" dirty="0"/>
          </a:p>
        </p:txBody>
      </p:sp>
      <p:sp>
        <p:nvSpPr>
          <p:cNvPr id="23" name="views"/>
          <p:cNvSpPr txBox="1"/>
          <p:nvPr/>
        </p:nvSpPr>
        <p:spPr>
          <a:xfrm>
            <a:off x="548640" y="5760720"/>
            <a:ext cx="11064240" cy="457200"/>
          </a:xfrm>
          <a:prstGeom prst="rect">
            <a:avLst/>
          </a:prstGeom>
          <a:noFill/>
          <a:ln/>
        </p:spPr>
        <p:txBody>
          <a:bodyPr wrap="square" lIns="0" tIns="0" rIns="0" bIns="0" rtlCol="0" anchor="t"/>
          <a:lstStyle/>
          <a:p>
            <a:pPr indent="0" marL="0">
              <a:buNone/>
            </a:pPr>
            <a:r>
              <a:rPr lang="en-US" sz="1600" i="1" dirty="0">
                <a:solidFill>
                  <a:srgbClr val="4A525C"/>
                </a:solidFill>
                <a:latin typeface="Calibri" pitchFamily="34" charset="0"/>
                <a:ea typeface="Calibri" pitchFamily="34" charset="-122"/>
                <a:cs typeface="Calibri" pitchFamily="34" charset="-120"/>
              </a:rPr>
              <a:t>One tool, three views: the coordinator plans, the tradesperson gets a run sheet that works without signal, and the tenant gets a straight answer.</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AI that reads tenants' words, and knows when to ask a person</a:t>
            </a:r>
            <a:endParaRPr lang="en-US" sz="2800" dirty="0"/>
          </a:p>
        </p:txBody>
      </p:sp>
      <p:sp>
        <p:nvSpPr>
          <p:cNvPr id="3" name="flow-0"/>
          <p:cNvSpPr/>
          <p:nvPr/>
        </p:nvSpPr>
        <p:spPr>
          <a:xfrm>
            <a:off x="548640" y="1554480"/>
            <a:ext cx="5852160" cy="1188720"/>
          </a:xfrm>
          <a:prstGeom prst="roundRect">
            <a:avLst>
              <a:gd name="adj" fmla="val 7692"/>
            </a:avLst>
          </a:prstGeom>
          <a:solidFill>
            <a:srgbClr val="F1F3F5"/>
          </a:solidFill>
          <a:ln w="12700">
            <a:solidFill>
              <a:srgbClr val="F1F3F5"/>
            </a:solidFill>
            <a:prstDash val="solid"/>
          </a:ln>
        </p:spPr>
      </p:sp>
      <p:sp>
        <p:nvSpPr>
          <p:cNvPr id="4" name="flow-h-0"/>
          <p:cNvSpPr txBox="1"/>
          <p:nvPr/>
        </p:nvSpPr>
        <p:spPr>
          <a:xfrm>
            <a:off x="777240" y="1691640"/>
            <a:ext cx="5394960" cy="365760"/>
          </a:xfrm>
          <a:prstGeom prst="rect">
            <a:avLst/>
          </a:prstGeom>
          <a:noFill/>
          <a:ln/>
        </p:spPr>
        <p:txBody>
          <a:bodyPr wrap="square" lIns="0" tIns="0" rIns="0" bIns="0" rtlCol="0" anchor="t"/>
          <a:lstStyle/>
          <a:p>
            <a:pPr indent="0" marL="0">
              <a:buNone/>
            </a:pPr>
            <a:r>
              <a:rPr lang="en-US" sz="1600" b="1" dirty="0">
                <a:solidFill>
                  <a:srgbClr val="14181D"/>
                </a:solidFill>
                <a:latin typeface="Calibri" pitchFamily="34" charset="0"/>
                <a:ea typeface="Calibri" pitchFamily="34" charset="-122"/>
                <a:cs typeface="Calibri" pitchFamily="34" charset="-120"/>
              </a:rPr>
              <a:t>What the tenant said</a:t>
            </a:r>
            <a:endParaRPr lang="en-US" sz="1600" dirty="0"/>
          </a:p>
        </p:txBody>
      </p:sp>
      <p:sp>
        <p:nvSpPr>
          <p:cNvPr id="5" name="flow-b-0"/>
          <p:cNvSpPr txBox="1"/>
          <p:nvPr/>
        </p:nvSpPr>
        <p:spPr>
          <a:xfrm>
            <a:off x="777240" y="2057400"/>
            <a:ext cx="5394960" cy="640080"/>
          </a:xfrm>
          <a:prstGeom prst="rect">
            <a:avLst/>
          </a:prstGeom>
          <a:noFill/>
          <a:ln/>
        </p:spPr>
        <p:txBody>
          <a:bodyPr wrap="square" lIns="0" tIns="0" rIns="0" bIns="0" rtlCol="0" anchor="t"/>
          <a:lstStyle/>
          <a:p>
            <a:pPr indent="0" marL="0">
              <a:buNone/>
            </a:pPr>
            <a:r>
              <a:rPr lang="en-US" sz="1400" i="1" dirty="0">
                <a:solidFill>
                  <a:srgbClr val="4A525C"/>
                </a:solidFill>
                <a:latin typeface="Calibri" pitchFamily="34" charset="0"/>
                <a:ea typeface="Calibri" pitchFamily="34" charset="-122"/>
                <a:cs typeface="Calibri" pitchFamily="34" charset="-120"/>
              </a:rPr>
              <a:t>“no sparks now but the switch is black and kids touch it”</a:t>
            </a:r>
            <a:endParaRPr lang="en-US" sz="1400" dirty="0"/>
          </a:p>
        </p:txBody>
      </p:sp>
      <p:sp>
        <p:nvSpPr>
          <p:cNvPr id="6" name="flow-1"/>
          <p:cNvSpPr/>
          <p:nvPr/>
        </p:nvSpPr>
        <p:spPr>
          <a:xfrm>
            <a:off x="548640" y="2971800"/>
            <a:ext cx="5852160" cy="1188720"/>
          </a:xfrm>
          <a:prstGeom prst="roundRect">
            <a:avLst>
              <a:gd name="adj" fmla="val 7692"/>
            </a:avLst>
          </a:prstGeom>
          <a:solidFill>
            <a:srgbClr val="DFF2F8"/>
          </a:solidFill>
          <a:ln w="12700">
            <a:solidFill>
              <a:srgbClr val="DFF2F8"/>
            </a:solidFill>
            <a:prstDash val="solid"/>
          </a:ln>
        </p:spPr>
      </p:sp>
      <p:sp>
        <p:nvSpPr>
          <p:cNvPr id="7" name="flow-h-1"/>
          <p:cNvSpPr txBox="1"/>
          <p:nvPr/>
        </p:nvSpPr>
        <p:spPr>
          <a:xfrm>
            <a:off x="777240" y="3108960"/>
            <a:ext cx="5394960" cy="365760"/>
          </a:xfrm>
          <a:prstGeom prst="rect">
            <a:avLst/>
          </a:prstGeom>
          <a:noFill/>
          <a:ln/>
        </p:spPr>
        <p:txBody>
          <a:bodyPr wrap="square" lIns="0" tIns="0" rIns="0" bIns="0" rtlCol="0" anchor="t"/>
          <a:lstStyle/>
          <a:p>
            <a:pPr indent="0" marL="0">
              <a:buNone/>
            </a:pPr>
            <a:r>
              <a:rPr lang="en-US" sz="1600" b="1" dirty="0">
                <a:solidFill>
                  <a:srgbClr val="14181D"/>
                </a:solidFill>
                <a:latin typeface="Calibri" pitchFamily="34" charset="0"/>
                <a:ea typeface="Calibri" pitchFamily="34" charset="-122"/>
                <a:cs typeface="Calibri" pitchFamily="34" charset="-120"/>
              </a:rPr>
              <a:t>Word rules + a learning model</a:t>
            </a:r>
            <a:endParaRPr lang="en-US" sz="1600" dirty="0"/>
          </a:p>
        </p:txBody>
      </p:sp>
      <p:sp>
        <p:nvSpPr>
          <p:cNvPr id="8" name="flow-b-1"/>
          <p:cNvSpPr txBox="1"/>
          <p:nvPr/>
        </p:nvSpPr>
        <p:spPr>
          <a:xfrm>
            <a:off x="777240" y="3474720"/>
            <a:ext cx="5394960" cy="64008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Rules catch known phrases; a logistic regression model catches wording the rules miss</a:t>
            </a:r>
            <a:endParaRPr lang="en-US" sz="1400" dirty="0"/>
          </a:p>
        </p:txBody>
      </p:sp>
      <p:sp>
        <p:nvSpPr>
          <p:cNvPr id="9" name="flow-2"/>
          <p:cNvSpPr/>
          <p:nvPr/>
        </p:nvSpPr>
        <p:spPr>
          <a:xfrm>
            <a:off x="548640" y="4389120"/>
            <a:ext cx="2880360" cy="1188720"/>
          </a:xfrm>
          <a:prstGeom prst="roundRect">
            <a:avLst>
              <a:gd name="adj" fmla="val 7692"/>
            </a:avLst>
          </a:prstGeom>
          <a:solidFill>
            <a:srgbClr val="E3F4E8"/>
          </a:solidFill>
          <a:ln w="12700">
            <a:solidFill>
              <a:srgbClr val="E3F4E8"/>
            </a:solidFill>
            <a:prstDash val="solid"/>
          </a:ln>
        </p:spPr>
      </p:sp>
      <p:sp>
        <p:nvSpPr>
          <p:cNvPr id="10" name="flow-h-2"/>
          <p:cNvSpPr txBox="1"/>
          <p:nvPr/>
        </p:nvSpPr>
        <p:spPr>
          <a:xfrm>
            <a:off x="777240" y="4526280"/>
            <a:ext cx="2423160" cy="365760"/>
          </a:xfrm>
          <a:prstGeom prst="rect">
            <a:avLst/>
          </a:prstGeom>
          <a:noFill/>
          <a:ln/>
        </p:spPr>
        <p:txBody>
          <a:bodyPr wrap="square" lIns="0" tIns="0" rIns="0" bIns="0" rtlCol="0" anchor="t"/>
          <a:lstStyle/>
          <a:p>
            <a:pPr indent="0" marL="0">
              <a:buNone/>
            </a:pPr>
            <a:r>
              <a:rPr lang="en-US" sz="1600" b="1" dirty="0">
                <a:solidFill>
                  <a:srgbClr val="14181D"/>
                </a:solidFill>
                <a:latin typeface="Calibri" pitchFamily="34" charset="0"/>
                <a:ea typeface="Calibri" pitchFamily="34" charset="-122"/>
                <a:cs typeface="Calibri" pitchFamily="34" charset="-120"/>
              </a:rPr>
              <a:t>Sure, and not dangerous?</a:t>
            </a:r>
            <a:endParaRPr lang="en-US" sz="1600" dirty="0"/>
          </a:p>
        </p:txBody>
      </p:sp>
      <p:sp>
        <p:nvSpPr>
          <p:cNvPr id="11" name="flow-b-2"/>
          <p:cNvSpPr txBox="1"/>
          <p:nvPr/>
        </p:nvSpPr>
        <p:spPr>
          <a:xfrm>
            <a:off x="777240" y="4892040"/>
            <a:ext cx="2423160" cy="64008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Ranked straight away</a:t>
            </a:r>
            <a:endParaRPr lang="en-US" sz="1400" dirty="0"/>
          </a:p>
        </p:txBody>
      </p:sp>
      <p:sp>
        <p:nvSpPr>
          <p:cNvPr id="12" name="flow-3"/>
          <p:cNvSpPr/>
          <p:nvPr/>
        </p:nvSpPr>
        <p:spPr>
          <a:xfrm>
            <a:off x="3520440" y="4389120"/>
            <a:ext cx="2880360" cy="1188720"/>
          </a:xfrm>
          <a:prstGeom prst="roundRect">
            <a:avLst>
              <a:gd name="adj" fmla="val 7692"/>
            </a:avLst>
          </a:prstGeom>
          <a:solidFill>
            <a:srgbClr val="FBEEDD"/>
          </a:solidFill>
          <a:ln w="12700">
            <a:solidFill>
              <a:srgbClr val="FBEEDD"/>
            </a:solidFill>
            <a:prstDash val="solid"/>
          </a:ln>
        </p:spPr>
      </p:sp>
      <p:sp>
        <p:nvSpPr>
          <p:cNvPr id="13" name="flow-h-3"/>
          <p:cNvSpPr txBox="1"/>
          <p:nvPr/>
        </p:nvSpPr>
        <p:spPr>
          <a:xfrm>
            <a:off x="3749040" y="4526280"/>
            <a:ext cx="2423160" cy="365760"/>
          </a:xfrm>
          <a:prstGeom prst="rect">
            <a:avLst/>
          </a:prstGeom>
          <a:noFill/>
          <a:ln/>
        </p:spPr>
        <p:txBody>
          <a:bodyPr wrap="square" lIns="0" tIns="0" rIns="0" bIns="0" rtlCol="0" anchor="t"/>
          <a:lstStyle/>
          <a:p>
            <a:pPr indent="0" marL="0">
              <a:buNone/>
            </a:pPr>
            <a:r>
              <a:rPr lang="en-US" sz="1600" b="1" dirty="0">
                <a:solidFill>
                  <a:srgbClr val="14181D"/>
                </a:solidFill>
                <a:latin typeface="Calibri" pitchFamily="34" charset="0"/>
                <a:ea typeface="Calibri" pitchFamily="34" charset="-122"/>
                <a:cs typeface="Calibri" pitchFamily="34" charset="-120"/>
              </a:rPr>
              <a:t>Unsure or risky?</a:t>
            </a:r>
            <a:endParaRPr lang="en-US" sz="1600" dirty="0"/>
          </a:p>
        </p:txBody>
      </p:sp>
      <p:sp>
        <p:nvSpPr>
          <p:cNvPr id="14" name="flow-b-3"/>
          <p:cNvSpPr txBox="1"/>
          <p:nvPr/>
        </p:nvSpPr>
        <p:spPr>
          <a:xfrm>
            <a:off x="3749040" y="4892040"/>
            <a:ext cx="2423160" cy="64008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A person checks today. It never downgrades danger on its own</a:t>
            </a:r>
            <a:endParaRPr lang="en-US" sz="1400" dirty="0"/>
          </a:p>
        </p:txBody>
      </p:sp>
      <p:sp>
        <p:nvSpPr>
          <p:cNvPr id="15" name="arrow-1"/>
          <p:cNvSpPr/>
          <p:nvPr/>
        </p:nvSpPr>
        <p:spPr>
          <a:xfrm>
            <a:off x="3474720" y="2743200"/>
            <a:ext cx="0" cy="228600"/>
          </a:xfrm>
          <a:prstGeom prst="line">
            <a:avLst/>
          </a:prstGeom>
          <a:noFill/>
          <a:ln w="19050">
            <a:solidFill>
              <a:srgbClr val="6B7480"/>
            </a:solidFill>
            <a:prstDash val="solid"/>
            <a:tailEnd type="triangle"/>
          </a:ln>
        </p:spPr>
      </p:sp>
      <p:sp>
        <p:nvSpPr>
          <p:cNvPr id="16" name="arrow-2"/>
          <p:cNvSpPr/>
          <p:nvPr/>
        </p:nvSpPr>
        <p:spPr>
          <a:xfrm>
            <a:off x="3474720" y="4160520"/>
            <a:ext cx="0" cy="228600"/>
          </a:xfrm>
          <a:prstGeom prst="line">
            <a:avLst/>
          </a:prstGeom>
          <a:noFill/>
          <a:ln w="19050">
            <a:solidFill>
              <a:srgbClr val="6B7480"/>
            </a:solidFill>
            <a:prstDash val="solid"/>
            <a:tailEnd type="triangle"/>
          </a:ln>
        </p:spPr>
      </p:sp>
      <p:sp>
        <p:nvSpPr>
          <p:cNvPr id="17" name="s-caught-n"/>
          <p:cNvSpPr txBox="1"/>
          <p:nvPr/>
        </p:nvSpPr>
        <p:spPr>
          <a:xfrm>
            <a:off x="6858000" y="1554480"/>
            <a:ext cx="4754880" cy="868680"/>
          </a:xfrm>
          <a:prstGeom prst="rect">
            <a:avLst/>
          </a:prstGeom>
          <a:noFill/>
          <a:ln/>
        </p:spPr>
        <p:txBody>
          <a:bodyPr wrap="square" lIns="0" tIns="0" rIns="0" bIns="0" rtlCol="0" anchor="t"/>
          <a:lstStyle/>
          <a:p>
            <a:pPr indent="0" marL="0">
              <a:buNone/>
            </a:pPr>
            <a:r>
              <a:rPr lang="en-US" sz="5000" b="1" dirty="0">
                <a:solidFill>
                  <a:srgbClr val="1F9D4C"/>
                </a:solidFill>
                <a:latin typeface="Arial" pitchFamily="34" charset="0"/>
                <a:ea typeface="Arial" pitchFamily="34" charset="-122"/>
                <a:cs typeface="Arial" pitchFamily="34" charset="-120"/>
              </a:rPr>
              <a:t>99.3%</a:t>
            </a:r>
            <a:endParaRPr lang="en-US" sz="5000" dirty="0"/>
          </a:p>
        </p:txBody>
      </p:sp>
      <p:sp>
        <p:nvSpPr>
          <p:cNvPr id="18" name="s-caught-l"/>
          <p:cNvSpPr txBox="1"/>
          <p:nvPr/>
        </p:nvSpPr>
        <p:spPr>
          <a:xfrm>
            <a:off x="6858000" y="2468880"/>
            <a:ext cx="475488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of dangerous reports caught, on wording the AI had never seen, because doubtful ones go to a person</a:t>
            </a:r>
            <a:endParaRPr lang="en-US" sz="1500" dirty="0"/>
          </a:p>
        </p:txBody>
      </p:sp>
      <p:sp>
        <p:nvSpPr>
          <p:cNvPr id="19" name="s-auc-n"/>
          <p:cNvSpPr txBox="1"/>
          <p:nvPr/>
        </p:nvSpPr>
        <p:spPr>
          <a:xfrm>
            <a:off x="6858000" y="3337560"/>
            <a:ext cx="2286000" cy="868680"/>
          </a:xfrm>
          <a:prstGeom prst="rect">
            <a:avLst/>
          </a:prstGeom>
          <a:noFill/>
          <a:ln/>
        </p:spPr>
        <p:txBody>
          <a:bodyPr wrap="square" lIns="0" tIns="0" rIns="0" bIns="0" rtlCol="0" anchor="t"/>
          <a:lstStyle/>
          <a:p>
            <a:pPr indent="0" marL="0">
              <a:buNone/>
            </a:pPr>
            <a:r>
              <a:rPr lang="en-US" sz="4000" b="1" dirty="0">
                <a:solidFill>
                  <a:srgbClr val="0E8FB8"/>
                </a:solidFill>
                <a:latin typeface="Arial" pitchFamily="34" charset="0"/>
                <a:ea typeface="Arial" pitchFamily="34" charset="-122"/>
                <a:cs typeface="Arial" pitchFamily="34" charset="-120"/>
              </a:rPr>
              <a:t>0.84</a:t>
            </a:r>
            <a:endParaRPr lang="en-US" sz="4000" dirty="0"/>
          </a:p>
        </p:txBody>
      </p:sp>
      <p:sp>
        <p:nvSpPr>
          <p:cNvPr id="20" name="s-auc-l"/>
          <p:cNvSpPr txBox="1"/>
          <p:nvPr/>
        </p:nvSpPr>
        <p:spPr>
          <a:xfrm>
            <a:off x="6858000" y="4251960"/>
            <a:ext cx="228600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ROC-AUC for the model alone on new wording (1.00 on familiar)</a:t>
            </a:r>
            <a:endParaRPr lang="en-US" sz="1500" dirty="0"/>
          </a:p>
        </p:txBody>
      </p:sp>
      <p:sp>
        <p:nvSpPr>
          <p:cNvPr id="21" name="s-person-n"/>
          <p:cNvSpPr txBox="1"/>
          <p:nvPr/>
        </p:nvSpPr>
        <p:spPr>
          <a:xfrm>
            <a:off x="9326880" y="3337560"/>
            <a:ext cx="2286000" cy="868680"/>
          </a:xfrm>
          <a:prstGeom prst="rect">
            <a:avLst/>
          </a:prstGeom>
          <a:noFill/>
          <a:ln/>
        </p:spPr>
        <p:txBody>
          <a:bodyPr wrap="square" lIns="0" tIns="0" rIns="0" bIns="0" rtlCol="0" anchor="t"/>
          <a:lstStyle/>
          <a:p>
            <a:pPr indent="0" marL="0">
              <a:buNone/>
            </a:pPr>
            <a:r>
              <a:rPr lang="en-US" sz="4000" b="1" dirty="0">
                <a:solidFill>
                  <a:srgbClr val="D97706"/>
                </a:solidFill>
                <a:latin typeface="Arial" pitchFamily="34" charset="0"/>
                <a:ea typeface="Arial" pitchFamily="34" charset="-122"/>
                <a:cs typeface="Arial" pitchFamily="34" charset="-120"/>
              </a:rPr>
              <a:t>40%</a:t>
            </a:r>
            <a:endParaRPr lang="en-US" sz="4000" dirty="0"/>
          </a:p>
        </p:txBody>
      </p:sp>
      <p:sp>
        <p:nvSpPr>
          <p:cNvPr id="22" name="s-person-l"/>
          <p:cNvSpPr txBox="1"/>
          <p:nvPr/>
        </p:nvSpPr>
        <p:spPr>
          <a:xfrm>
            <a:off x="9326880" y="4251960"/>
            <a:ext cx="228600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of unfamiliar reports sent to a person</a:t>
            </a:r>
            <a:endParaRPr lang="en-US" sz="1500" dirty="0"/>
          </a:p>
        </p:txBody>
      </p:sp>
      <p:sp>
        <p:nvSpPr>
          <p:cNvPr id="23" name="honest"/>
          <p:cNvSpPr txBox="1"/>
          <p:nvPr/>
        </p:nvSpPr>
        <p:spPr>
          <a:xfrm>
            <a:off x="6858000" y="5120640"/>
            <a:ext cx="4754880" cy="1005840"/>
          </a:xfrm>
          <a:prstGeom prst="rect">
            <a:avLst/>
          </a:prstGeom>
          <a:noFill/>
          <a:ln/>
        </p:spPr>
        <p:txBody>
          <a:bodyPr wrap="square" lIns="0" tIns="0" rIns="0" bIns="0" rtlCol="0" anchor="t"/>
          <a:lstStyle/>
          <a:p>
            <a:pPr indent="0" marL="0">
              <a:buNone/>
            </a:pPr>
            <a:r>
              <a:rPr lang="en-US" sz="1400" i="1" dirty="0">
                <a:solidFill>
                  <a:srgbClr val="4A525C"/>
                </a:solidFill>
                <a:latin typeface="Calibri" pitchFamily="34" charset="0"/>
                <a:ea typeface="Calibri" pitchFamily="34" charset="-122"/>
                <a:cs typeface="Calibri" pitchFamily="34" charset="-120"/>
              </a:rPr>
              <a:t>We never show tenants a confidence percentage: when the model said it was 90% sure, it was right about half the time. Being honest about that is part of the design.</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Why we built it on Uber's H3 hexagon grid</a:t>
            </a:r>
            <a:endParaRPr lang="en-US" sz="2800" dirty="0"/>
          </a:p>
        </p:txBody>
      </p:sp>
      <p:sp>
        <p:nvSpPr>
          <p:cNvPr id="3" name="sq-label"/>
          <p:cNvSpPr txBox="1"/>
          <p:nvPr/>
        </p:nvSpPr>
        <p:spPr>
          <a:xfrm>
            <a:off x="548640" y="1417320"/>
            <a:ext cx="2377440" cy="320040"/>
          </a:xfrm>
          <a:prstGeom prst="rect">
            <a:avLst/>
          </a:prstGeom>
          <a:noFill/>
          <a:ln/>
        </p:spPr>
        <p:txBody>
          <a:bodyPr wrap="square" lIns="0" tIns="0" rIns="0" bIns="0" rtlCol="0" anchor="t"/>
          <a:lstStyle/>
          <a:p>
            <a:pPr indent="0" marL="0">
              <a:buNone/>
            </a:pPr>
            <a:r>
              <a:rPr lang="en-US" sz="1500" b="1" dirty="0">
                <a:solidFill>
                  <a:srgbClr val="14181D"/>
                </a:solidFill>
                <a:latin typeface="Calibri" pitchFamily="34" charset="0"/>
                <a:ea typeface="Calibri" pitchFamily="34" charset="-122"/>
                <a:cs typeface="Calibri" pitchFamily="34" charset="-120"/>
              </a:rPr>
              <a:t>Squares</a:t>
            </a:r>
            <a:endParaRPr lang="en-US" sz="1500" dirty="0"/>
          </a:p>
        </p:txBody>
      </p:sp>
      <p:sp>
        <p:nvSpPr>
          <p:cNvPr id="4" name="sq-0-0"/>
          <p:cNvSpPr/>
          <p:nvPr/>
        </p:nvSpPr>
        <p:spPr>
          <a:xfrm>
            <a:off x="548640" y="1783080"/>
            <a:ext cx="658368" cy="658368"/>
          </a:xfrm>
          <a:prstGeom prst="rect">
            <a:avLst/>
          </a:prstGeom>
          <a:solidFill>
            <a:srgbClr val="FBEEDD"/>
          </a:solidFill>
          <a:ln w="12700">
            <a:solidFill>
              <a:srgbClr val="FFFFFF"/>
            </a:solidFill>
            <a:prstDash val="solid"/>
          </a:ln>
        </p:spPr>
      </p:sp>
      <p:sp>
        <p:nvSpPr>
          <p:cNvPr id="5" name="sq-0-1"/>
          <p:cNvSpPr/>
          <p:nvPr/>
        </p:nvSpPr>
        <p:spPr>
          <a:xfrm>
            <a:off x="1261872" y="1783080"/>
            <a:ext cx="658368" cy="658368"/>
          </a:xfrm>
          <a:prstGeom prst="rect">
            <a:avLst/>
          </a:prstGeom>
          <a:solidFill>
            <a:srgbClr val="DFF2F8"/>
          </a:solidFill>
          <a:ln w="12700">
            <a:solidFill>
              <a:srgbClr val="FFFFFF"/>
            </a:solidFill>
            <a:prstDash val="solid"/>
          </a:ln>
        </p:spPr>
      </p:sp>
      <p:sp>
        <p:nvSpPr>
          <p:cNvPr id="6" name="sq-0-2"/>
          <p:cNvSpPr/>
          <p:nvPr/>
        </p:nvSpPr>
        <p:spPr>
          <a:xfrm>
            <a:off x="1975104" y="1783080"/>
            <a:ext cx="658368" cy="658368"/>
          </a:xfrm>
          <a:prstGeom prst="rect">
            <a:avLst/>
          </a:prstGeom>
          <a:solidFill>
            <a:srgbClr val="FBEEDD"/>
          </a:solidFill>
          <a:ln w="12700">
            <a:solidFill>
              <a:srgbClr val="FFFFFF"/>
            </a:solidFill>
            <a:prstDash val="solid"/>
          </a:ln>
        </p:spPr>
      </p:sp>
      <p:sp>
        <p:nvSpPr>
          <p:cNvPr id="7" name="sq-1-0"/>
          <p:cNvSpPr/>
          <p:nvPr/>
        </p:nvSpPr>
        <p:spPr>
          <a:xfrm>
            <a:off x="548640" y="2496312"/>
            <a:ext cx="658368" cy="658368"/>
          </a:xfrm>
          <a:prstGeom prst="rect">
            <a:avLst/>
          </a:prstGeom>
          <a:solidFill>
            <a:srgbClr val="DFF2F8"/>
          </a:solidFill>
          <a:ln w="12700">
            <a:solidFill>
              <a:srgbClr val="FFFFFF"/>
            </a:solidFill>
            <a:prstDash val="solid"/>
          </a:ln>
        </p:spPr>
      </p:sp>
      <p:sp>
        <p:nvSpPr>
          <p:cNvPr id="8" name="sq-1-1"/>
          <p:cNvSpPr/>
          <p:nvPr/>
        </p:nvSpPr>
        <p:spPr>
          <a:xfrm>
            <a:off x="1261872" y="2496312"/>
            <a:ext cx="658368" cy="658368"/>
          </a:xfrm>
          <a:prstGeom prst="rect">
            <a:avLst/>
          </a:prstGeom>
          <a:solidFill>
            <a:srgbClr val="14181D"/>
          </a:solidFill>
          <a:ln w="12700">
            <a:solidFill>
              <a:srgbClr val="FFFFFF"/>
            </a:solidFill>
            <a:prstDash val="solid"/>
          </a:ln>
        </p:spPr>
      </p:sp>
      <p:sp>
        <p:nvSpPr>
          <p:cNvPr id="9" name="sq-1-2"/>
          <p:cNvSpPr/>
          <p:nvPr/>
        </p:nvSpPr>
        <p:spPr>
          <a:xfrm>
            <a:off x="1975104" y="2496312"/>
            <a:ext cx="658368" cy="658368"/>
          </a:xfrm>
          <a:prstGeom prst="rect">
            <a:avLst/>
          </a:prstGeom>
          <a:solidFill>
            <a:srgbClr val="DFF2F8"/>
          </a:solidFill>
          <a:ln w="12700">
            <a:solidFill>
              <a:srgbClr val="FFFFFF"/>
            </a:solidFill>
            <a:prstDash val="solid"/>
          </a:ln>
        </p:spPr>
      </p:sp>
      <p:sp>
        <p:nvSpPr>
          <p:cNvPr id="10" name="sq-2-0"/>
          <p:cNvSpPr/>
          <p:nvPr/>
        </p:nvSpPr>
        <p:spPr>
          <a:xfrm>
            <a:off x="548640" y="3209544"/>
            <a:ext cx="658368" cy="658368"/>
          </a:xfrm>
          <a:prstGeom prst="rect">
            <a:avLst/>
          </a:prstGeom>
          <a:solidFill>
            <a:srgbClr val="FBEEDD"/>
          </a:solidFill>
          <a:ln w="12700">
            <a:solidFill>
              <a:srgbClr val="FFFFFF"/>
            </a:solidFill>
            <a:prstDash val="solid"/>
          </a:ln>
        </p:spPr>
      </p:sp>
      <p:sp>
        <p:nvSpPr>
          <p:cNvPr id="11" name="sq-2-1"/>
          <p:cNvSpPr/>
          <p:nvPr/>
        </p:nvSpPr>
        <p:spPr>
          <a:xfrm>
            <a:off x="1261872" y="3209544"/>
            <a:ext cx="658368" cy="658368"/>
          </a:xfrm>
          <a:prstGeom prst="rect">
            <a:avLst/>
          </a:prstGeom>
          <a:solidFill>
            <a:srgbClr val="DFF2F8"/>
          </a:solidFill>
          <a:ln w="12700">
            <a:solidFill>
              <a:srgbClr val="FFFFFF"/>
            </a:solidFill>
            <a:prstDash val="solid"/>
          </a:ln>
        </p:spPr>
      </p:sp>
      <p:sp>
        <p:nvSpPr>
          <p:cNvPr id="12" name="sq-2-2"/>
          <p:cNvSpPr/>
          <p:nvPr/>
        </p:nvSpPr>
        <p:spPr>
          <a:xfrm>
            <a:off x="1975104" y="3209544"/>
            <a:ext cx="658368" cy="658368"/>
          </a:xfrm>
          <a:prstGeom prst="rect">
            <a:avLst/>
          </a:prstGeom>
          <a:solidFill>
            <a:srgbClr val="FBEEDD"/>
          </a:solidFill>
          <a:ln w="12700">
            <a:solidFill>
              <a:srgbClr val="FFFFFF"/>
            </a:solidFill>
            <a:prstDash val="solid"/>
          </a:ln>
        </p:spPr>
      </p:sp>
      <p:sp>
        <p:nvSpPr>
          <p:cNvPr id="13" name="sq-note"/>
          <p:cNvSpPr txBox="1"/>
          <p:nvPr/>
        </p:nvSpPr>
        <p:spPr>
          <a:xfrm>
            <a:off x="548640" y="3977640"/>
            <a:ext cx="2377440" cy="548640"/>
          </a:xfrm>
          <a:prstGeom prst="rect">
            <a:avLst/>
          </a:prstGeom>
          <a:noFill/>
          <a:ln/>
        </p:spPr>
        <p:txBody>
          <a:bodyPr wrap="square" lIns="0" tIns="0" rIns="0" bIns="0" rtlCol="0" anchor="t"/>
          <a:lstStyle/>
          <a:p>
            <a:pPr indent="0" marL="0">
              <a:buNone/>
            </a:pPr>
            <a:r>
              <a:rPr lang="en-US" sz="1300" dirty="0">
                <a:solidFill>
                  <a:srgbClr val="4A525C"/>
                </a:solidFill>
                <a:latin typeface="Calibri" pitchFamily="34" charset="0"/>
                <a:ea typeface="Calibri" pitchFamily="34" charset="-122"/>
                <a:cs typeface="Calibri" pitchFamily="34" charset="-120"/>
              </a:rPr>
              <a:t>8 neighbours at 2 different distances</a:t>
            </a:r>
            <a:endParaRPr lang="en-US" sz="1300" dirty="0"/>
          </a:p>
        </p:txBody>
      </p:sp>
      <p:sp>
        <p:nvSpPr>
          <p:cNvPr id="14" name="hx-label"/>
          <p:cNvSpPr txBox="1"/>
          <p:nvPr/>
        </p:nvSpPr>
        <p:spPr>
          <a:xfrm>
            <a:off x="3291840" y="1417320"/>
            <a:ext cx="2560320" cy="320040"/>
          </a:xfrm>
          <a:prstGeom prst="rect">
            <a:avLst/>
          </a:prstGeom>
          <a:noFill/>
          <a:ln/>
        </p:spPr>
        <p:txBody>
          <a:bodyPr wrap="square" lIns="0" tIns="0" rIns="0" bIns="0" rtlCol="0" anchor="t"/>
          <a:lstStyle/>
          <a:p>
            <a:pPr indent="0" marL="0">
              <a:buNone/>
            </a:pPr>
            <a:r>
              <a:rPr lang="en-US" sz="1500" b="1" dirty="0">
                <a:solidFill>
                  <a:srgbClr val="14181D"/>
                </a:solidFill>
                <a:latin typeface="Calibri" pitchFamily="34" charset="0"/>
                <a:ea typeface="Calibri" pitchFamily="34" charset="-122"/>
                <a:cs typeface="Calibri" pitchFamily="34" charset="-120"/>
              </a:rPr>
              <a:t>Hexagons</a:t>
            </a:r>
            <a:endParaRPr lang="en-US" sz="1500" dirty="0"/>
          </a:p>
        </p:txBody>
      </p:sp>
      <p:sp>
        <p:nvSpPr>
          <p:cNvPr id="15" name="hx-0"/>
          <p:cNvSpPr/>
          <p:nvPr/>
        </p:nvSpPr>
        <p:spPr>
          <a:xfrm rot="5400000">
            <a:off x="3867912" y="1783080"/>
            <a:ext cx="713232" cy="627644"/>
          </a:xfrm>
          <a:prstGeom prst="hexagon">
            <a:avLst/>
          </a:prstGeom>
          <a:solidFill>
            <a:srgbClr val="DFF2F8"/>
          </a:solidFill>
          <a:ln w="19050">
            <a:solidFill>
              <a:srgbClr val="FFFFFF"/>
            </a:solidFill>
            <a:prstDash val="solid"/>
          </a:ln>
        </p:spPr>
      </p:sp>
      <p:sp>
        <p:nvSpPr>
          <p:cNvPr id="16" name="hx-1"/>
          <p:cNvSpPr/>
          <p:nvPr/>
        </p:nvSpPr>
        <p:spPr>
          <a:xfrm rot="5400000">
            <a:off x="4581144" y="1783080"/>
            <a:ext cx="713232" cy="627644"/>
          </a:xfrm>
          <a:prstGeom prst="hexagon">
            <a:avLst/>
          </a:prstGeom>
          <a:solidFill>
            <a:srgbClr val="DFF2F8"/>
          </a:solidFill>
          <a:ln w="19050">
            <a:solidFill>
              <a:srgbClr val="FFFFFF"/>
            </a:solidFill>
            <a:prstDash val="solid"/>
          </a:ln>
        </p:spPr>
      </p:sp>
      <p:sp>
        <p:nvSpPr>
          <p:cNvPr id="17" name="hx-2"/>
          <p:cNvSpPr/>
          <p:nvPr/>
        </p:nvSpPr>
        <p:spPr>
          <a:xfrm rot="5400000">
            <a:off x="3511296" y="2423277"/>
            <a:ext cx="713232" cy="627644"/>
          </a:xfrm>
          <a:prstGeom prst="hexagon">
            <a:avLst/>
          </a:prstGeom>
          <a:solidFill>
            <a:srgbClr val="DFF2F8"/>
          </a:solidFill>
          <a:ln w="19050">
            <a:solidFill>
              <a:srgbClr val="FFFFFF"/>
            </a:solidFill>
            <a:prstDash val="solid"/>
          </a:ln>
        </p:spPr>
      </p:sp>
      <p:sp>
        <p:nvSpPr>
          <p:cNvPr id="18" name="hx-3"/>
          <p:cNvSpPr/>
          <p:nvPr/>
        </p:nvSpPr>
        <p:spPr>
          <a:xfrm rot="5400000">
            <a:off x="4224528" y="2423277"/>
            <a:ext cx="713232" cy="627644"/>
          </a:xfrm>
          <a:prstGeom prst="hexagon">
            <a:avLst/>
          </a:prstGeom>
          <a:solidFill>
            <a:srgbClr val="14181D"/>
          </a:solidFill>
          <a:ln w="19050">
            <a:solidFill>
              <a:srgbClr val="FFFFFF"/>
            </a:solidFill>
            <a:prstDash val="solid"/>
          </a:ln>
        </p:spPr>
      </p:sp>
      <p:sp>
        <p:nvSpPr>
          <p:cNvPr id="19" name="hx-4"/>
          <p:cNvSpPr/>
          <p:nvPr/>
        </p:nvSpPr>
        <p:spPr>
          <a:xfrm rot="5400000">
            <a:off x="4937760" y="2423277"/>
            <a:ext cx="713232" cy="627644"/>
          </a:xfrm>
          <a:prstGeom prst="hexagon">
            <a:avLst/>
          </a:prstGeom>
          <a:solidFill>
            <a:srgbClr val="DFF2F8"/>
          </a:solidFill>
          <a:ln w="19050">
            <a:solidFill>
              <a:srgbClr val="FFFFFF"/>
            </a:solidFill>
            <a:prstDash val="solid"/>
          </a:ln>
        </p:spPr>
      </p:sp>
      <p:sp>
        <p:nvSpPr>
          <p:cNvPr id="20" name="hx-5"/>
          <p:cNvSpPr/>
          <p:nvPr/>
        </p:nvSpPr>
        <p:spPr>
          <a:xfrm rot="5400000">
            <a:off x="3867912" y="3063474"/>
            <a:ext cx="713232" cy="627644"/>
          </a:xfrm>
          <a:prstGeom prst="hexagon">
            <a:avLst/>
          </a:prstGeom>
          <a:solidFill>
            <a:srgbClr val="DFF2F8"/>
          </a:solidFill>
          <a:ln w="19050">
            <a:solidFill>
              <a:srgbClr val="FFFFFF"/>
            </a:solidFill>
            <a:prstDash val="solid"/>
          </a:ln>
        </p:spPr>
      </p:sp>
      <p:sp>
        <p:nvSpPr>
          <p:cNvPr id="21" name="hx-6"/>
          <p:cNvSpPr/>
          <p:nvPr/>
        </p:nvSpPr>
        <p:spPr>
          <a:xfrm rot="5400000">
            <a:off x="4581144" y="3063474"/>
            <a:ext cx="713232" cy="627644"/>
          </a:xfrm>
          <a:prstGeom prst="hexagon">
            <a:avLst/>
          </a:prstGeom>
          <a:solidFill>
            <a:srgbClr val="DFF2F8"/>
          </a:solidFill>
          <a:ln w="19050">
            <a:solidFill>
              <a:srgbClr val="FFFFFF"/>
            </a:solidFill>
            <a:prstDash val="solid"/>
          </a:ln>
        </p:spPr>
      </p:sp>
      <p:sp>
        <p:nvSpPr>
          <p:cNvPr id="22" name="hx-note"/>
          <p:cNvSpPr txBox="1"/>
          <p:nvPr/>
        </p:nvSpPr>
        <p:spPr>
          <a:xfrm>
            <a:off x="3291840" y="3977640"/>
            <a:ext cx="2560320" cy="548640"/>
          </a:xfrm>
          <a:prstGeom prst="rect">
            <a:avLst/>
          </a:prstGeom>
          <a:noFill/>
          <a:ln/>
        </p:spPr>
        <p:txBody>
          <a:bodyPr wrap="square" lIns="0" tIns="0" rIns="0" bIns="0" rtlCol="0" anchor="t"/>
          <a:lstStyle/>
          <a:p>
            <a:pPr indent="0" marL="0">
              <a:buNone/>
            </a:pPr>
            <a:r>
              <a:rPr lang="en-US" sz="1300" dirty="0">
                <a:solidFill>
                  <a:srgbClr val="4A525C"/>
                </a:solidFill>
                <a:latin typeface="Calibri" pitchFamily="34" charset="0"/>
                <a:ea typeface="Calibri" pitchFamily="34" charset="-122"/>
                <a:cs typeface="Calibri" pitchFamily="34" charset="-120"/>
              </a:rPr>
              <a:t>6 neighbours, all the same distance away</a:t>
            </a:r>
            <a:endParaRPr lang="en-US" sz="1300" dirty="0"/>
          </a:p>
        </p:txBody>
      </p:sp>
      <p:sp>
        <p:nvSpPr>
          <p:cNvPr id="23" name="fair-card"/>
          <p:cNvSpPr/>
          <p:nvPr/>
        </p:nvSpPr>
        <p:spPr>
          <a:xfrm>
            <a:off x="548640" y="4709160"/>
            <a:ext cx="5303520" cy="1417320"/>
          </a:xfrm>
          <a:prstGeom prst="roundRect">
            <a:avLst>
              <a:gd name="adj" fmla="val 6452"/>
            </a:avLst>
          </a:prstGeom>
          <a:solidFill>
            <a:srgbClr val="F1F3F5"/>
          </a:solidFill>
          <a:ln w="12700">
            <a:solidFill>
              <a:srgbClr val="F1F3F5"/>
            </a:solidFill>
            <a:prstDash val="solid"/>
          </a:ln>
        </p:spPr>
      </p:sp>
      <p:sp>
        <p:nvSpPr>
          <p:cNvPr id="24" name="fair-text"/>
          <p:cNvSpPr txBox="1"/>
          <p:nvPr/>
        </p:nvSpPr>
        <p:spPr>
          <a:xfrm>
            <a:off x="777240" y="4892040"/>
            <a:ext cx="4846320" cy="1097280"/>
          </a:xfrm>
          <a:prstGeom prst="rect">
            <a:avLst/>
          </a:prstGeom>
          <a:noFill/>
          <a:ln/>
        </p:spPr>
        <p:txBody>
          <a:bodyPr wrap="square" lIns="0" tIns="0" rIns="0" bIns="0" rtlCol="0" anchor="t"/>
          <a:lstStyle/>
          <a:p>
            <a:pPr indent="0" marL="0">
              <a:buNone/>
            </a:pPr>
            <a:r>
              <a:rPr lang="en-US" sz="1500" b="1" dirty="0">
                <a:solidFill>
                  <a:srgbClr val="14181D"/>
                </a:solidFill>
                <a:latin typeface="Calibri" pitchFamily="34" charset="0"/>
                <a:ea typeface="Calibri" pitchFamily="34" charset="-122"/>
                <a:cs typeface="Calibri" pitchFamily="34" charset="-120"/>
              </a:rPr>
              <a:t>Why it matters: </a:t>
            </a:r>
            <a:pPr indent="0" marL="0">
              <a:buNone/>
            </a:pPr>
            <a:r>
              <a:rPr lang="en-US" sz="1500" dirty="0">
                <a:solidFill>
                  <a:srgbClr val="4A525C"/>
                </a:solidFill>
                <a:latin typeface="Calibri" pitchFamily="34" charset="0"/>
                <a:ea typeface="Calibri" pitchFamily="34" charset="-122"/>
                <a:cs typeface="Calibri" pitchFamily="34" charset="-120"/>
              </a:rPr>
              <a:t>“two hexagons away” is the same distance in every direction, so deciding which communities can share a trip is fair to all of them.</a:t>
            </a:r>
            <a:endParaRPr lang="en-US" sz="1500" dirty="0"/>
          </a:p>
        </p:txBody>
      </p:sp>
      <p:sp>
        <p:nvSpPr>
          <p:cNvPr id="25" name="use-hex-0"/>
          <p:cNvSpPr/>
          <p:nvPr/>
        </p:nvSpPr>
        <p:spPr>
          <a:xfrm>
            <a:off x="6309360" y="1554480"/>
            <a:ext cx="658368" cy="579364"/>
          </a:xfrm>
          <a:prstGeom prst="hexagon">
            <a:avLst/>
          </a:prstGeom>
          <a:solidFill>
            <a:srgbClr val="6E56CF"/>
          </a:solidFill>
          <a:ln w="12700">
            <a:solidFill>
              <a:srgbClr val="6E56CF"/>
            </a:solidFill>
            <a:prstDash val="solid"/>
          </a:ln>
        </p:spPr>
      </p:sp>
      <p:sp>
        <p:nvSpPr>
          <p:cNvPr id="26" name="use-h-0"/>
          <p:cNvSpPr txBox="1"/>
          <p:nvPr/>
        </p:nvSpPr>
        <p:spPr>
          <a:xfrm>
            <a:off x="7178040" y="1463040"/>
            <a:ext cx="4434840" cy="365760"/>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Shared trips</a:t>
            </a:r>
            <a:endParaRPr lang="en-US" sz="1700" dirty="0"/>
          </a:p>
        </p:txBody>
      </p:sp>
      <p:sp>
        <p:nvSpPr>
          <p:cNvPr id="27" name="use-b-0"/>
          <p:cNvSpPr txBox="1"/>
          <p:nvPr/>
        </p:nvSpPr>
        <p:spPr>
          <a:xfrm>
            <a:off x="7178040" y="1847088"/>
            <a:ext cx="4434840" cy="73152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Communities within 2 hexagons (about 90 km) can share a trip, saving $66–$73 per repair</a:t>
            </a:r>
            <a:endParaRPr lang="en-US" sz="1400" dirty="0"/>
          </a:p>
        </p:txBody>
      </p:sp>
      <p:sp>
        <p:nvSpPr>
          <p:cNvPr id="28" name="use-hex-1"/>
          <p:cNvSpPr/>
          <p:nvPr/>
        </p:nvSpPr>
        <p:spPr>
          <a:xfrm>
            <a:off x="6309360" y="2743200"/>
            <a:ext cx="658368" cy="579364"/>
          </a:xfrm>
          <a:prstGeom prst="hexagon">
            <a:avLst/>
          </a:prstGeom>
          <a:solidFill>
            <a:srgbClr val="1F9D4C"/>
          </a:solidFill>
          <a:ln w="12700">
            <a:solidFill>
              <a:srgbClr val="1F9D4C"/>
            </a:solidFill>
            <a:prstDash val="solid"/>
          </a:ln>
        </p:spPr>
      </p:sp>
      <p:sp>
        <p:nvSpPr>
          <p:cNvPr id="29" name="use-h-1"/>
          <p:cNvSpPr txBox="1"/>
          <p:nvPr/>
        </p:nvSpPr>
        <p:spPr>
          <a:xfrm>
            <a:off x="7178040" y="2651760"/>
            <a:ext cx="4434840" cy="365760"/>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Privacy</a:t>
            </a:r>
            <a:endParaRPr lang="en-US" sz="1700" dirty="0"/>
          </a:p>
        </p:txBody>
      </p:sp>
      <p:sp>
        <p:nvSpPr>
          <p:cNvPr id="30" name="use-b-1"/>
          <p:cNvSpPr txBox="1"/>
          <p:nvPr/>
        </p:nvSpPr>
        <p:spPr>
          <a:xfrm>
            <a:off x="7178040" y="3035808"/>
            <a:ext cx="4434840" cy="73152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A house is stored as a small hexagon, not a street address</a:t>
            </a:r>
            <a:endParaRPr lang="en-US" sz="1400" dirty="0"/>
          </a:p>
        </p:txBody>
      </p:sp>
      <p:sp>
        <p:nvSpPr>
          <p:cNvPr id="31" name="use-hex-2"/>
          <p:cNvSpPr/>
          <p:nvPr/>
        </p:nvSpPr>
        <p:spPr>
          <a:xfrm>
            <a:off x="6309360" y="3931920"/>
            <a:ext cx="658368" cy="579364"/>
          </a:xfrm>
          <a:prstGeom prst="hexagon">
            <a:avLst/>
          </a:prstGeom>
          <a:solidFill>
            <a:srgbClr val="0E8FB8"/>
          </a:solidFill>
          <a:ln w="12700">
            <a:solidFill>
              <a:srgbClr val="0E8FB8"/>
            </a:solidFill>
            <a:prstDash val="solid"/>
          </a:ln>
        </p:spPr>
      </p:sp>
      <p:sp>
        <p:nvSpPr>
          <p:cNvPr id="32" name="use-h-2"/>
          <p:cNvSpPr txBox="1"/>
          <p:nvPr/>
        </p:nvSpPr>
        <p:spPr>
          <a:xfrm>
            <a:off x="7178040" y="3840480"/>
            <a:ext cx="4434840" cy="365760"/>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Public numbers</a:t>
            </a:r>
            <a:endParaRPr lang="en-US" sz="1700" dirty="0"/>
          </a:p>
        </p:txBody>
      </p:sp>
      <p:sp>
        <p:nvSpPr>
          <p:cNvPr id="33" name="use-b-2"/>
          <p:cNvSpPr txBox="1"/>
          <p:nvPr/>
        </p:nvSpPr>
        <p:spPr>
          <a:xfrm>
            <a:off x="7178040" y="4224528"/>
            <a:ext cx="4434840" cy="73152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Waits are published per larger hexagon, only where there are at least 5 repairs</a:t>
            </a:r>
            <a:endParaRPr lang="en-US" sz="1400" dirty="0"/>
          </a:p>
        </p:txBody>
      </p:sp>
      <p:sp>
        <p:nvSpPr>
          <p:cNvPr id="34" name="use-hex-3"/>
          <p:cNvSpPr/>
          <p:nvPr/>
        </p:nvSpPr>
        <p:spPr>
          <a:xfrm>
            <a:off x="6309360" y="5120640"/>
            <a:ext cx="658368" cy="579364"/>
          </a:xfrm>
          <a:prstGeom prst="hexagon">
            <a:avLst/>
          </a:prstGeom>
          <a:solidFill>
            <a:srgbClr val="D97706"/>
          </a:solidFill>
          <a:ln w="12700">
            <a:solidFill>
              <a:srgbClr val="D97706"/>
            </a:solidFill>
            <a:prstDash val="solid"/>
          </a:ln>
        </p:spPr>
      </p:sp>
      <p:sp>
        <p:nvSpPr>
          <p:cNvPr id="35" name="use-h-3"/>
          <p:cNvSpPr txBox="1"/>
          <p:nvPr/>
        </p:nvSpPr>
        <p:spPr>
          <a:xfrm>
            <a:off x="7178040" y="5029200"/>
            <a:ext cx="4434840" cy="365760"/>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Field and maps</a:t>
            </a:r>
            <a:endParaRPr lang="en-US" sz="1700" dirty="0"/>
          </a:p>
        </p:txBody>
      </p:sp>
      <p:sp>
        <p:nvSpPr>
          <p:cNvPr id="36" name="use-b-3"/>
          <p:cNvSpPr txBox="1"/>
          <p:nvPr/>
        </p:nvSpPr>
        <p:spPr>
          <a:xfrm>
            <a:off x="7178040" y="5413248"/>
            <a:ext cx="4434840" cy="73152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"Nearby jobs" for tradespeople, the driving-time map, and fast database lookups</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Every week, an optimiser plans the trips</a:t>
            </a:r>
            <a:endParaRPr lang="en-US" sz="2800" dirty="0"/>
          </a:p>
        </p:txBody>
      </p:sp>
      <p:sp>
        <p:nvSpPr>
          <p:cNvPr id="3" name="sep-label"/>
          <p:cNvSpPr txBox="1"/>
          <p:nvPr/>
        </p:nvSpPr>
        <p:spPr>
          <a:xfrm>
            <a:off x="548640" y="1417320"/>
            <a:ext cx="2743200" cy="320040"/>
          </a:xfrm>
          <a:prstGeom prst="rect">
            <a:avLst/>
          </a:prstGeom>
          <a:noFill/>
          <a:ln/>
        </p:spPr>
        <p:txBody>
          <a:bodyPr wrap="square" lIns="0" tIns="0" rIns="0" bIns="0" rtlCol="0" anchor="t"/>
          <a:lstStyle/>
          <a:p>
            <a:pPr indent="0" marL="0">
              <a:buNone/>
            </a:pPr>
            <a:r>
              <a:rPr lang="en-US" sz="1500" b="1" dirty="0">
                <a:solidFill>
                  <a:srgbClr val="14181D"/>
                </a:solidFill>
                <a:latin typeface="Calibri" pitchFamily="34" charset="0"/>
                <a:ea typeface="Calibri" pitchFamily="34" charset="-122"/>
                <a:cs typeface="Calibri" pitchFamily="34" charset="-120"/>
              </a:rPr>
              <a:t>Two separate trips</a:t>
            </a:r>
            <a:endParaRPr lang="en-US" sz="1500" dirty="0"/>
          </a:p>
        </p:txBody>
      </p:sp>
      <p:sp>
        <p:nvSpPr>
          <p:cNvPr id="4" name="sep-hub"/>
          <p:cNvSpPr/>
          <p:nvPr/>
        </p:nvSpPr>
        <p:spPr>
          <a:xfrm>
            <a:off x="731520" y="3291840"/>
            <a:ext cx="685800" cy="603504"/>
          </a:xfrm>
          <a:prstGeom prst="hexagon">
            <a:avLst/>
          </a:prstGeom>
          <a:solidFill>
            <a:srgbClr val="14181D"/>
          </a:solidFill>
          <a:ln w="12700">
            <a:solidFill>
              <a:srgbClr val="14181D"/>
            </a:solidFill>
            <a:prstDash val="solid"/>
          </a:ln>
        </p:spPr>
      </p:sp>
      <p:sp>
        <p:nvSpPr>
          <p:cNvPr id="5" name="sep-hub-l"/>
          <p:cNvSpPr txBox="1"/>
          <p:nvPr/>
        </p:nvSpPr>
        <p:spPr>
          <a:xfrm>
            <a:off x="365760" y="3950208"/>
            <a:ext cx="1417320" cy="320040"/>
          </a:xfrm>
          <a:prstGeom prst="rect">
            <a:avLst/>
          </a:prstGeom>
          <a:noFill/>
          <a:ln/>
        </p:spPr>
        <p:txBody>
          <a:bodyPr wrap="square" lIns="0" tIns="0" rIns="0" bIns="0" rtlCol="0" anchor="t"/>
          <a:lstStyle/>
          <a:p>
            <a:pPr algn="ctr" indent="0" marL="0">
              <a:buNone/>
            </a:pPr>
            <a:r>
              <a:rPr lang="en-US" sz="1300" dirty="0">
                <a:solidFill>
                  <a:srgbClr val="4A525C"/>
                </a:solidFill>
                <a:latin typeface="Calibri" pitchFamily="34" charset="0"/>
                <a:ea typeface="Calibri" pitchFamily="34" charset="-122"/>
                <a:cs typeface="Calibri" pitchFamily="34" charset="-120"/>
              </a:rPr>
              <a:t>Hub</a:t>
            </a:r>
            <a:endParaRPr lang="en-US" sz="1300" dirty="0"/>
          </a:p>
        </p:txBody>
      </p:sp>
      <p:sp>
        <p:nvSpPr>
          <p:cNvPr id="6" name="sep-a"/>
          <p:cNvSpPr/>
          <p:nvPr/>
        </p:nvSpPr>
        <p:spPr>
          <a:xfrm>
            <a:off x="2377440" y="1920240"/>
            <a:ext cx="685800" cy="603504"/>
          </a:xfrm>
          <a:prstGeom prst="hexagon">
            <a:avLst/>
          </a:prstGeom>
          <a:solidFill>
            <a:srgbClr val="6E56CF"/>
          </a:solidFill>
          <a:ln w="12700">
            <a:solidFill>
              <a:srgbClr val="6E56CF"/>
            </a:solidFill>
            <a:prstDash val="solid"/>
          </a:ln>
        </p:spPr>
      </p:sp>
      <p:sp>
        <p:nvSpPr>
          <p:cNvPr id="7" name="sep-a-l"/>
          <p:cNvSpPr txBox="1"/>
          <p:nvPr/>
        </p:nvSpPr>
        <p:spPr>
          <a:xfrm>
            <a:off x="2011680" y="2578608"/>
            <a:ext cx="1417320" cy="320040"/>
          </a:xfrm>
          <a:prstGeom prst="rect">
            <a:avLst/>
          </a:prstGeom>
          <a:noFill/>
          <a:ln/>
        </p:spPr>
        <p:txBody>
          <a:bodyPr wrap="square" lIns="0" tIns="0" rIns="0" bIns="0" rtlCol="0" anchor="t"/>
          <a:lstStyle/>
          <a:p>
            <a:pPr algn="ctr" indent="0" marL="0">
              <a:buNone/>
            </a:pPr>
            <a:r>
              <a:rPr lang="en-US" sz="1300" dirty="0">
                <a:solidFill>
                  <a:srgbClr val="4A525C"/>
                </a:solidFill>
                <a:latin typeface="Calibri" pitchFamily="34" charset="0"/>
                <a:ea typeface="Calibri" pitchFamily="34" charset="-122"/>
                <a:cs typeface="Calibri" pitchFamily="34" charset="-120"/>
              </a:rPr>
              <a:t>Community A</a:t>
            </a:r>
            <a:endParaRPr lang="en-US" sz="1300" dirty="0"/>
          </a:p>
        </p:txBody>
      </p:sp>
      <p:sp>
        <p:nvSpPr>
          <p:cNvPr id="8" name="sep-b"/>
          <p:cNvSpPr/>
          <p:nvPr/>
        </p:nvSpPr>
        <p:spPr>
          <a:xfrm>
            <a:off x="2926080" y="4023360"/>
            <a:ext cx="685800" cy="603504"/>
          </a:xfrm>
          <a:prstGeom prst="hexagon">
            <a:avLst/>
          </a:prstGeom>
          <a:solidFill>
            <a:srgbClr val="6E56CF"/>
          </a:solidFill>
          <a:ln w="12700">
            <a:solidFill>
              <a:srgbClr val="6E56CF"/>
            </a:solidFill>
            <a:prstDash val="solid"/>
          </a:ln>
        </p:spPr>
      </p:sp>
      <p:sp>
        <p:nvSpPr>
          <p:cNvPr id="9" name="sep-b-l"/>
          <p:cNvSpPr txBox="1"/>
          <p:nvPr/>
        </p:nvSpPr>
        <p:spPr>
          <a:xfrm>
            <a:off x="2560320" y="4681728"/>
            <a:ext cx="1417320" cy="320040"/>
          </a:xfrm>
          <a:prstGeom prst="rect">
            <a:avLst/>
          </a:prstGeom>
          <a:noFill/>
          <a:ln/>
        </p:spPr>
        <p:txBody>
          <a:bodyPr wrap="square" lIns="0" tIns="0" rIns="0" bIns="0" rtlCol="0" anchor="t"/>
          <a:lstStyle/>
          <a:p>
            <a:pPr algn="ctr" indent="0" marL="0">
              <a:buNone/>
            </a:pPr>
            <a:r>
              <a:rPr lang="en-US" sz="1300" dirty="0">
                <a:solidFill>
                  <a:srgbClr val="4A525C"/>
                </a:solidFill>
                <a:latin typeface="Calibri" pitchFamily="34" charset="0"/>
                <a:ea typeface="Calibri" pitchFamily="34" charset="-122"/>
                <a:cs typeface="Calibri" pitchFamily="34" charset="-120"/>
              </a:rPr>
              <a:t>Community B</a:t>
            </a:r>
            <a:endParaRPr lang="en-US" sz="1300" dirty="0"/>
          </a:p>
        </p:txBody>
      </p:sp>
      <p:sp>
        <p:nvSpPr>
          <p:cNvPr id="10" name="sep-l1"/>
          <p:cNvSpPr/>
          <p:nvPr/>
        </p:nvSpPr>
        <p:spPr>
          <a:xfrm flipV="1">
            <a:off x="1417320" y="2377440"/>
            <a:ext cx="960120" cy="1143000"/>
          </a:xfrm>
          <a:prstGeom prst="line">
            <a:avLst/>
          </a:prstGeom>
          <a:noFill/>
          <a:ln w="31750">
            <a:solidFill>
              <a:srgbClr val="D97706"/>
            </a:solidFill>
            <a:prstDash val="solid"/>
          </a:ln>
        </p:spPr>
      </p:sp>
      <p:sp>
        <p:nvSpPr>
          <p:cNvPr id="11" name="sep-l2"/>
          <p:cNvSpPr/>
          <p:nvPr/>
        </p:nvSpPr>
        <p:spPr>
          <a:xfrm>
            <a:off x="1417320" y="3749040"/>
            <a:ext cx="1508760" cy="548640"/>
          </a:xfrm>
          <a:prstGeom prst="line">
            <a:avLst/>
          </a:prstGeom>
          <a:noFill/>
          <a:ln w="31750">
            <a:solidFill>
              <a:srgbClr val="D97706"/>
            </a:solidFill>
            <a:prstDash val="solid"/>
          </a:ln>
        </p:spPr>
      </p:sp>
      <p:sp>
        <p:nvSpPr>
          <p:cNvPr id="12" name="sep-note"/>
          <p:cNvSpPr txBox="1"/>
          <p:nvPr/>
        </p:nvSpPr>
        <p:spPr>
          <a:xfrm>
            <a:off x="548640" y="4846320"/>
            <a:ext cx="3108960" cy="320040"/>
          </a:xfrm>
          <a:prstGeom prst="rect">
            <a:avLst/>
          </a:prstGeom>
          <a:noFill/>
          <a:ln/>
        </p:spPr>
        <p:txBody>
          <a:bodyPr wrap="square" lIns="0" tIns="0" rIns="0" bIns="0" rtlCol="0" anchor="t"/>
          <a:lstStyle/>
          <a:p>
            <a:pPr indent="0" marL="0">
              <a:buNone/>
            </a:pPr>
            <a:r>
              <a:rPr lang="en-US" sz="1300" b="1" dirty="0">
                <a:solidFill>
                  <a:srgbClr val="D97706"/>
                </a:solidFill>
                <a:latin typeface="Calibri" pitchFamily="34" charset="0"/>
                <a:ea typeface="Calibri" pitchFamily="34" charset="-122"/>
                <a:cs typeface="Calibri" pitchFamily="34" charset="-120"/>
              </a:rPr>
              <a:t>Two drives there and back</a:t>
            </a:r>
            <a:endParaRPr lang="en-US" sz="1300" dirty="0"/>
          </a:p>
        </p:txBody>
      </p:sp>
      <p:sp>
        <p:nvSpPr>
          <p:cNvPr id="13" name="run-label"/>
          <p:cNvSpPr txBox="1"/>
          <p:nvPr/>
        </p:nvSpPr>
        <p:spPr>
          <a:xfrm>
            <a:off x="4023360" y="1417320"/>
            <a:ext cx="2743200" cy="320040"/>
          </a:xfrm>
          <a:prstGeom prst="rect">
            <a:avLst/>
          </a:prstGeom>
          <a:noFill/>
          <a:ln/>
        </p:spPr>
        <p:txBody>
          <a:bodyPr wrap="square" lIns="0" tIns="0" rIns="0" bIns="0" rtlCol="0" anchor="t"/>
          <a:lstStyle/>
          <a:p>
            <a:pPr indent="0" marL="0">
              <a:buNone/>
            </a:pPr>
            <a:r>
              <a:rPr lang="en-US" sz="1500" b="1" dirty="0">
                <a:solidFill>
                  <a:srgbClr val="14181D"/>
                </a:solidFill>
                <a:latin typeface="Calibri" pitchFamily="34" charset="0"/>
                <a:ea typeface="Calibri" pitchFamily="34" charset="-122"/>
                <a:cs typeface="Calibri" pitchFamily="34" charset="-120"/>
              </a:rPr>
              <a:t>One shared trip</a:t>
            </a:r>
            <a:endParaRPr lang="en-US" sz="1500" dirty="0"/>
          </a:p>
        </p:txBody>
      </p:sp>
      <p:sp>
        <p:nvSpPr>
          <p:cNvPr id="14" name="run-hub"/>
          <p:cNvSpPr/>
          <p:nvPr/>
        </p:nvSpPr>
        <p:spPr>
          <a:xfrm>
            <a:off x="4206240" y="3291840"/>
            <a:ext cx="685800" cy="603504"/>
          </a:xfrm>
          <a:prstGeom prst="hexagon">
            <a:avLst/>
          </a:prstGeom>
          <a:solidFill>
            <a:srgbClr val="14181D"/>
          </a:solidFill>
          <a:ln w="12700">
            <a:solidFill>
              <a:srgbClr val="14181D"/>
            </a:solidFill>
            <a:prstDash val="solid"/>
          </a:ln>
        </p:spPr>
      </p:sp>
      <p:sp>
        <p:nvSpPr>
          <p:cNvPr id="15" name="run-hub-l"/>
          <p:cNvSpPr txBox="1"/>
          <p:nvPr/>
        </p:nvSpPr>
        <p:spPr>
          <a:xfrm>
            <a:off x="3840480" y="3950208"/>
            <a:ext cx="1417320" cy="320040"/>
          </a:xfrm>
          <a:prstGeom prst="rect">
            <a:avLst/>
          </a:prstGeom>
          <a:noFill/>
          <a:ln/>
        </p:spPr>
        <p:txBody>
          <a:bodyPr wrap="square" lIns="0" tIns="0" rIns="0" bIns="0" rtlCol="0" anchor="t"/>
          <a:lstStyle/>
          <a:p>
            <a:pPr algn="ctr" indent="0" marL="0">
              <a:buNone/>
            </a:pPr>
            <a:r>
              <a:rPr lang="en-US" sz="1300" dirty="0">
                <a:solidFill>
                  <a:srgbClr val="4A525C"/>
                </a:solidFill>
                <a:latin typeface="Calibri" pitchFamily="34" charset="0"/>
                <a:ea typeface="Calibri" pitchFamily="34" charset="-122"/>
                <a:cs typeface="Calibri" pitchFamily="34" charset="-120"/>
              </a:rPr>
              <a:t>Hub</a:t>
            </a:r>
            <a:endParaRPr lang="en-US" sz="1300" dirty="0"/>
          </a:p>
        </p:txBody>
      </p:sp>
      <p:sp>
        <p:nvSpPr>
          <p:cNvPr id="16" name="run-a"/>
          <p:cNvSpPr/>
          <p:nvPr/>
        </p:nvSpPr>
        <p:spPr>
          <a:xfrm>
            <a:off x="5852160" y="1920240"/>
            <a:ext cx="685800" cy="603504"/>
          </a:xfrm>
          <a:prstGeom prst="hexagon">
            <a:avLst/>
          </a:prstGeom>
          <a:solidFill>
            <a:srgbClr val="6E56CF"/>
          </a:solidFill>
          <a:ln w="12700">
            <a:solidFill>
              <a:srgbClr val="6E56CF"/>
            </a:solidFill>
            <a:prstDash val="solid"/>
          </a:ln>
        </p:spPr>
      </p:sp>
      <p:sp>
        <p:nvSpPr>
          <p:cNvPr id="17" name="run-a-l"/>
          <p:cNvSpPr txBox="1"/>
          <p:nvPr/>
        </p:nvSpPr>
        <p:spPr>
          <a:xfrm>
            <a:off x="5486400" y="2578608"/>
            <a:ext cx="1417320" cy="320040"/>
          </a:xfrm>
          <a:prstGeom prst="rect">
            <a:avLst/>
          </a:prstGeom>
          <a:noFill/>
          <a:ln/>
        </p:spPr>
        <p:txBody>
          <a:bodyPr wrap="square" lIns="0" tIns="0" rIns="0" bIns="0" rtlCol="0" anchor="t"/>
          <a:lstStyle/>
          <a:p>
            <a:pPr algn="ctr" indent="0" marL="0">
              <a:buNone/>
            </a:pPr>
            <a:r>
              <a:rPr lang="en-US" sz="1300" dirty="0">
                <a:solidFill>
                  <a:srgbClr val="4A525C"/>
                </a:solidFill>
                <a:latin typeface="Calibri" pitchFamily="34" charset="0"/>
                <a:ea typeface="Calibri" pitchFamily="34" charset="-122"/>
                <a:cs typeface="Calibri" pitchFamily="34" charset="-120"/>
              </a:rPr>
              <a:t>Community A</a:t>
            </a:r>
            <a:endParaRPr lang="en-US" sz="1300" dirty="0"/>
          </a:p>
        </p:txBody>
      </p:sp>
      <p:sp>
        <p:nvSpPr>
          <p:cNvPr id="18" name="run-b"/>
          <p:cNvSpPr/>
          <p:nvPr/>
        </p:nvSpPr>
        <p:spPr>
          <a:xfrm>
            <a:off x="6400800" y="4023360"/>
            <a:ext cx="685800" cy="603504"/>
          </a:xfrm>
          <a:prstGeom prst="hexagon">
            <a:avLst/>
          </a:prstGeom>
          <a:solidFill>
            <a:srgbClr val="6E56CF"/>
          </a:solidFill>
          <a:ln w="12700">
            <a:solidFill>
              <a:srgbClr val="6E56CF"/>
            </a:solidFill>
            <a:prstDash val="solid"/>
          </a:ln>
        </p:spPr>
      </p:sp>
      <p:sp>
        <p:nvSpPr>
          <p:cNvPr id="19" name="run-b-l"/>
          <p:cNvSpPr txBox="1"/>
          <p:nvPr/>
        </p:nvSpPr>
        <p:spPr>
          <a:xfrm>
            <a:off x="6035040" y="4681728"/>
            <a:ext cx="1417320" cy="320040"/>
          </a:xfrm>
          <a:prstGeom prst="rect">
            <a:avLst/>
          </a:prstGeom>
          <a:noFill/>
          <a:ln/>
        </p:spPr>
        <p:txBody>
          <a:bodyPr wrap="square" lIns="0" tIns="0" rIns="0" bIns="0" rtlCol="0" anchor="t"/>
          <a:lstStyle/>
          <a:p>
            <a:pPr algn="ctr" indent="0" marL="0">
              <a:buNone/>
            </a:pPr>
            <a:r>
              <a:rPr lang="en-US" sz="1300" dirty="0">
                <a:solidFill>
                  <a:srgbClr val="4A525C"/>
                </a:solidFill>
                <a:latin typeface="Calibri" pitchFamily="34" charset="0"/>
                <a:ea typeface="Calibri" pitchFamily="34" charset="-122"/>
                <a:cs typeface="Calibri" pitchFamily="34" charset="-120"/>
              </a:rPr>
              <a:t>Community B</a:t>
            </a:r>
            <a:endParaRPr lang="en-US" sz="1300" dirty="0"/>
          </a:p>
        </p:txBody>
      </p:sp>
      <p:sp>
        <p:nvSpPr>
          <p:cNvPr id="20" name="run-l1"/>
          <p:cNvSpPr/>
          <p:nvPr/>
        </p:nvSpPr>
        <p:spPr>
          <a:xfrm flipV="1">
            <a:off x="4892040" y="2377440"/>
            <a:ext cx="960120" cy="1143000"/>
          </a:xfrm>
          <a:prstGeom prst="line">
            <a:avLst/>
          </a:prstGeom>
          <a:noFill/>
          <a:ln w="31750">
            <a:solidFill>
              <a:srgbClr val="0E8FB8"/>
            </a:solidFill>
            <a:prstDash val="solid"/>
          </a:ln>
        </p:spPr>
      </p:sp>
      <p:sp>
        <p:nvSpPr>
          <p:cNvPr id="21" name="run-l2"/>
          <p:cNvSpPr/>
          <p:nvPr/>
        </p:nvSpPr>
        <p:spPr>
          <a:xfrm>
            <a:off x="6309360" y="2697480"/>
            <a:ext cx="411480" cy="1325880"/>
          </a:xfrm>
          <a:prstGeom prst="line">
            <a:avLst/>
          </a:prstGeom>
          <a:noFill/>
          <a:ln w="31750">
            <a:solidFill>
              <a:srgbClr val="0E8FB8"/>
            </a:solidFill>
            <a:prstDash val="solid"/>
          </a:ln>
        </p:spPr>
      </p:sp>
      <p:sp>
        <p:nvSpPr>
          <p:cNvPr id="22" name="run-l3"/>
          <p:cNvSpPr/>
          <p:nvPr/>
        </p:nvSpPr>
        <p:spPr>
          <a:xfrm>
            <a:off x="4892040" y="3749040"/>
            <a:ext cx="1508760" cy="548640"/>
          </a:xfrm>
          <a:prstGeom prst="line">
            <a:avLst/>
          </a:prstGeom>
          <a:noFill/>
          <a:ln w="31750">
            <a:solidFill>
              <a:srgbClr val="0E8FB8"/>
            </a:solidFill>
            <a:prstDash val="solid"/>
          </a:ln>
        </p:spPr>
      </p:sp>
      <p:sp>
        <p:nvSpPr>
          <p:cNvPr id="23" name="run-note"/>
          <p:cNvSpPr txBox="1"/>
          <p:nvPr/>
        </p:nvSpPr>
        <p:spPr>
          <a:xfrm>
            <a:off x="4023360" y="4846320"/>
            <a:ext cx="3291840" cy="320040"/>
          </a:xfrm>
          <a:prstGeom prst="rect">
            <a:avLst/>
          </a:prstGeom>
          <a:noFill/>
          <a:ln/>
        </p:spPr>
        <p:txBody>
          <a:bodyPr wrap="square" lIns="0" tIns="0" rIns="0" bIns="0" rtlCol="0" anchor="t"/>
          <a:lstStyle/>
          <a:p>
            <a:pPr indent="0" marL="0">
              <a:buNone/>
            </a:pPr>
            <a:r>
              <a:rPr lang="en-US" sz="1300" b="1" dirty="0">
                <a:solidFill>
                  <a:srgbClr val="0E8FB8"/>
                </a:solidFill>
                <a:latin typeface="Calibri" pitchFamily="34" charset="0"/>
                <a:ea typeface="Calibri" pitchFamily="34" charset="-122"/>
                <a:cs typeface="Calibri" pitchFamily="34" charset="-120"/>
              </a:rPr>
              <a:t>One loop: hub → A → B → hub</a:t>
            </a:r>
            <a:endParaRPr lang="en-US" sz="1300" dirty="0"/>
          </a:p>
        </p:txBody>
      </p:sp>
      <p:sp>
        <p:nvSpPr>
          <p:cNvPr id="24" name="ortools"/>
          <p:cNvSpPr txBox="1"/>
          <p:nvPr/>
        </p:nvSpPr>
        <p:spPr>
          <a:xfrm>
            <a:off x="548640" y="5349240"/>
            <a:ext cx="6766560" cy="77724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Google OR-Tools (CP-SAT) chooses which communities get a visit and which jobs are done, within each tradesperson's 40 hours, road closures and airstrips.</a:t>
            </a:r>
            <a:endParaRPr lang="en-US" sz="1400" dirty="0"/>
          </a:p>
        </p:txBody>
      </p:sp>
      <p:sp>
        <p:nvSpPr>
          <p:cNvPr id="25" name="s-saved-n"/>
          <p:cNvSpPr txBox="1"/>
          <p:nvPr/>
        </p:nvSpPr>
        <p:spPr>
          <a:xfrm>
            <a:off x="7955280" y="1508760"/>
            <a:ext cx="3657600" cy="868680"/>
          </a:xfrm>
          <a:prstGeom prst="rect">
            <a:avLst/>
          </a:prstGeom>
          <a:noFill/>
          <a:ln/>
        </p:spPr>
        <p:txBody>
          <a:bodyPr wrap="square" lIns="0" tIns="0" rIns="0" bIns="0" rtlCol="0" anchor="t"/>
          <a:lstStyle/>
          <a:p>
            <a:pPr indent="0" marL="0">
              <a:buNone/>
            </a:pPr>
            <a:r>
              <a:rPr lang="en-US" sz="4800" b="1" dirty="0">
                <a:solidFill>
                  <a:srgbClr val="0E8FB8"/>
                </a:solidFill>
                <a:latin typeface="Arial" pitchFamily="34" charset="0"/>
                <a:ea typeface="Arial" pitchFamily="34" charset="-122"/>
                <a:cs typeface="Arial" pitchFamily="34" charset="-120"/>
              </a:rPr>
              <a:t>$73</a:t>
            </a:r>
            <a:endParaRPr lang="en-US" sz="4800" dirty="0"/>
          </a:p>
        </p:txBody>
      </p:sp>
      <p:sp>
        <p:nvSpPr>
          <p:cNvPr id="26" name="s-saved-l"/>
          <p:cNvSpPr txBox="1"/>
          <p:nvPr/>
        </p:nvSpPr>
        <p:spPr>
          <a:xfrm>
            <a:off x="7955280" y="2423160"/>
            <a:ext cx="365760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saved per repair by shared trips, against the same plan without them</a:t>
            </a:r>
            <a:endParaRPr lang="en-US" sz="1500" dirty="0"/>
          </a:p>
        </p:txBody>
      </p:sp>
      <p:sp>
        <p:nvSpPr>
          <p:cNvPr id="27" name="s-share-harm-n"/>
          <p:cNvSpPr txBox="1"/>
          <p:nvPr/>
        </p:nvSpPr>
        <p:spPr>
          <a:xfrm>
            <a:off x="7955280" y="3108960"/>
            <a:ext cx="3657600" cy="868680"/>
          </a:xfrm>
          <a:prstGeom prst="rect">
            <a:avLst/>
          </a:prstGeom>
          <a:noFill/>
          <a:ln/>
        </p:spPr>
        <p:txBody>
          <a:bodyPr wrap="square" lIns="0" tIns="0" rIns="0" bIns="0" rtlCol="0" anchor="t"/>
          <a:lstStyle/>
          <a:p>
            <a:pPr indent="0" marL="0">
              <a:buNone/>
            </a:pPr>
            <a:r>
              <a:rPr lang="en-US" sz="4800" b="1" dirty="0">
                <a:solidFill>
                  <a:srgbClr val="1F9D4C"/>
                </a:solidFill>
                <a:latin typeface="Arial" pitchFamily="34" charset="0"/>
                <a:ea typeface="Arial" pitchFamily="34" charset="-122"/>
                <a:cs typeface="Arial" pitchFamily="34" charset="-120"/>
              </a:rPr>
              <a:t>18%</a:t>
            </a:r>
            <a:endParaRPr lang="en-US" sz="4800" dirty="0"/>
          </a:p>
        </p:txBody>
      </p:sp>
      <p:sp>
        <p:nvSpPr>
          <p:cNvPr id="28" name="s-share-harm-l"/>
          <p:cNvSpPr txBox="1"/>
          <p:nvPr/>
        </p:nvSpPr>
        <p:spPr>
          <a:xfrm>
            <a:off x="7955280" y="4023360"/>
            <a:ext cx="365760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fewer days households live with a fault, because the saving buys more visits</a:t>
            </a:r>
            <a:endParaRPr lang="en-US" sz="1500" dirty="0"/>
          </a:p>
        </p:txBody>
      </p:sp>
      <p:sp>
        <p:nvSpPr>
          <p:cNvPr id="29" name="s-optimal-n"/>
          <p:cNvSpPr txBox="1"/>
          <p:nvPr/>
        </p:nvSpPr>
        <p:spPr>
          <a:xfrm>
            <a:off x="7955280" y="4709160"/>
            <a:ext cx="3657600" cy="868680"/>
          </a:xfrm>
          <a:prstGeom prst="rect">
            <a:avLst/>
          </a:prstGeom>
          <a:noFill/>
          <a:ln/>
        </p:spPr>
        <p:txBody>
          <a:bodyPr wrap="square" lIns="0" tIns="0" rIns="0" bIns="0" rtlCol="0" anchor="t"/>
          <a:lstStyle/>
          <a:p>
            <a:pPr indent="0" marL="0">
              <a:buNone/>
            </a:pPr>
            <a:r>
              <a:rPr lang="en-US" sz="4000" b="1" dirty="0">
                <a:solidFill>
                  <a:srgbClr val="6E56CF"/>
                </a:solidFill>
                <a:latin typeface="Arial" pitchFamily="34" charset="0"/>
                <a:ea typeface="Arial" pitchFamily="34" charset="-122"/>
                <a:cs typeface="Arial" pitchFamily="34" charset="-120"/>
              </a:rPr>
              <a:t>99.4%</a:t>
            </a:r>
            <a:endParaRPr lang="en-US" sz="4000" dirty="0"/>
          </a:p>
        </p:txBody>
      </p:sp>
      <p:sp>
        <p:nvSpPr>
          <p:cNvPr id="30" name="s-optimal-l"/>
          <p:cNvSpPr txBox="1"/>
          <p:nvPr/>
        </p:nvSpPr>
        <p:spPr>
          <a:xfrm>
            <a:off x="7955280" y="5623560"/>
            <a:ext cx="365760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of 25,996 weekly plans proved the best possible, in milliseconds</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Fairness costs a little more, and saves months of waiting</a:t>
            </a:r>
            <a:endParaRPr lang="en-US" sz="2800" dirty="0"/>
          </a:p>
        </p:txBody>
      </p:sp>
      <p:graphicFrame>
        <p:nvGraphicFramePr>
          <p:cNvPr id="3" name="harm-chart" descr=""/>
          <p:cNvGraphicFramePr/>
          <p:nvPr/>
        </p:nvGraphicFramePr>
        <p:xfrm>
          <a:off x="548640" y="1371600"/>
          <a:ext cx="576072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result-table"/>
          <p:cNvGraphicFramePr>
            <a:graphicFrameLocks noGrp="1"/>
          </p:cNvGraphicFramePr>
          <p:nvPr>
            <p:extLst>
              <p:ext uri="{D42A27DB-BD31-4B8C-83A1-F6EECF244321}">
                <p14:modId xmlns:p14="http://schemas.microsoft.com/office/powerpoint/2010/main" val="1579011935"/>
              </p:ext>
            </p:extLst>
          </p:nvPr>
        </p:nvGraphicFramePr>
        <p:xfrm>
          <a:off x="6675120" y="1463040"/>
          <a:ext cx="4937760" cy="914400"/>
        </p:xfrm>
        <a:graphic>
          <a:graphicData uri="http://schemas.openxmlformats.org/drawingml/2006/table">
            <a:tbl>
              <a:tblPr/>
              <a:tblGrid>
                <a:gridCol w="2377440"/>
                <a:gridCol w="1280160"/>
                <a:gridCol w="1280160"/>
              </a:tblGrid>
              <a:tr h="502920">
                <a:tc>
                  <a:txBody>
                    <a:bodyPr/>
                    <a:lstStyle/>
                    <a:p>
                      <a:pPr indent="0" marL="0">
                        <a:buNone/>
                      </a:pP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1F3F5"/>
                    </a:solidFill>
                  </a:tcPr>
                </a:tc>
                <a:tc>
                  <a:txBody>
                    <a:bodyPr/>
                    <a:lstStyle/>
                    <a:p>
                      <a:pPr indent="0" marL="0">
                        <a:buNone/>
                      </a:pPr>
                      <a:r>
                        <a:rPr lang="en-US" sz="1500" b="1" dirty="0">
                          <a:solidFill>
                            <a:srgbClr val="14181D"/>
                          </a:solidFill>
                          <a:latin typeface="Calibri" pitchFamily="34" charset="0"/>
                          <a:ea typeface="Calibri" pitchFamily="34" charset="-122"/>
                          <a:cs typeface="Calibri" pitchFamily="34" charset="-120"/>
                        </a:rPr>
                        <a:t>Cheapest first</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1F3F5"/>
                    </a:solidFill>
                  </a:tcPr>
                </a:tc>
                <a:tc>
                  <a:txBody>
                    <a:bodyPr/>
                    <a:lstStyle/>
                    <a:p>
                      <a:pPr indent="0" marL="0">
                        <a:buNone/>
                      </a:pPr>
                      <a:r>
                        <a:rPr lang="en-US" sz="1500" b="1" dirty="0">
                          <a:solidFill>
                            <a:srgbClr val="14181D"/>
                          </a:solidFill>
                          <a:latin typeface="Calibri" pitchFamily="34" charset="0"/>
                          <a:ea typeface="Calibri" pitchFamily="34" charset="-122"/>
                          <a:cs typeface="Calibri" pitchFamily="34" charset="-120"/>
                        </a:rPr>
                        <a:t>ReachNT</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1F3F5"/>
                    </a:solidFill>
                  </a:tcPr>
                </a:tc>
              </a:tr>
              <a:tr h="502920">
                <a:tc>
                  <a:txBody>
                    <a:bodyPr/>
                    <a:lstStyle/>
                    <a:p>
                      <a:pPr indent="0" marL="0">
                        <a:buNone/>
                      </a:pPr>
                      <a:r>
                        <a:rPr lang="en-US" sz="1500" b="1" dirty="0">
                          <a:solidFill>
                            <a:srgbClr val="14181D"/>
                          </a:solidFill>
                          <a:latin typeface="Calibri" pitchFamily="34" charset="0"/>
                          <a:ea typeface="Calibri" pitchFamily="34" charset="-122"/>
                          <a:cs typeface="Calibri" pitchFamily="34" charset="-120"/>
                        </a:rPr>
                        <a:t>Average cost per repair</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c>
                  <a:txBody>
                    <a:bodyPr/>
                    <a:lstStyle/>
                    <a:p>
                      <a:pPr indent="0" marL="0">
                        <a:buNone/>
                      </a:pPr>
                      <a:r>
                        <a:rPr lang="en-US" sz="1500" dirty="0">
                          <a:solidFill>
                            <a:srgbClr val="14181D"/>
                          </a:solidFill>
                          <a:latin typeface="Calibri" pitchFamily="34" charset="0"/>
                          <a:ea typeface="Calibri" pitchFamily="34" charset="-122"/>
                          <a:cs typeface="Calibri" pitchFamily="34" charset="-120"/>
                        </a:rPr>
                        <a:t>$559</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c>
                  <a:txBody>
                    <a:bodyPr/>
                    <a:lstStyle/>
                    <a:p>
                      <a:pPr indent="0" marL="0">
                        <a:buNone/>
                      </a:pPr>
                      <a:r>
                        <a:rPr lang="en-US" sz="1500" dirty="0">
                          <a:solidFill>
                            <a:srgbClr val="0E8FB8"/>
                          </a:solidFill>
                          <a:latin typeface="Calibri" pitchFamily="34" charset="0"/>
                          <a:ea typeface="Calibri" pitchFamily="34" charset="-122"/>
                          <a:cs typeface="Calibri" pitchFamily="34" charset="-120"/>
                        </a:rPr>
                        <a:t>$803</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14181D"/>
                          </a:solidFill>
                          <a:latin typeface="Calibri" pitchFamily="34" charset="0"/>
                          <a:ea typeface="Calibri" pitchFamily="34" charset="-122"/>
                          <a:cs typeface="Calibri" pitchFamily="34" charset="-120"/>
                        </a:rPr>
                        <a:t>9 in 10 urgent remote repairs fixed within</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c>
                  <a:txBody>
                    <a:bodyPr/>
                    <a:lstStyle/>
                    <a:p>
                      <a:pPr indent="0" marL="0">
                        <a:buNone/>
                      </a:pPr>
                      <a:r>
                        <a:rPr lang="en-US" sz="1500" dirty="0">
                          <a:solidFill>
                            <a:srgbClr val="14181D"/>
                          </a:solidFill>
                          <a:latin typeface="Calibri" pitchFamily="34" charset="0"/>
                          <a:ea typeface="Calibri" pitchFamily="34" charset="-122"/>
                          <a:cs typeface="Calibri" pitchFamily="34" charset="-120"/>
                        </a:rPr>
                        <a:t>62 days</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c>
                  <a:txBody>
                    <a:bodyPr/>
                    <a:lstStyle/>
                    <a:p>
                      <a:pPr indent="0" marL="0">
                        <a:buNone/>
                      </a:pPr>
                      <a:r>
                        <a:rPr lang="en-US" sz="1500" dirty="0">
                          <a:solidFill>
                            <a:srgbClr val="0E8FB8"/>
                          </a:solidFill>
                          <a:latin typeface="Calibri" pitchFamily="34" charset="0"/>
                          <a:ea typeface="Calibri" pitchFamily="34" charset="-122"/>
                          <a:cs typeface="Calibri" pitchFamily="34" charset="-120"/>
                        </a:rPr>
                        <a:t>3 days</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14181D"/>
                          </a:solidFill>
                          <a:latin typeface="Calibri" pitchFamily="34" charset="0"/>
                          <a:ea typeface="Calibri" pitchFamily="34" charset="-122"/>
                          <a:cs typeface="Calibri" pitchFamily="34" charset="-120"/>
                        </a:rPr>
                        <a:t>Days living with a fault</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c>
                  <a:txBody>
                    <a:bodyPr/>
                    <a:lstStyle/>
                    <a:p>
                      <a:pPr indent="0" marL="0">
                        <a:buNone/>
                      </a:pPr>
                      <a:r>
                        <a:rPr lang="en-US" sz="1500" dirty="0">
                          <a:solidFill>
                            <a:srgbClr val="14181D"/>
                          </a:solidFill>
                          <a:latin typeface="Calibri" pitchFamily="34" charset="0"/>
                          <a:ea typeface="Calibri" pitchFamily="34" charset="-122"/>
                          <a:cs typeface="Calibri" pitchFamily="34" charset="-120"/>
                        </a:rPr>
                        <a:t>226k</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c>
                  <a:txBody>
                    <a:bodyPr/>
                    <a:lstStyle/>
                    <a:p>
                      <a:pPr indent="0" marL="0">
                        <a:buNone/>
                      </a:pPr>
                      <a:r>
                        <a:rPr lang="en-US" sz="1500" dirty="0">
                          <a:solidFill>
                            <a:srgbClr val="0E8FB8"/>
                          </a:solidFill>
                          <a:latin typeface="Calibri" pitchFamily="34" charset="0"/>
                          <a:ea typeface="Calibri" pitchFamily="34" charset="-122"/>
                          <a:cs typeface="Calibri" pitchFamily="34" charset="-120"/>
                        </a:rPr>
                        <a:t>61k</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r>
            </a:tbl>
          </a:graphicData>
        </a:graphic>
      </p:graphicFrame>
      <p:sp>
        <p:nvSpPr>
          <p:cNvPr id="5" name="verdict-card"/>
          <p:cNvSpPr/>
          <p:nvPr/>
        </p:nvSpPr>
        <p:spPr>
          <a:xfrm>
            <a:off x="6675120" y="3886200"/>
            <a:ext cx="4937760" cy="1691640"/>
          </a:xfrm>
          <a:prstGeom prst="roundRect">
            <a:avLst>
              <a:gd name="adj" fmla="val 5405"/>
            </a:avLst>
          </a:prstGeom>
          <a:solidFill>
            <a:srgbClr val="DFF2F8"/>
          </a:solidFill>
          <a:ln w="12700">
            <a:solidFill>
              <a:srgbClr val="DFF2F8"/>
            </a:solidFill>
            <a:prstDash val="solid"/>
          </a:ln>
        </p:spPr>
      </p:sp>
      <p:sp>
        <p:nvSpPr>
          <p:cNvPr id="6" name="verdict"/>
          <p:cNvSpPr txBox="1"/>
          <p:nvPr/>
        </p:nvSpPr>
        <p:spPr>
          <a:xfrm>
            <a:off x="6903720" y="4069080"/>
            <a:ext cx="4572000" cy="457200"/>
          </a:xfrm>
          <a:prstGeom prst="rect">
            <a:avLst/>
          </a:prstGeom>
          <a:noFill/>
          <a:ln/>
        </p:spPr>
        <p:txBody>
          <a:bodyPr wrap="square" lIns="0" tIns="0" rIns="0" bIns="0" rtlCol="0" anchor="t"/>
          <a:lstStyle/>
          <a:p>
            <a:pPr indent="0" marL="0">
              <a:buNone/>
            </a:pPr>
            <a:r>
              <a:rPr lang="en-US" sz="2000" b="1" dirty="0">
                <a:solidFill>
                  <a:srgbClr val="14181D"/>
                </a:solidFill>
                <a:latin typeface="Calibri" pitchFamily="34" charset="0"/>
                <a:ea typeface="Calibri" pitchFamily="34" charset="-122"/>
                <a:cs typeface="Calibri" pitchFamily="34" charset="-120"/>
              </a:rPr>
              <a:t>+44% cost, 73% fewer days with a fault</a:t>
            </a:r>
            <a:endParaRPr lang="en-US" sz="2000" dirty="0"/>
          </a:p>
        </p:txBody>
      </p:sp>
      <p:sp>
        <p:nvSpPr>
          <p:cNvPr id="7" name="years"/>
          <p:cNvSpPr txBox="1"/>
          <p:nvPr/>
        </p:nvSpPr>
        <p:spPr>
          <a:xfrm>
            <a:off x="6903720" y="4572000"/>
            <a:ext cx="4572000" cy="86868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It held in all five random years we tested: 73%–75% fewer fault-days, for 42%–46% more per repair.</a:t>
            </a:r>
            <a:endParaRPr lang="en-US" sz="1500" dirty="0"/>
          </a:p>
        </p:txBody>
      </p:sp>
      <p:sp>
        <p:nvSpPr>
          <p:cNvPr id="8" name="basis"/>
          <p:cNvSpPr txBox="1"/>
          <p:nvPr/>
        </p:nvSpPr>
        <p:spPr>
          <a:xfrm>
            <a:off x="548640" y="5760720"/>
            <a:ext cx="11064240" cy="365760"/>
          </a:xfrm>
          <a:prstGeom prst="rect">
            <a:avLst/>
          </a:prstGeom>
          <a:noFill/>
          <a:ln/>
        </p:spPr>
        <p:txBody>
          <a:bodyPr wrap="square" lIns="0" tIns="0" rIns="0" bIns="0" rtlCol="0" anchor="t"/>
          <a:lstStyle/>
          <a:p>
            <a:pPr indent="0" marL="0">
              <a:buNone/>
            </a:pPr>
            <a:r>
              <a:rPr lang="en-US" sz="1300" dirty="0">
                <a:solidFill>
                  <a:srgbClr val="6B7480"/>
                </a:solidFill>
                <a:latin typeface="Calibri" pitchFamily="34" charset="0"/>
                <a:ea typeface="Calibri" pitchFamily="34" charset="-122"/>
                <a:cs typeface="Calibri" pitchFamily="34" charset="-120"/>
              </a:rPr>
              <a:t>One simulated year on real NT geography: 37,508 synthetic repair requests, 70 communities, 5 trade hubs.</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rtlCol="0" anchor="t"/>
          <a:lstStyle/>
          <a:p>
            <a:pPr algn="l" indent="0" marL="0">
              <a:buNone/>
            </a:pPr>
            <a:r>
              <a:rPr lang="en-US" sz="3000" b="1" dirty="0">
                <a:solidFill>
                  <a:schemeClr val="bg1"/>
                </a:solidFill>
                <a:latin typeface="Arial" pitchFamily="34" charset="0"/>
                <a:ea typeface="Arial" pitchFamily="34" charset="-122"/>
                <a:cs typeface="Arial" pitchFamily="34" charset="-120"/>
              </a:rPr>
              <a:t>Live now, on a real satellite map, and on any phone</a:t>
            </a:r>
            <a:endParaRPr lang="en-US" sz="3000" dirty="0"/>
          </a:p>
        </p:txBody>
      </p:sp>
      <p:pic>
        <p:nvPicPr>
          <p:cNvPr id="3" name="shot-coord" descr="shot-coord">    </p:cNvPr>
          <p:cNvPicPr>
            <a:picLocks noChangeAspect="1"/>
          </p:cNvPicPr>
          <p:nvPr/>
        </p:nvPicPr>
        <p:blipFill>
          <a:blip r:embed="rId1"/>
          <a:stretch>
            <a:fillRect/>
          </a:stretch>
        </p:blipFill>
        <p:spPr>
          <a:xfrm>
            <a:off x="548640" y="1280160"/>
            <a:ext cx="6949440" cy="4343400"/>
          </a:xfrm>
          <a:prstGeom prst="rect">
            <a:avLst/>
          </a:prstGeom>
        </p:spPr>
      </p:pic>
      <p:pic>
        <p:nvPicPr>
          <p:cNvPr id="4" name="shot-coord_phone" descr="shot-coord_phone">    </p:cNvPr>
          <p:cNvPicPr>
            <a:picLocks noChangeAspect="1"/>
          </p:cNvPicPr>
          <p:nvPr/>
        </p:nvPicPr>
        <p:blipFill>
          <a:blip r:embed="rId2"/>
          <a:stretch>
            <a:fillRect/>
          </a:stretch>
        </p:blipFill>
        <p:spPr>
          <a:xfrm>
            <a:off x="7818120" y="1280160"/>
            <a:ext cx="1188720" cy="2569464"/>
          </a:xfrm>
          <a:prstGeom prst="rect">
            <a:avLst/>
          </a:prstGeom>
        </p:spPr>
      </p:pic>
      <p:sp>
        <p:nvSpPr>
          <p:cNvPr id="5" name="shot-l-0"/>
          <p:cNvSpPr txBox="1"/>
          <p:nvPr/>
        </p:nvSpPr>
        <p:spPr>
          <a:xfrm>
            <a:off x="7726680" y="3931920"/>
            <a:ext cx="1371600" cy="274320"/>
          </a:xfrm>
          <a:prstGeom prst="rect">
            <a:avLst/>
          </a:prstGeom>
          <a:noFill/>
          <a:ln/>
        </p:spPr>
        <p:txBody>
          <a:bodyPr wrap="square" lIns="0" tIns="0" rIns="0" bIns="0" rtlCol="0" anchor="t"/>
          <a:lstStyle/>
          <a:p>
            <a:pPr algn="ctr" indent="0" marL="0">
              <a:buNone/>
            </a:pPr>
            <a:r>
              <a:rPr lang="en-US" sz="1200" dirty="0">
                <a:solidFill>
                  <a:srgbClr val="C9CFD6"/>
                </a:solidFill>
                <a:latin typeface="Calibri" pitchFamily="34" charset="0"/>
                <a:ea typeface="Calibri" pitchFamily="34" charset="-122"/>
                <a:cs typeface="Calibri" pitchFamily="34" charset="-120"/>
              </a:rPr>
              <a:t>Coordinator</a:t>
            </a:r>
            <a:endParaRPr lang="en-US" sz="1200" dirty="0"/>
          </a:p>
        </p:txBody>
      </p:sp>
      <p:pic>
        <p:nvPicPr>
          <p:cNvPr id="6" name="shot-field_phone" descr="shot-field_phone">    </p:cNvPr>
          <p:cNvPicPr>
            <a:picLocks noChangeAspect="1"/>
          </p:cNvPicPr>
          <p:nvPr/>
        </p:nvPicPr>
        <p:blipFill>
          <a:blip r:embed="rId3"/>
          <a:stretch>
            <a:fillRect/>
          </a:stretch>
        </p:blipFill>
        <p:spPr>
          <a:xfrm>
            <a:off x="9116568" y="1280160"/>
            <a:ext cx="1188720" cy="2569464"/>
          </a:xfrm>
          <a:prstGeom prst="rect">
            <a:avLst/>
          </a:prstGeom>
        </p:spPr>
      </p:pic>
      <p:sp>
        <p:nvSpPr>
          <p:cNvPr id="7" name="shot-l-1"/>
          <p:cNvSpPr txBox="1"/>
          <p:nvPr/>
        </p:nvSpPr>
        <p:spPr>
          <a:xfrm>
            <a:off x="9025128" y="3931920"/>
            <a:ext cx="1371600" cy="274320"/>
          </a:xfrm>
          <a:prstGeom prst="rect">
            <a:avLst/>
          </a:prstGeom>
          <a:noFill/>
          <a:ln/>
        </p:spPr>
        <p:txBody>
          <a:bodyPr wrap="square" lIns="0" tIns="0" rIns="0" bIns="0" rtlCol="0" anchor="t"/>
          <a:lstStyle/>
          <a:p>
            <a:pPr algn="ctr" indent="0" marL="0">
              <a:buNone/>
            </a:pPr>
            <a:r>
              <a:rPr lang="en-US" sz="1200" dirty="0">
                <a:solidFill>
                  <a:srgbClr val="C9CFD6"/>
                </a:solidFill>
                <a:latin typeface="Calibri" pitchFamily="34" charset="0"/>
                <a:ea typeface="Calibri" pitchFamily="34" charset="-122"/>
                <a:cs typeface="Calibri" pitchFamily="34" charset="-120"/>
              </a:rPr>
              <a:t>Tradesperson</a:t>
            </a:r>
            <a:endParaRPr lang="en-US" sz="1200" dirty="0"/>
          </a:p>
        </p:txBody>
      </p:sp>
      <p:pic>
        <p:nvPicPr>
          <p:cNvPr id="8" name="shot-tenant_phone" descr="shot-tenant_phone">    </p:cNvPr>
          <p:cNvPicPr>
            <a:picLocks noChangeAspect="1"/>
          </p:cNvPicPr>
          <p:nvPr/>
        </p:nvPicPr>
        <p:blipFill>
          <a:blip r:embed="rId4"/>
          <a:stretch>
            <a:fillRect/>
          </a:stretch>
        </p:blipFill>
        <p:spPr>
          <a:xfrm>
            <a:off x="10415016" y="1280160"/>
            <a:ext cx="1188720" cy="2569464"/>
          </a:xfrm>
          <a:prstGeom prst="rect">
            <a:avLst/>
          </a:prstGeom>
        </p:spPr>
      </p:pic>
      <p:sp>
        <p:nvSpPr>
          <p:cNvPr id="9" name="shot-l-2"/>
          <p:cNvSpPr txBox="1"/>
          <p:nvPr/>
        </p:nvSpPr>
        <p:spPr>
          <a:xfrm>
            <a:off x="10323576" y="3931920"/>
            <a:ext cx="1371600" cy="274320"/>
          </a:xfrm>
          <a:prstGeom prst="rect">
            <a:avLst/>
          </a:prstGeom>
          <a:noFill/>
          <a:ln/>
        </p:spPr>
        <p:txBody>
          <a:bodyPr wrap="square" lIns="0" tIns="0" rIns="0" bIns="0" rtlCol="0" anchor="t"/>
          <a:lstStyle/>
          <a:p>
            <a:pPr algn="ctr" indent="0" marL="0">
              <a:buNone/>
            </a:pPr>
            <a:r>
              <a:rPr lang="en-US" sz="1200" dirty="0">
                <a:solidFill>
                  <a:srgbClr val="C9CFD6"/>
                </a:solidFill>
                <a:latin typeface="Calibri" pitchFamily="34" charset="0"/>
                <a:ea typeface="Calibri" pitchFamily="34" charset="-122"/>
                <a:cs typeface="Calibri" pitchFamily="34" charset="-120"/>
              </a:rPr>
              <a:t>Tenant</a:t>
            </a:r>
            <a:endParaRPr lang="en-US" sz="1200" dirty="0"/>
          </a:p>
        </p:txBody>
      </p:sp>
      <p:sp>
        <p:nvSpPr>
          <p:cNvPr id="10" name="feat-0"/>
          <p:cNvSpPr txBox="1"/>
          <p:nvPr/>
        </p:nvSpPr>
        <p:spPr>
          <a:xfrm>
            <a:off x="7818120" y="4434840"/>
            <a:ext cx="3840480" cy="548640"/>
          </a:xfrm>
          <a:prstGeom prst="rect">
            <a:avLst/>
          </a:prstGeom>
          <a:noFill/>
          <a:ln/>
        </p:spPr>
        <p:txBody>
          <a:bodyPr wrap="square" lIns="0" tIns="0" rIns="0" bIns="0" rtlCol="0" anchor="t"/>
          <a:lstStyle/>
          <a:p>
            <a:pPr marL="342900" indent="-342900">
              <a:buSzPct val="100000"/>
              <a:buChar char="•"/>
            </a:pPr>
            <a:r>
              <a:rPr lang="en-US" sz="1300" dirty="0">
                <a:solidFill>
                  <a:srgbClr val="E3E7EB"/>
                </a:solidFill>
                <a:latin typeface="Calibri" pitchFamily="34" charset="0"/>
                <a:ea typeface="Calibri" pitchFamily="34" charset="-122"/>
                <a:cs typeface="Calibri" pitchFamily="34" charset="-120"/>
              </a:rPr>
              <a:t>Works without signal: the run sheet saves updates on the phone and sends them later</a:t>
            </a:r>
            <a:endParaRPr lang="en-US" sz="1300" dirty="0"/>
          </a:p>
        </p:txBody>
      </p:sp>
      <p:sp>
        <p:nvSpPr>
          <p:cNvPr id="11" name="feat-1"/>
          <p:cNvSpPr txBox="1"/>
          <p:nvPr/>
        </p:nvSpPr>
        <p:spPr>
          <a:xfrm>
            <a:off x="7818120" y="5001768"/>
            <a:ext cx="3840480" cy="548640"/>
          </a:xfrm>
          <a:prstGeom prst="rect">
            <a:avLst/>
          </a:prstGeom>
          <a:noFill/>
          <a:ln/>
        </p:spPr>
        <p:txBody>
          <a:bodyPr wrap="square" lIns="0" tIns="0" rIns="0" bIns="0" rtlCol="0" anchor="t"/>
          <a:lstStyle/>
          <a:p>
            <a:pPr marL="342900" indent="-342900">
              <a:buSzPct val="100000"/>
              <a:buChar char="•"/>
            </a:pPr>
            <a:r>
              <a:rPr lang="en-US" sz="1300" dirty="0">
                <a:solidFill>
                  <a:srgbClr val="E3E7EB"/>
                </a:solidFill>
                <a:latin typeface="Calibri" pitchFamily="34" charset="0"/>
                <a:ea typeface="Calibri" pitchFamily="34" charset="-122"/>
                <a:cs typeface="Calibri" pitchFamily="34" charset="-120"/>
              </a:rPr>
              <a:t>Every repair and run sheet saves as a PDF</a:t>
            </a:r>
            <a:endParaRPr lang="en-US" sz="1300" dirty="0"/>
          </a:p>
        </p:txBody>
      </p:sp>
      <p:sp>
        <p:nvSpPr>
          <p:cNvPr id="12" name="feat-2"/>
          <p:cNvSpPr txBox="1"/>
          <p:nvPr/>
        </p:nvSpPr>
        <p:spPr>
          <a:xfrm>
            <a:off x="7818120" y="5568696"/>
            <a:ext cx="3840480" cy="548640"/>
          </a:xfrm>
          <a:prstGeom prst="rect">
            <a:avLst/>
          </a:prstGeom>
          <a:noFill/>
          <a:ln/>
        </p:spPr>
        <p:txBody>
          <a:bodyPr wrap="square" lIns="0" tIns="0" rIns="0" bIns="0" rtlCol="0" anchor="t"/>
          <a:lstStyle/>
          <a:p>
            <a:pPr marL="342900" indent="-342900">
              <a:buSzPct val="100000"/>
              <a:buChar char="•"/>
            </a:pPr>
            <a:r>
              <a:rPr lang="en-US" sz="1300" dirty="0">
                <a:solidFill>
                  <a:srgbClr val="E3E7EB"/>
                </a:solidFill>
                <a:latin typeface="Calibri" pitchFamily="34" charset="0"/>
                <a:ea typeface="Calibri" pitchFamily="34" charset="-122"/>
                <a:cs typeface="Calibri" pitchFamily="34" charset="-120"/>
              </a:rPr>
              <a:t>Plain words, WCAG 2.2 AA checked, no confidence percentages</a:t>
            </a:r>
            <a:endParaRPr lang="en-US" sz="1300" dirty="0"/>
          </a:p>
        </p:txBody>
      </p:sp>
      <p:sp>
        <p:nvSpPr>
          <p:cNvPr id="13" name="shot-url"/>
          <p:cNvSpPr txBox="1"/>
          <p:nvPr/>
        </p:nvSpPr>
        <p:spPr>
          <a:xfrm>
            <a:off x="548640" y="5760720"/>
            <a:ext cx="6949440" cy="365760"/>
          </a:xfrm>
          <a:prstGeom prst="rect">
            <a:avLst/>
          </a:prstGeom>
          <a:noFill/>
          <a:ln/>
        </p:spPr>
        <p:txBody>
          <a:bodyPr wrap="square" lIns="0" tIns="0" rIns="0" bIns="0" rtlCol="0" anchor="t"/>
          <a:lstStyle/>
          <a:p>
            <a:pPr indent="0" marL="0">
              <a:buNone/>
            </a:pPr>
            <a:r>
              <a:rPr lang="en-US" sz="1600" b="1" dirty="0">
                <a:solidFill>
                  <a:srgbClr val="64D2FF"/>
                </a:solidFill>
                <a:latin typeface="Calibri" pitchFamily="34" charset="0"/>
                <a:ea typeface="Calibri" pitchFamily="34" charset="-122"/>
                <a:cs typeface="Calibri" pitchFamily="34" charset="-120"/>
              </a:rPr>
              <a:t>reachnt.vercel.app</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3AD"/>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People stay in charge, and tenants can push back</a:t>
            </a:r>
            <a:endParaRPr lang="en-US" sz="2800" dirty="0"/>
          </a:p>
        </p:txBody>
      </p:sp>
      <p:pic>
        <p:nvPicPr>
          <p:cNvPr id="3" name="trust-phone" descr="trust-phone">    </p:cNvPr>
          <p:cNvPicPr>
            <a:picLocks noChangeAspect="1"/>
          </p:cNvPicPr>
          <p:nvPr/>
        </p:nvPicPr>
        <p:blipFill>
          <a:blip r:embed="rId1"/>
          <a:stretch>
            <a:fillRect/>
          </a:stretch>
        </p:blipFill>
        <p:spPr>
          <a:xfrm>
            <a:off x="548640" y="1325880"/>
            <a:ext cx="2194560" cy="4754880"/>
          </a:xfrm>
          <a:prstGeom prst="rect">
            <a:avLst/>
          </a:prstGeom>
        </p:spPr>
      </p:pic>
      <p:sp>
        <p:nvSpPr>
          <p:cNvPr id="4" name="trust-hex-0"/>
          <p:cNvSpPr/>
          <p:nvPr/>
        </p:nvSpPr>
        <p:spPr>
          <a:xfrm>
            <a:off x="3108960" y="1399032"/>
            <a:ext cx="566928" cy="498897"/>
          </a:xfrm>
          <a:prstGeom prst="hexagon">
            <a:avLst/>
          </a:prstGeom>
          <a:solidFill>
            <a:srgbClr val="D97706"/>
          </a:solidFill>
          <a:ln w="12700">
            <a:solidFill>
              <a:srgbClr val="D97706"/>
            </a:solidFill>
            <a:prstDash val="solid"/>
          </a:ln>
        </p:spPr>
      </p:sp>
      <p:sp>
        <p:nvSpPr>
          <p:cNvPr id="5" name="trust-h-0"/>
          <p:cNvSpPr txBox="1"/>
          <p:nvPr/>
        </p:nvSpPr>
        <p:spPr>
          <a:xfrm>
            <a:off x="3886200" y="1325880"/>
            <a:ext cx="7680960" cy="365760"/>
          </a:xfrm>
          <a:prstGeom prst="rect">
            <a:avLst/>
          </a:prstGeom>
          <a:noFill/>
          <a:ln/>
        </p:spPr>
        <p:txBody>
          <a:bodyPr wrap="square" lIns="0" tIns="0" rIns="0" bIns="0" rtlCol="0" anchor="t"/>
          <a:lstStyle/>
          <a:p>
            <a:pPr indent="0" marL="0">
              <a:buNone/>
            </a:pPr>
            <a:r>
              <a:rPr lang="en-US" sz="1800" b="1" dirty="0">
                <a:solidFill>
                  <a:srgbClr val="14181D"/>
                </a:solidFill>
                <a:latin typeface="Calibri" pitchFamily="34" charset="0"/>
                <a:ea typeface="Calibri" pitchFamily="34" charset="-122"/>
                <a:cs typeface="Calibri" pitchFamily="34" charset="-120"/>
              </a:rPr>
              <a:t>A named person signs the trade-off</a:t>
            </a:r>
            <a:endParaRPr lang="en-US" sz="1800" dirty="0"/>
          </a:p>
        </p:txBody>
      </p:sp>
      <p:sp>
        <p:nvSpPr>
          <p:cNvPr id="6" name="trust-b-0"/>
          <p:cNvSpPr txBox="1"/>
          <p:nvPr/>
        </p:nvSpPr>
        <p:spPr>
          <a:xfrm>
            <a:off x="3886200" y="1709928"/>
            <a:ext cx="7680960" cy="45720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How much cost may count is a signed decision, kept in a tamper-evident record</a:t>
            </a:r>
            <a:endParaRPr lang="en-US" sz="1500" dirty="0"/>
          </a:p>
        </p:txBody>
      </p:sp>
      <p:sp>
        <p:nvSpPr>
          <p:cNvPr id="7" name="trust-hex-1"/>
          <p:cNvSpPr/>
          <p:nvPr/>
        </p:nvSpPr>
        <p:spPr>
          <a:xfrm>
            <a:off x="3108960" y="2350008"/>
            <a:ext cx="566928" cy="498897"/>
          </a:xfrm>
          <a:prstGeom prst="hexagon">
            <a:avLst/>
          </a:prstGeom>
          <a:solidFill>
            <a:srgbClr val="6E56CF"/>
          </a:solidFill>
          <a:ln w="12700">
            <a:solidFill>
              <a:srgbClr val="6E56CF"/>
            </a:solidFill>
            <a:prstDash val="solid"/>
          </a:ln>
        </p:spPr>
      </p:sp>
      <p:sp>
        <p:nvSpPr>
          <p:cNvPr id="8" name="trust-h-1"/>
          <p:cNvSpPr txBox="1"/>
          <p:nvPr/>
        </p:nvSpPr>
        <p:spPr>
          <a:xfrm>
            <a:off x="3886200" y="2276856"/>
            <a:ext cx="7680960" cy="365760"/>
          </a:xfrm>
          <a:prstGeom prst="rect">
            <a:avLst/>
          </a:prstGeom>
          <a:noFill/>
          <a:ln/>
        </p:spPr>
        <p:txBody>
          <a:bodyPr wrap="square" lIns="0" tIns="0" rIns="0" bIns="0" rtlCol="0" anchor="t"/>
          <a:lstStyle/>
          <a:p>
            <a:pPr indent="0" marL="0">
              <a:buNone/>
            </a:pPr>
            <a:r>
              <a:rPr lang="en-US" sz="1800" b="1" dirty="0">
                <a:solidFill>
                  <a:srgbClr val="14181D"/>
                </a:solidFill>
                <a:latin typeface="Calibri" pitchFamily="34" charset="0"/>
                <a:ea typeface="Calibri" pitchFamily="34" charset="-122"/>
                <a:cs typeface="Calibri" pitchFamily="34" charset="-120"/>
              </a:rPr>
              <a:t>Tenants can ask for a review</a:t>
            </a:r>
            <a:endParaRPr lang="en-US" sz="1800" dirty="0"/>
          </a:p>
        </p:txBody>
      </p:sp>
      <p:sp>
        <p:nvSpPr>
          <p:cNvPr id="9" name="trust-b-1"/>
          <p:cNvSpPr txBox="1"/>
          <p:nvPr/>
        </p:nvSpPr>
        <p:spPr>
          <a:xfrm>
            <a:off x="3886200" y="2660904"/>
            <a:ext cx="7680960" cy="45720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A person, not the computer, answers within 10 working days</a:t>
            </a:r>
            <a:endParaRPr lang="en-US" sz="1500" dirty="0"/>
          </a:p>
        </p:txBody>
      </p:sp>
      <p:sp>
        <p:nvSpPr>
          <p:cNvPr id="10" name="trust-hex-2"/>
          <p:cNvSpPr/>
          <p:nvPr/>
        </p:nvSpPr>
        <p:spPr>
          <a:xfrm>
            <a:off x="3108960" y="3300984"/>
            <a:ext cx="566928" cy="498897"/>
          </a:xfrm>
          <a:prstGeom prst="hexagon">
            <a:avLst/>
          </a:prstGeom>
          <a:solidFill>
            <a:srgbClr val="0E8FB8"/>
          </a:solidFill>
          <a:ln w="12700">
            <a:solidFill>
              <a:srgbClr val="0E8FB8"/>
            </a:solidFill>
            <a:prstDash val="solid"/>
          </a:ln>
        </p:spPr>
      </p:sp>
      <p:sp>
        <p:nvSpPr>
          <p:cNvPr id="11" name="trust-h-2"/>
          <p:cNvSpPr txBox="1"/>
          <p:nvPr/>
        </p:nvSpPr>
        <p:spPr>
          <a:xfrm>
            <a:off x="3886200" y="3227832"/>
            <a:ext cx="7680960" cy="365760"/>
          </a:xfrm>
          <a:prstGeom prst="rect">
            <a:avLst/>
          </a:prstGeom>
          <a:noFill/>
          <a:ln/>
        </p:spPr>
        <p:txBody>
          <a:bodyPr wrap="square" lIns="0" tIns="0" rIns="0" bIns="0" rtlCol="0" anchor="t"/>
          <a:lstStyle/>
          <a:p>
            <a:pPr indent="0" marL="0">
              <a:buNone/>
            </a:pPr>
            <a:r>
              <a:rPr lang="en-US" sz="1800" b="1" dirty="0">
                <a:solidFill>
                  <a:srgbClr val="14181D"/>
                </a:solidFill>
                <a:latin typeface="Calibri" pitchFamily="34" charset="0"/>
                <a:ea typeface="Calibri" pitchFamily="34" charset="-122"/>
                <a:cs typeface="Calibri" pitchFamily="34" charset="-120"/>
              </a:rPr>
              <a:t>People check the AI every week</a:t>
            </a:r>
            <a:endParaRPr lang="en-US" sz="1800" dirty="0"/>
          </a:p>
        </p:txBody>
      </p:sp>
      <p:sp>
        <p:nvSpPr>
          <p:cNvPr id="12" name="trust-b-2"/>
          <p:cNvSpPr txBox="1"/>
          <p:nvPr/>
        </p:nvSpPr>
        <p:spPr>
          <a:xfrm>
            <a:off x="3886200" y="3611880"/>
            <a:ext cx="7680960" cy="45720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1 in 20 reports the computer read alone is re-read by a person</a:t>
            </a:r>
            <a:endParaRPr lang="en-US" sz="1500" dirty="0"/>
          </a:p>
        </p:txBody>
      </p:sp>
      <p:sp>
        <p:nvSpPr>
          <p:cNvPr id="13" name="trust-hex-3"/>
          <p:cNvSpPr/>
          <p:nvPr/>
        </p:nvSpPr>
        <p:spPr>
          <a:xfrm>
            <a:off x="3108960" y="4251960"/>
            <a:ext cx="566928" cy="498897"/>
          </a:xfrm>
          <a:prstGeom prst="hexagon">
            <a:avLst/>
          </a:prstGeom>
          <a:solidFill>
            <a:srgbClr val="1F9D4C"/>
          </a:solidFill>
          <a:ln w="12700">
            <a:solidFill>
              <a:srgbClr val="1F9D4C"/>
            </a:solidFill>
            <a:prstDash val="solid"/>
          </a:ln>
        </p:spPr>
      </p:sp>
      <p:sp>
        <p:nvSpPr>
          <p:cNvPr id="14" name="trust-h-3"/>
          <p:cNvSpPr txBox="1"/>
          <p:nvPr/>
        </p:nvSpPr>
        <p:spPr>
          <a:xfrm>
            <a:off x="3886200" y="4178808"/>
            <a:ext cx="7680960" cy="365760"/>
          </a:xfrm>
          <a:prstGeom prst="rect">
            <a:avLst/>
          </a:prstGeom>
          <a:noFill/>
          <a:ln/>
        </p:spPr>
        <p:txBody>
          <a:bodyPr wrap="square" lIns="0" tIns="0" rIns="0" bIns="0" rtlCol="0" anchor="t"/>
          <a:lstStyle/>
          <a:p>
            <a:pPr indent="0" marL="0">
              <a:buNone/>
            </a:pPr>
            <a:r>
              <a:rPr lang="en-US" sz="1800" b="1" dirty="0">
                <a:solidFill>
                  <a:srgbClr val="14181D"/>
                </a:solidFill>
                <a:latin typeface="Calibri" pitchFamily="34" charset="0"/>
                <a:ea typeface="Calibri" pitchFamily="34" charset="-122"/>
                <a:cs typeface="Calibri" pitchFamily="34" charset="-120"/>
              </a:rPr>
              <a:t>No job closed on "no one home"</a:t>
            </a:r>
            <a:endParaRPr lang="en-US" sz="1800" dirty="0"/>
          </a:p>
        </p:txBody>
      </p:sp>
      <p:sp>
        <p:nvSpPr>
          <p:cNvPr id="15" name="trust-b-3"/>
          <p:cNvSpPr txBox="1"/>
          <p:nvPr/>
        </p:nvSpPr>
        <p:spPr>
          <a:xfrm>
            <a:off x="3886200" y="4562856"/>
            <a:ext cx="7680960" cy="45720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The time and what was tried are recorded; the tenant is told; the job stays open</a:t>
            </a:r>
            <a:endParaRPr lang="en-US" sz="1500" dirty="0"/>
          </a:p>
        </p:txBody>
      </p:sp>
      <p:sp>
        <p:nvSpPr>
          <p:cNvPr id="16" name="trust-hex-4"/>
          <p:cNvSpPr/>
          <p:nvPr/>
        </p:nvSpPr>
        <p:spPr>
          <a:xfrm>
            <a:off x="3108960" y="5202936"/>
            <a:ext cx="566928" cy="498897"/>
          </a:xfrm>
          <a:prstGeom prst="hexagon">
            <a:avLst/>
          </a:prstGeom>
          <a:solidFill>
            <a:srgbClr val="14181D"/>
          </a:solidFill>
          <a:ln w="12700">
            <a:solidFill>
              <a:srgbClr val="14181D"/>
            </a:solidFill>
            <a:prstDash val="solid"/>
          </a:ln>
        </p:spPr>
      </p:sp>
      <p:sp>
        <p:nvSpPr>
          <p:cNvPr id="17" name="trust-h-4"/>
          <p:cNvSpPr txBox="1"/>
          <p:nvPr/>
        </p:nvSpPr>
        <p:spPr>
          <a:xfrm>
            <a:off x="3886200" y="5129784"/>
            <a:ext cx="7680960" cy="365760"/>
          </a:xfrm>
          <a:prstGeom prst="rect">
            <a:avLst/>
          </a:prstGeom>
          <a:noFill/>
          <a:ln/>
        </p:spPr>
        <p:txBody>
          <a:bodyPr wrap="square" lIns="0" tIns="0" rIns="0" bIns="0" rtlCol="0" anchor="t"/>
          <a:lstStyle/>
          <a:p>
            <a:pPr indent="0" marL="0">
              <a:buNone/>
            </a:pPr>
            <a:r>
              <a:rPr lang="en-US" sz="1800" b="1" dirty="0">
                <a:solidFill>
                  <a:srgbClr val="14181D"/>
                </a:solidFill>
                <a:latin typeface="Calibri" pitchFamily="34" charset="0"/>
                <a:ea typeface="Calibri" pitchFamily="34" charset="-122"/>
                <a:cs typeface="Calibri" pitchFamily="34" charset="-120"/>
              </a:rPr>
              <a:t>Personal details locked away</a:t>
            </a:r>
            <a:endParaRPr lang="en-US" sz="1800" dirty="0"/>
          </a:p>
        </p:txBody>
      </p:sp>
      <p:sp>
        <p:nvSpPr>
          <p:cNvPr id="18" name="trust-b-4"/>
          <p:cNvSpPr txBox="1"/>
          <p:nvPr/>
        </p:nvSpPr>
        <p:spPr>
          <a:xfrm>
            <a:off x="3886200" y="5513832"/>
            <a:ext cx="7680960" cy="45720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Names, phones and addresses in an encrypted vault; the house is just a hexagon</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What we tested, and what we can't claim yet</a:t>
            </a:r>
            <a:endParaRPr lang="en-US" sz="2800" dirty="0"/>
          </a:p>
        </p:txBody>
      </p:sp>
      <p:sp>
        <p:nvSpPr>
          <p:cNvPr id="3" name="tested-card"/>
          <p:cNvSpPr/>
          <p:nvPr/>
        </p:nvSpPr>
        <p:spPr>
          <a:xfrm>
            <a:off x="548640" y="1417320"/>
            <a:ext cx="5349240" cy="4663440"/>
          </a:xfrm>
          <a:prstGeom prst="roundRect">
            <a:avLst>
              <a:gd name="adj" fmla="val 1961"/>
            </a:avLst>
          </a:prstGeom>
          <a:solidFill>
            <a:srgbClr val="E3F4E8"/>
          </a:solidFill>
          <a:ln w="12700">
            <a:solidFill>
              <a:srgbClr val="E3F4E8"/>
            </a:solidFill>
            <a:prstDash val="solid"/>
          </a:ln>
        </p:spPr>
      </p:sp>
      <p:sp>
        <p:nvSpPr>
          <p:cNvPr id="4" name="tested-h"/>
          <p:cNvSpPr txBox="1"/>
          <p:nvPr/>
        </p:nvSpPr>
        <p:spPr>
          <a:xfrm>
            <a:off x="822960" y="1645920"/>
            <a:ext cx="4846320" cy="457200"/>
          </a:xfrm>
          <a:prstGeom prst="rect">
            <a:avLst/>
          </a:prstGeom>
          <a:noFill/>
          <a:ln/>
        </p:spPr>
        <p:txBody>
          <a:bodyPr wrap="square" lIns="0" tIns="0" rIns="0" bIns="0" rtlCol="0" anchor="t"/>
          <a:lstStyle/>
          <a:p>
            <a:pPr indent="0" marL="0">
              <a:buNone/>
            </a:pPr>
            <a:r>
              <a:rPr lang="en-US" sz="2200" b="1" dirty="0">
                <a:solidFill>
                  <a:srgbClr val="1F9D4C"/>
                </a:solidFill>
                <a:latin typeface="Arial" pitchFamily="34" charset="0"/>
                <a:ea typeface="Arial" pitchFamily="34" charset="-122"/>
                <a:cs typeface="Arial" pitchFamily="34" charset="-120"/>
              </a:rPr>
              <a:t>Tested</a:t>
            </a:r>
            <a:endParaRPr lang="en-US" sz="2200" dirty="0"/>
          </a:p>
        </p:txBody>
      </p:sp>
      <p:sp>
        <p:nvSpPr>
          <p:cNvPr id="5" name="tested-0"/>
          <p:cNvSpPr txBox="1"/>
          <p:nvPr/>
        </p:nvSpPr>
        <p:spPr>
          <a:xfrm>
            <a:off x="822960" y="2240280"/>
            <a:ext cx="4846320" cy="68580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80 automated checks on every code change: data, the reader, the planner, the server</a:t>
            </a:r>
            <a:endParaRPr lang="en-US" sz="1500" dirty="0"/>
          </a:p>
        </p:txBody>
      </p:sp>
      <p:sp>
        <p:nvSpPr>
          <p:cNvPr id="6" name="tested-1"/>
          <p:cNvSpPr txBox="1"/>
          <p:nvPr/>
        </p:nvSpPr>
        <p:spPr>
          <a:xfrm>
            <a:off x="822960" y="2990088"/>
            <a:ext cx="4846320" cy="68580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Five random years of requests; the result held in all five</a:t>
            </a:r>
            <a:endParaRPr lang="en-US" sz="1500" dirty="0"/>
          </a:p>
        </p:txBody>
      </p:sp>
      <p:sp>
        <p:nvSpPr>
          <p:cNvPr id="7" name="tested-2"/>
          <p:cNvSpPr txBox="1"/>
          <p:nvPr/>
        </p:nvSpPr>
        <p:spPr>
          <a:xfrm>
            <a:off x="822960" y="3739896"/>
            <a:ext cx="4846320" cy="68580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Every community's position checked against satellite photos</a:t>
            </a:r>
            <a:endParaRPr lang="en-US" sz="1500" dirty="0"/>
          </a:p>
        </p:txBody>
      </p:sp>
      <p:sp>
        <p:nvSpPr>
          <p:cNvPr id="8" name="tested-3"/>
          <p:cNvSpPr txBox="1"/>
          <p:nvPr/>
        </p:nvSpPr>
        <p:spPr>
          <a:xfrm>
            <a:off x="822960" y="4489704"/>
            <a:ext cx="4846320" cy="68580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Accessibility: 0 WCAG 2.2 AA issues in every view</a:t>
            </a:r>
            <a:endParaRPr lang="en-US" sz="1500" dirty="0"/>
          </a:p>
        </p:txBody>
      </p:sp>
      <p:sp>
        <p:nvSpPr>
          <p:cNvPr id="9" name="tested-4"/>
          <p:cNvSpPr txBox="1"/>
          <p:nvPr/>
        </p:nvSpPr>
        <p:spPr>
          <a:xfrm>
            <a:off x="822960" y="5239512"/>
            <a:ext cx="4846320" cy="68580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Security: locked-down site, validated inputs, sign-in rules ready</a:t>
            </a:r>
            <a:endParaRPr lang="en-US" sz="1500" dirty="0"/>
          </a:p>
        </p:txBody>
      </p:sp>
      <p:sp>
        <p:nvSpPr>
          <p:cNvPr id="10" name="limits-card"/>
          <p:cNvSpPr/>
          <p:nvPr/>
        </p:nvSpPr>
        <p:spPr>
          <a:xfrm>
            <a:off x="6263640" y="1417320"/>
            <a:ext cx="5349240" cy="4663440"/>
          </a:xfrm>
          <a:prstGeom prst="roundRect">
            <a:avLst>
              <a:gd name="adj" fmla="val 1961"/>
            </a:avLst>
          </a:prstGeom>
          <a:solidFill>
            <a:srgbClr val="FBEEDD"/>
          </a:solidFill>
          <a:ln w="12700">
            <a:solidFill>
              <a:srgbClr val="FBEEDD"/>
            </a:solidFill>
            <a:prstDash val="solid"/>
          </a:ln>
        </p:spPr>
      </p:sp>
      <p:sp>
        <p:nvSpPr>
          <p:cNvPr id="11" name="limits-h"/>
          <p:cNvSpPr txBox="1"/>
          <p:nvPr/>
        </p:nvSpPr>
        <p:spPr>
          <a:xfrm>
            <a:off x="6537960" y="1645920"/>
            <a:ext cx="4846320" cy="457200"/>
          </a:xfrm>
          <a:prstGeom prst="rect">
            <a:avLst/>
          </a:prstGeom>
          <a:noFill/>
          <a:ln/>
        </p:spPr>
        <p:txBody>
          <a:bodyPr wrap="square" lIns="0" tIns="0" rIns="0" bIns="0" rtlCol="0" anchor="t"/>
          <a:lstStyle/>
          <a:p>
            <a:pPr indent="0" marL="0">
              <a:buNone/>
            </a:pPr>
            <a:r>
              <a:rPr lang="en-US" sz="2200" b="1" dirty="0">
                <a:solidFill>
                  <a:srgbClr val="D97706"/>
                </a:solidFill>
                <a:latin typeface="Arial" pitchFamily="34" charset="0"/>
                <a:ea typeface="Arial" pitchFamily="34" charset="-122"/>
                <a:cs typeface="Arial" pitchFamily="34" charset="-120"/>
              </a:rPr>
              <a:t>Not yet</a:t>
            </a:r>
            <a:endParaRPr lang="en-US" sz="2200" dirty="0"/>
          </a:p>
        </p:txBody>
      </p:sp>
      <p:sp>
        <p:nvSpPr>
          <p:cNvPr id="12" name="limit-0"/>
          <p:cNvSpPr txBox="1"/>
          <p:nvPr/>
        </p:nvSpPr>
        <p:spPr>
          <a:xfrm>
            <a:off x="6537960" y="2240280"/>
            <a:ext cx="4846320" cy="86868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The repair requests are synthetic: no public NT repair data exists</a:t>
            </a:r>
            <a:endParaRPr lang="en-US" sz="1500" dirty="0"/>
          </a:p>
        </p:txBody>
      </p:sp>
      <p:sp>
        <p:nvSpPr>
          <p:cNvPr id="13" name="limit-1"/>
          <p:cNvSpPr txBox="1"/>
          <p:nvPr/>
        </p:nvSpPr>
        <p:spPr>
          <a:xfrm>
            <a:off x="6537960" y="3154680"/>
            <a:ext cx="4846320" cy="86868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The reader is tested in English only. Tenants speak Kriol, Aboriginal English and many languages</a:t>
            </a:r>
            <a:endParaRPr lang="en-US" sz="1500" dirty="0"/>
          </a:p>
        </p:txBody>
      </p:sp>
      <p:sp>
        <p:nvSpPr>
          <p:cNvPr id="14" name="limit-2"/>
          <p:cNvSpPr txBox="1"/>
          <p:nvPr/>
        </p:nvSpPr>
        <p:spPr>
          <a:xfrm>
            <a:off x="6537960" y="4069080"/>
            <a:ext cx="4846320" cy="86868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No community has reviewed it yet. That comes first, not last</a:t>
            </a:r>
            <a:endParaRPr lang="en-US" sz="1500" dirty="0"/>
          </a:p>
        </p:txBody>
      </p:sp>
      <p:sp>
        <p:nvSpPr>
          <p:cNvPr id="15" name="limit-3"/>
          <p:cNvSpPr txBox="1"/>
          <p:nvPr/>
        </p:nvSpPr>
        <p:spPr>
          <a:xfrm>
            <a:off x="6537960" y="4983480"/>
            <a:ext cx="4846320" cy="86868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Our test kit is ready the day real reports arrive, labelled with the Aboriginal Interpreter Service</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What we recommend</a:t>
            </a:r>
            <a:endParaRPr lang="en-US" sz="2800" dirty="0"/>
          </a:p>
        </p:txBody>
      </p:sp>
      <p:sp>
        <p:nvSpPr>
          <p:cNvPr id="3" name="rec-1"/>
          <p:cNvSpPr/>
          <p:nvPr/>
        </p:nvSpPr>
        <p:spPr>
          <a:xfrm>
            <a:off x="548640" y="1463040"/>
            <a:ext cx="11064240" cy="1371600"/>
          </a:xfrm>
          <a:prstGeom prst="roundRect">
            <a:avLst>
              <a:gd name="adj" fmla="val 6667"/>
            </a:avLst>
          </a:prstGeom>
          <a:solidFill>
            <a:srgbClr val="F1F3F5"/>
          </a:solidFill>
          <a:ln w="12700">
            <a:solidFill>
              <a:srgbClr val="F1F3F5"/>
            </a:solidFill>
            <a:prstDash val="solid"/>
          </a:ln>
        </p:spPr>
      </p:sp>
      <p:sp>
        <p:nvSpPr>
          <p:cNvPr id="4" name="rec-hex-1"/>
          <p:cNvSpPr/>
          <p:nvPr/>
        </p:nvSpPr>
        <p:spPr>
          <a:xfrm>
            <a:off x="868680" y="1737360"/>
            <a:ext cx="868680" cy="764438"/>
          </a:xfrm>
          <a:prstGeom prst="hexagon">
            <a:avLst/>
          </a:prstGeom>
          <a:solidFill>
            <a:srgbClr val="D97706"/>
          </a:solidFill>
          <a:ln w="12700">
            <a:solidFill>
              <a:srgbClr val="D97706"/>
            </a:solidFill>
            <a:prstDash val="solid"/>
          </a:ln>
        </p:spPr>
      </p:sp>
      <p:sp>
        <p:nvSpPr>
          <p:cNvPr id="5" name="rec-hex-1-t"/>
          <p:cNvSpPr txBox="1"/>
          <p:nvPr/>
        </p:nvSpPr>
        <p:spPr>
          <a:xfrm>
            <a:off x="868680" y="1737360"/>
            <a:ext cx="868680" cy="764438"/>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1</a:t>
            </a:r>
            <a:endParaRPr lang="en-US" sz="2400" dirty="0"/>
          </a:p>
        </p:txBody>
      </p:sp>
      <p:sp>
        <p:nvSpPr>
          <p:cNvPr id="6" name="rec-h-1"/>
          <p:cNvSpPr txBox="1"/>
          <p:nvPr/>
        </p:nvSpPr>
        <p:spPr>
          <a:xfrm>
            <a:off x="2057400" y="1664208"/>
            <a:ext cx="9326880" cy="411480"/>
          </a:xfrm>
          <a:prstGeom prst="rect">
            <a:avLst/>
          </a:prstGeom>
          <a:noFill/>
          <a:ln/>
        </p:spPr>
        <p:txBody>
          <a:bodyPr wrap="square" lIns="0" tIns="0" rIns="0" bIns="0" rtlCol="0" anchor="t"/>
          <a:lstStyle/>
          <a:p>
            <a:pPr indent="0" marL="0">
              <a:buNone/>
            </a:pPr>
            <a:r>
              <a:rPr lang="en-US" sz="2100" b="1" dirty="0">
                <a:solidFill>
                  <a:srgbClr val="14181D"/>
                </a:solidFill>
                <a:latin typeface="Arial" pitchFamily="34" charset="0"/>
                <a:ea typeface="Arial" pitchFamily="34" charset="-122"/>
                <a:cs typeface="Arial" pitchFamily="34" charset="-120"/>
              </a:rPr>
              <a:t>Make the trade-off a signed decision</a:t>
            </a:r>
            <a:endParaRPr lang="en-US" sz="2100" dirty="0"/>
          </a:p>
        </p:txBody>
      </p:sp>
      <p:sp>
        <p:nvSpPr>
          <p:cNvPr id="7" name="rec-b-1"/>
          <p:cNvSpPr txBox="1"/>
          <p:nvPr/>
        </p:nvSpPr>
        <p:spPr>
          <a:xfrm>
            <a:off x="2057400" y="2121408"/>
            <a:ext cx="9326880" cy="640080"/>
          </a:xfrm>
          <a:prstGeom prst="rect">
            <a:avLst/>
          </a:prstGeom>
          <a:noFill/>
          <a:ln/>
        </p:spPr>
        <p:txBody>
          <a:bodyPr wrap="square" lIns="0" tIns="0" rIns="0" bIns="0" rtlCol="0" anchor="t"/>
          <a:lstStyle/>
          <a:p>
            <a:pPr indent="0" marL="0">
              <a:buNone/>
            </a:pPr>
            <a:r>
              <a:rPr lang="en-US" sz="1600" dirty="0">
                <a:solidFill>
                  <a:srgbClr val="4A525C"/>
                </a:solidFill>
                <a:latin typeface="Calibri" pitchFamily="34" charset="0"/>
                <a:ea typeface="Calibri" pitchFamily="34" charset="-122"/>
                <a:cs typeface="Calibri" pitchFamily="34" charset="-120"/>
              </a:rPr>
              <a:t>Publish the triage rules, and record who decides how much cost may count, so remote waits are never an accident.</a:t>
            </a:r>
            <a:endParaRPr lang="en-US" sz="1600" dirty="0"/>
          </a:p>
        </p:txBody>
      </p:sp>
      <p:sp>
        <p:nvSpPr>
          <p:cNvPr id="8" name="rec-2"/>
          <p:cNvSpPr/>
          <p:nvPr/>
        </p:nvSpPr>
        <p:spPr>
          <a:xfrm>
            <a:off x="548640" y="3017520"/>
            <a:ext cx="11064240" cy="1371600"/>
          </a:xfrm>
          <a:prstGeom prst="roundRect">
            <a:avLst>
              <a:gd name="adj" fmla="val 6667"/>
            </a:avLst>
          </a:prstGeom>
          <a:solidFill>
            <a:srgbClr val="F1F3F5"/>
          </a:solidFill>
          <a:ln w="12700">
            <a:solidFill>
              <a:srgbClr val="F1F3F5"/>
            </a:solidFill>
            <a:prstDash val="solid"/>
          </a:ln>
        </p:spPr>
      </p:sp>
      <p:sp>
        <p:nvSpPr>
          <p:cNvPr id="9" name="rec-hex-2"/>
          <p:cNvSpPr/>
          <p:nvPr/>
        </p:nvSpPr>
        <p:spPr>
          <a:xfrm>
            <a:off x="868680" y="3291840"/>
            <a:ext cx="868680" cy="764438"/>
          </a:xfrm>
          <a:prstGeom prst="hexagon">
            <a:avLst/>
          </a:prstGeom>
          <a:solidFill>
            <a:srgbClr val="0E8FB8"/>
          </a:solidFill>
          <a:ln w="12700">
            <a:solidFill>
              <a:srgbClr val="0E8FB8"/>
            </a:solidFill>
            <a:prstDash val="solid"/>
          </a:ln>
        </p:spPr>
      </p:sp>
      <p:sp>
        <p:nvSpPr>
          <p:cNvPr id="10" name="rec-hex-2-t"/>
          <p:cNvSpPr txBox="1"/>
          <p:nvPr/>
        </p:nvSpPr>
        <p:spPr>
          <a:xfrm>
            <a:off x="868680" y="3291840"/>
            <a:ext cx="868680" cy="764438"/>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2</a:t>
            </a:r>
            <a:endParaRPr lang="en-US" sz="2400" dirty="0"/>
          </a:p>
        </p:txBody>
      </p:sp>
      <p:sp>
        <p:nvSpPr>
          <p:cNvPr id="11" name="rec-h-2"/>
          <p:cNvSpPr txBox="1"/>
          <p:nvPr/>
        </p:nvSpPr>
        <p:spPr>
          <a:xfrm>
            <a:off x="2057400" y="3218688"/>
            <a:ext cx="9326880" cy="411480"/>
          </a:xfrm>
          <a:prstGeom prst="rect">
            <a:avLst/>
          </a:prstGeom>
          <a:noFill/>
          <a:ln/>
        </p:spPr>
        <p:txBody>
          <a:bodyPr wrap="square" lIns="0" tIns="0" rIns="0" bIns="0" rtlCol="0" anchor="t"/>
          <a:lstStyle/>
          <a:p>
            <a:pPr indent="0" marL="0">
              <a:buNone/>
            </a:pPr>
            <a:r>
              <a:rPr lang="en-US" sz="2100" b="1" dirty="0">
                <a:solidFill>
                  <a:srgbClr val="14181D"/>
                </a:solidFill>
                <a:latin typeface="Arial" pitchFamily="34" charset="0"/>
                <a:ea typeface="Arial" pitchFamily="34" charset="-122"/>
                <a:cs typeface="Arial" pitchFamily="34" charset="-120"/>
              </a:rPr>
              <a:t>Pilot in one region, with communities</a:t>
            </a:r>
            <a:endParaRPr lang="en-US" sz="2100" dirty="0"/>
          </a:p>
        </p:txBody>
      </p:sp>
      <p:sp>
        <p:nvSpPr>
          <p:cNvPr id="12" name="rec-b-2"/>
          <p:cNvSpPr txBox="1"/>
          <p:nvPr/>
        </p:nvSpPr>
        <p:spPr>
          <a:xfrm>
            <a:off x="2057400" y="3675888"/>
            <a:ext cx="9326880" cy="640080"/>
          </a:xfrm>
          <a:prstGeom prst="rect">
            <a:avLst/>
          </a:prstGeom>
          <a:noFill/>
          <a:ln/>
        </p:spPr>
        <p:txBody>
          <a:bodyPr wrap="square" lIns="0" tIns="0" rIns="0" bIns="0" rtlCol="0" anchor="t"/>
          <a:lstStyle/>
          <a:p>
            <a:pPr indent="0" marL="0">
              <a:buNone/>
            </a:pPr>
            <a:r>
              <a:rPr lang="en-US" sz="1600" dirty="0">
                <a:solidFill>
                  <a:srgbClr val="4A525C"/>
                </a:solidFill>
                <a:latin typeface="Calibri" pitchFamily="34" charset="0"/>
                <a:ea typeface="Calibri" pitchFamily="34" charset="-122"/>
                <a:cs typeface="Calibri" pitchFamily="34" charset="-120"/>
              </a:rPr>
              <a:t>Start with the Katherine hub's 16 communities, co-designed with tenants, Aboriginal Housing NT, land councils and the Interpreter Service.</a:t>
            </a:r>
            <a:endParaRPr lang="en-US" sz="1600" dirty="0"/>
          </a:p>
        </p:txBody>
      </p:sp>
      <p:sp>
        <p:nvSpPr>
          <p:cNvPr id="13" name="rec-3"/>
          <p:cNvSpPr/>
          <p:nvPr/>
        </p:nvSpPr>
        <p:spPr>
          <a:xfrm>
            <a:off x="548640" y="4572000"/>
            <a:ext cx="11064240" cy="1371600"/>
          </a:xfrm>
          <a:prstGeom prst="roundRect">
            <a:avLst>
              <a:gd name="adj" fmla="val 6667"/>
            </a:avLst>
          </a:prstGeom>
          <a:solidFill>
            <a:srgbClr val="F1F3F5"/>
          </a:solidFill>
          <a:ln w="12700">
            <a:solidFill>
              <a:srgbClr val="F1F3F5"/>
            </a:solidFill>
            <a:prstDash val="solid"/>
          </a:ln>
        </p:spPr>
      </p:sp>
      <p:sp>
        <p:nvSpPr>
          <p:cNvPr id="14" name="rec-hex-3"/>
          <p:cNvSpPr/>
          <p:nvPr/>
        </p:nvSpPr>
        <p:spPr>
          <a:xfrm>
            <a:off x="868680" y="4846320"/>
            <a:ext cx="868680" cy="764438"/>
          </a:xfrm>
          <a:prstGeom prst="hexagon">
            <a:avLst/>
          </a:prstGeom>
          <a:solidFill>
            <a:srgbClr val="6E56CF"/>
          </a:solidFill>
          <a:ln w="12700">
            <a:solidFill>
              <a:srgbClr val="6E56CF"/>
            </a:solidFill>
            <a:prstDash val="solid"/>
          </a:ln>
        </p:spPr>
      </p:sp>
      <p:sp>
        <p:nvSpPr>
          <p:cNvPr id="15" name="rec-hex-3-t"/>
          <p:cNvSpPr txBox="1"/>
          <p:nvPr/>
        </p:nvSpPr>
        <p:spPr>
          <a:xfrm>
            <a:off x="868680" y="4846320"/>
            <a:ext cx="868680" cy="764438"/>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3</a:t>
            </a:r>
            <a:endParaRPr lang="en-US" sz="2400" dirty="0"/>
          </a:p>
        </p:txBody>
      </p:sp>
      <p:sp>
        <p:nvSpPr>
          <p:cNvPr id="16" name="rec-h-3"/>
          <p:cNvSpPr txBox="1"/>
          <p:nvPr/>
        </p:nvSpPr>
        <p:spPr>
          <a:xfrm>
            <a:off x="2057400" y="4773168"/>
            <a:ext cx="9326880" cy="411480"/>
          </a:xfrm>
          <a:prstGeom prst="rect">
            <a:avLst/>
          </a:prstGeom>
          <a:noFill/>
          <a:ln/>
        </p:spPr>
        <p:txBody>
          <a:bodyPr wrap="square" lIns="0" tIns="0" rIns="0" bIns="0" rtlCol="0" anchor="t"/>
          <a:lstStyle/>
          <a:p>
            <a:pPr indent="0" marL="0">
              <a:buNone/>
            </a:pPr>
            <a:r>
              <a:rPr lang="en-US" sz="2100" b="1" dirty="0">
                <a:solidFill>
                  <a:srgbClr val="14181D"/>
                </a:solidFill>
                <a:latin typeface="Arial" pitchFamily="34" charset="0"/>
                <a:ea typeface="Arial" pitchFamily="34" charset="-122"/>
                <a:cs typeface="Arial" pitchFamily="34" charset="-120"/>
              </a:rPr>
              <a:t>Test the AI on real words first</a:t>
            </a:r>
            <a:endParaRPr lang="en-US" sz="2100" dirty="0"/>
          </a:p>
        </p:txBody>
      </p:sp>
      <p:sp>
        <p:nvSpPr>
          <p:cNvPr id="17" name="rec-b-3"/>
          <p:cNvSpPr txBox="1"/>
          <p:nvPr/>
        </p:nvSpPr>
        <p:spPr>
          <a:xfrm>
            <a:off x="2057400" y="5230368"/>
            <a:ext cx="9326880" cy="640080"/>
          </a:xfrm>
          <a:prstGeom prst="rect">
            <a:avLst/>
          </a:prstGeom>
          <a:noFill/>
          <a:ln/>
        </p:spPr>
        <p:txBody>
          <a:bodyPr wrap="square" lIns="0" tIns="0" rIns="0" bIns="0" rtlCol="0" anchor="t"/>
          <a:lstStyle/>
          <a:p>
            <a:pPr indent="0" marL="0">
              <a:buNone/>
            </a:pPr>
            <a:r>
              <a:rPr lang="en-US" sz="1600" dirty="0">
                <a:solidFill>
                  <a:srgbClr val="4A525C"/>
                </a:solidFill>
                <a:latin typeface="Calibri" pitchFamily="34" charset="0"/>
                <a:ea typeface="Calibri" pitchFamily="34" charset="-122"/>
                <a:cs typeface="Calibri" pitchFamily="34" charset="-120"/>
              </a:rPr>
              <a:t>Score the reader on real reports in Kriol and Aboriginal English before it reads a single one on its own.</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close-backdrop" descr="close-backdrop">    </p:cNvPr>
          <p:cNvPicPr>
            <a:picLocks noChangeAspect="1"/>
          </p:cNvPicPr>
          <p:nvPr/>
        </p:nvPicPr>
        <p:blipFill>
          <a:blip r:embed="rId1">
            <a:alphaModFix amt="70000"/>
          </a:blip>
          <a:srcRect l="0" r="0" t="0" b="0"/>
          <a:stretch/>
        </p:blipFill>
        <p:spPr>
          <a:xfrm>
            <a:off x="6035040" y="0"/>
            <a:ext cx="6153912" cy="6858000"/>
          </a:xfrm>
          <a:prstGeom prst="rect">
            <a:avLst/>
          </a:prstGeom>
        </p:spPr>
      </p:pic>
      <p:sp>
        <p:nvSpPr>
          <p:cNvPr id="3" name="close-veil"/>
          <p:cNvSpPr/>
          <p:nvPr/>
        </p:nvSpPr>
        <p:spPr>
          <a:xfrm>
            <a:off x="0" y="0"/>
            <a:ext cx="6583680" cy="6858000"/>
          </a:xfrm>
          <a:prstGeom prst="rect">
            <a:avLst/>
          </a:prstGeom>
          <a:solidFill>
            <a:srgbClr val="0D1418"/>
          </a:solidFill>
          <a:ln w="12700">
            <a:solidFill>
              <a:srgbClr val="0D1418"/>
            </a:solidFill>
            <a:prstDash val="solid"/>
          </a:ln>
        </p:spPr>
      </p:sp>
      <p:sp>
        <p:nvSpPr>
          <p:cNvPr id="4" name="close-title"/>
          <p:cNvSpPr txBox="1"/>
          <p:nvPr/>
        </p:nvSpPr>
        <p:spPr>
          <a:xfrm>
            <a:off x="731520" y="685800"/>
            <a:ext cx="5486400" cy="2103120"/>
          </a:xfrm>
          <a:prstGeom prst="rect">
            <a:avLst/>
          </a:prstGeom>
          <a:noFill/>
          <a:ln/>
        </p:spPr>
        <p:txBody>
          <a:bodyPr wrap="square" lIns="0" tIns="0" rIns="0" bIns="0" rtlCol="0" anchor="b"/>
          <a:lstStyle/>
          <a:p>
            <a:pPr indent="0" marL="0">
              <a:buNone/>
            </a:pPr>
            <a:r>
              <a:rPr lang="en-US" sz="3600" b="1" dirty="0">
                <a:solidFill>
                  <a:srgbClr val="FFFFFF"/>
                </a:solidFill>
                <a:latin typeface="Arial" pitchFamily="34" charset="0"/>
                <a:ea typeface="Arial" pitchFamily="34" charset="-122"/>
                <a:cs typeface="Arial" pitchFamily="34" charset="-120"/>
              </a:rPr>
              <a:t>Where someone lives shouldn't decide how long they wait</a:t>
            </a:r>
            <a:endParaRPr lang="en-US" sz="3600" dirty="0"/>
          </a:p>
        </p:txBody>
      </p:sp>
      <p:sp>
        <p:nvSpPr>
          <p:cNvPr id="5" name="Text 0"/>
          <p:cNvSpPr/>
          <p:nvPr>
            <p:ph idx="101" type="body" hasCustomPrompt="1"/>
          </p:nvPr>
        </p:nvSpPr>
        <p:spPr>
          <a:xfrm>
            <a:off x="731520" y="2880360"/>
            <a:ext cx="6035040" cy="1645920"/>
          </a:xfrm>
          <a:prstGeom prst="rect">
            <a:avLst/>
          </a:prstGeom>
          <a:noFill/>
          <a:ln/>
        </p:spPr>
        <p:txBody>
          <a:bodyPr wrap="square" rtlCol="0" anchor="t"/>
          <a:lstStyle/>
          <a:p>
            <a:pPr algn="l" indent="0" marL="0">
              <a:buNone/>
            </a:pPr>
            <a:r>
              <a:rPr lang="en-US" sz="2200" dirty="0">
                <a:solidFill>
                  <a:srgbClr val="C9CFD6"/>
                </a:solidFill>
              </a:rPr>
              <a:t>ReachNT fixes 9 in 10 urgent remote repairs within 3 days instead of 62, for 44% more, and makes someone own that choice.</a:t>
            </a:r>
            <a:endParaRPr lang="en-US" sz="2200" dirty="0"/>
          </a:p>
        </p:txBody>
      </p:sp>
      <p:sp>
        <p:nvSpPr>
          <p:cNvPr id="6" name="close-links"/>
          <p:cNvSpPr txBox="1"/>
          <p:nvPr/>
        </p:nvSpPr>
        <p:spPr>
          <a:xfrm>
            <a:off x="731520" y="5074920"/>
            <a:ext cx="5852160" cy="365760"/>
          </a:xfrm>
          <a:prstGeom prst="rect">
            <a:avLst/>
          </a:prstGeom>
          <a:noFill/>
          <a:ln/>
        </p:spPr>
        <p:txBody>
          <a:bodyPr wrap="square" lIns="0" tIns="0" rIns="0" bIns="0" rtlCol="0" anchor="t"/>
          <a:lstStyle/>
          <a:p>
            <a:pPr indent="0" marL="0">
              <a:buNone/>
            </a:pPr>
            <a:r>
              <a:rPr lang="en-US" sz="1600" b="1" dirty="0">
                <a:solidFill>
                  <a:srgbClr val="64D2FF"/>
                </a:solidFill>
                <a:latin typeface="Calibri" pitchFamily="34" charset="0"/>
                <a:ea typeface="Calibri" pitchFamily="34" charset="-122"/>
                <a:cs typeface="Calibri" pitchFamily="34" charset="-120"/>
              </a:rPr>
              <a:t>reachnt.vercel.app  ·  github.com/harshrastogii/reachnt</a:t>
            </a:r>
            <a:endParaRPr lang="en-US" sz="1600" dirty="0"/>
          </a:p>
        </p:txBody>
      </p:sp>
      <p:sp>
        <p:nvSpPr>
          <p:cNvPr id="7" name="thanks"/>
          <p:cNvSpPr txBox="1"/>
          <p:nvPr/>
        </p:nvSpPr>
        <p:spPr>
          <a:xfrm>
            <a:off x="731520" y="5486400"/>
            <a:ext cx="5852160" cy="36576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Thank you. Questions welcome.</a:t>
            </a:r>
            <a:endParaRPr lang="en-US" sz="1800" dirty="0"/>
          </a:p>
        </p:txBody>
      </p:sp>
      <p:sp>
        <p:nvSpPr>
          <p:cNvPr id="9" name="Text 0"/>
          <p:cNvSpPr/>
          <p:nvPr>
            <p:ph idx="100" type="title" hasCustomPrompt="1"/>
          </p:nvPr>
        </p:nvSpPr>
        <p:spPr>
          <a:xfrm>
            <a:off x="731520" y="1463040"/>
            <a:ext cx="6766560" cy="1280160"/>
          </a:xfrm>
          <a:prstGeom prst="rect">
            <a:avLst/>
          </a:prstGeom>
          <a:noFill/>
          <a:ln/>
        </p:spPr>
        <p:txBody>
          <a:bodyPr wrap="square" rtlCol="0" anchor="b"/>
          <a:lstStyle/>
          <a:p>
            <a:pPr algn="l" indent="0" marL="0">
              <a:buNone/>
            </a:pPr>
            <a:endParaRPr lang="en-US" sz="6000" dirty="0"/>
          </a:p>
        </p:txBody>
      </p:sp>
    </p:spTree>
  </p:cSld>
  <p:clrMapOvr>
    <a:masterClrMapping/>
  </p:clrMapOvr>
</p:sld>
</file>

<file path=ppt/theme/theme1.xml><?xml version="1.0" encoding="utf-8"?>
<a:theme xmlns:a="http://schemas.openxmlformats.org/drawingml/2006/main" name="ReachNT">
  <a:themeElements>
    <a:clrScheme name="ReachNT">
      <a:dk1>
        <a:srgbClr val="14181D"/>
      </a:dk1>
      <a:lt1>
        <a:srgbClr val="FFFFFF"/>
      </a:lt1>
      <a:dk2>
        <a:srgbClr val="4A525C"/>
      </a:dk2>
      <a:lt2>
        <a:srgbClr val="F1F3F5"/>
      </a:lt2>
      <a:accent1>
        <a:srgbClr val="0E8FB8"/>
      </a:accent1>
      <a:accent2>
        <a:srgbClr val="D97706"/>
      </a:accent2>
      <a:accent3>
        <a:srgbClr val="1F9D4C"/>
      </a:accent3>
      <a:accent4>
        <a:srgbClr val="0A7AFF"/>
      </a:accent4>
      <a:accent5>
        <a:srgbClr val="6E56CF"/>
      </a:accent5>
      <a:accent6>
        <a:srgbClr val="E5352B"/>
      </a:accent6>
      <a:hlink>
        <a:srgbClr val="0A7AFF"/>
      </a:hlink>
      <a:folHlink>
        <a:srgbClr val="6E56CF"/>
      </a:folHlink>
    </a:clrScheme>
    <a:fontScheme name="Reach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ReachNT</dc:title>
  <dc:subject>CDU IT Code Fair 2026, Artificial Intelligence Challenge: housing maintenance triage</dc:subject>
  <dc:creator>Team AIC015 Top Enders</dc:creator>
  <cp:lastModifiedBy>Team AIC015 Top Enders</cp:lastModifiedBy>
  <cp:revision>1</cp:revision>
  <dcterms:created xsi:type="dcterms:W3CDTF">2026-10-07T19:23:59Z</dcterms:created>
  <dcterms:modified xsi:type="dcterms:W3CDTF">2026-10-07T19:23:59Z</dcterms:modified>
</cp:coreProperties>
</file>