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a92768-c1a7-591d-4e0d-97f8ba905bd4}">
          <p14:sldIdLst>
            <p14:sldId id="256"/>
          </p14:sldIdLst>
        </p14:section>
        <p14:section name="Problem" id="{a585309f-4f54-a049-5b85-f8f8f334994b}">
          <p14:sldIdLst>
            <p14:sldId id="257"/>
            <p14:sldId id="258"/>
          </p14:sldIdLst>
        </p14:section>
        <p14:section name="Solution" id="{518a4d07-fa59-bf28-086b-b32c287ccd8f}">
          <p14:sldIdLst>
            <p14:sldId id="259"/>
            <p14:sldId id="260"/>
          </p14:sldIdLst>
        </p14:section>
        <p14:section name="Findings" id="{305b7d7a-0d95-6d29-c0ae-4734405e9a9f}">
          <p14:sldIdLst>
            <p14:sldId id="261"/>
            <p14:sldId id="262"/>
          </p14:sldIdLst>
        </p14:section>
        <p14:section name="Product" id="{f9e7fd67-aca2-c250-ff29-e31f9c97bb43}">
          <p14:sldIdLst>
            <p14:sldId id="263"/>
            <p14:sldId id="264"/>
          </p14:sldIdLst>
        </p14:section>
        <p14:section name="Trust" id="{576834be-dd71-e521-8528-1389c96d7bbd}">
          <p14:sldIdLst>
            <p14:sldId id="265"/>
            <p14:sldId id="266"/>
          </p14:sldIdLst>
        </p14:section>
        <p14:section name="Close" id="{1e6d8932-4c45-5958-3764-e726c58a3f3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Days until 9 in 10 urgent repairs are fixed</a:t>
            </a:r>
          </a:p>
        </c:rich>
      </c:tx>
      <c:layout/>
      <c:overlay val="0"/>
    </c:title>
    <c:autoTitleDeleted val="0"/>
    <c:plotArea>
      <c:layout/>
      <c:barChart>
        <c:barDir val="bar"/>
        <c:grouping val="clustered"/>
        <c:varyColors val="0"/>
        <c:ser>
          <c:idx val="0"/>
          <c:order val="0"/>
          <c:tx>
            <c:strRef>
              <c:f>Sheet1!$B$1</c:f>
              <c:strCache>
                <c:ptCount val="1"/>
                <c:pt idx="0">
                  <c:v>Cheapest jobs first</c:v>
                </c:pt>
              </c:strCache>
            </c:strRef>
          </c:tx>
          <c:spPr>
            <a:solidFill>
              <a:srgbClr val="D97706"/>
            </a:solidFill>
            <a:effectLst/>
          </c:spPr>
          <c:invertIfNegative val="0"/>
          <c:dLbls>
            <c:numFmt formatCode="#,##0" sourceLinked="0"/>
            <c:txPr>
              <a:bodyPr/>
              <a:lstStyle/>
              <a:p>
                <a:pPr>
                  <a:defRPr b="0" i="0" strike="noStrike" sz="1000" u="none">
                    <a:solidFill>
                      <a:srgbClr val="4A525C"/>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 (road)</c:v>
                  </c:pt>
                  <c:pt idx="2">
                    <c:v>Remote (road)</c:v>
                  </c:pt>
                  <c:pt idx="3">
                    <c:v>Very remote (road)</c:v>
                  </c:pt>
                  <c:pt idx="4">
                    <c:v>Remote, cut in the wet</c:v>
                  </c:pt>
                  <c:pt idx="5">
                    <c:v>Island (fly-in)</c:v>
                  </c:pt>
                </c:lvl>
              </c:multiLvlStrCache>
            </c:multiLvlStrRef>
          </c:cat>
          <c:val>
            <c:numRef>
              <c:f>Sheet1!$B$2:$B$7</c:f>
              <c:numCache>
                <c:formatCode>General</c:formatCode>
                <c:ptCount val="6"/>
                <c:pt idx="0">
                  <c:v>3</c:v>
                </c:pt>
                <c:pt idx="1">
                  <c:v>3</c:v>
                </c:pt>
                <c:pt idx="2">
                  <c:v>58</c:v>
                </c:pt>
                <c:pt idx="3">
                  <c:v>69</c:v>
                </c:pt>
                <c:pt idx="4">
                  <c:v>79</c:v>
                </c:pt>
                <c:pt idx="5">
                  <c:v>71</c:v>
                </c:pt>
              </c:numCache>
            </c:numRef>
          </c:val>
        </c:ser>
        <c:ser>
          <c:idx val="1"/>
          <c:order val="1"/>
          <c:tx>
            <c:strRef>
              <c:f>Sheet1!$C$1</c:f>
              <c:strCache>
                <c:ptCount val="1"/>
                <c:pt idx="0">
                  <c:v>Urgent first, one community per trip</c:v>
                </c:pt>
              </c:strCache>
            </c:strRef>
          </c:tx>
          <c:spPr>
            <a:solidFill>
              <a:srgbClr val="0A7AFF"/>
            </a:solidFill>
            <a:effectLst/>
          </c:spPr>
          <c:invertIfNegative val="0"/>
          <c:dLbls>
            <c:numFmt formatCode="#,##0" sourceLinked="0"/>
            <c:txPr>
              <a:bodyPr/>
              <a:lstStyle/>
              <a:p>
                <a:pPr>
                  <a:defRPr b="0" i="0" strike="noStrike" sz="1000" u="none">
                    <a:solidFill>
                      <a:srgbClr val="4A525C"/>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 (road)</c:v>
                  </c:pt>
                  <c:pt idx="2">
                    <c:v>Remote (road)</c:v>
                  </c:pt>
                  <c:pt idx="3">
                    <c:v>Very remote (road)</c:v>
                  </c:pt>
                  <c:pt idx="4">
                    <c:v>Remote, cut in the wet</c:v>
                  </c:pt>
                  <c:pt idx="5">
                    <c:v>Island (fly-in)</c:v>
                  </c:pt>
                </c:lvl>
              </c:multiLvlStrCache>
            </c:multiLvlStrRef>
          </c:cat>
          <c:val>
            <c:numRef>
              <c:f>Sheet1!$C$2:$C$7</c:f>
              <c:numCache>
                <c:formatCode>General</c:formatCode>
                <c:ptCount val="6"/>
                <c:pt idx="0">
                  <c:v>3</c:v>
                </c:pt>
                <c:pt idx="1">
                  <c:v>3</c:v>
                </c:pt>
                <c:pt idx="2">
                  <c:v>13</c:v>
                </c:pt>
                <c:pt idx="3">
                  <c:v>20</c:v>
                </c:pt>
                <c:pt idx="4">
                  <c:v>7</c:v>
                </c:pt>
                <c:pt idx="5">
                  <c:v>3</c:v>
                </c:pt>
              </c:numCache>
            </c:numRef>
          </c:val>
        </c:ser>
        <c:ser>
          <c:idx val="2"/>
          <c:order val="2"/>
          <c:tx>
            <c:strRef>
              <c:f>Sheet1!$D$1</c:f>
              <c:strCache>
                <c:ptCount val="1"/>
                <c:pt idx="0">
                  <c:v>ReachNT: urgent first, shared trips</c:v>
                </c:pt>
              </c:strCache>
            </c:strRef>
          </c:tx>
          <c:spPr>
            <a:solidFill>
              <a:srgbClr val="0E8FB8"/>
            </a:solidFill>
            <a:effectLst/>
          </c:spPr>
          <c:invertIfNegative val="0"/>
          <c:dLbls>
            <c:numFmt formatCode="#,##0" sourceLinked="0"/>
            <c:txPr>
              <a:bodyPr/>
              <a:lstStyle/>
              <a:p>
                <a:pPr>
                  <a:defRPr b="0" i="0" strike="noStrike" sz="1000" u="none">
                    <a:solidFill>
                      <a:srgbClr val="4A525C"/>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 (road)</c:v>
                  </c:pt>
                  <c:pt idx="2">
                    <c:v>Remote (road)</c:v>
                  </c:pt>
                  <c:pt idx="3">
                    <c:v>Very remote (road)</c:v>
                  </c:pt>
                  <c:pt idx="4">
                    <c:v>Remote, cut in the wet</c:v>
                  </c:pt>
                  <c:pt idx="5">
                    <c:v>Island (fly-in)</c:v>
                  </c:pt>
                </c:lvl>
              </c:multiLvlStrCache>
            </c:multiLvlStrRef>
          </c:cat>
          <c:val>
            <c:numRef>
              <c:f>Sheet1!$D$2:$D$7</c:f>
              <c:numCache>
                <c:formatCode>General</c:formatCode>
                <c:ptCount val="6"/>
                <c:pt idx="0">
                  <c:v>3</c:v>
                </c:pt>
                <c:pt idx="1">
                  <c:v>3</c:v>
                </c:pt>
                <c:pt idx="2">
                  <c:v>8</c:v>
                </c:pt>
                <c:pt idx="3">
                  <c:v>15</c:v>
                </c:pt>
                <c:pt idx="4">
                  <c:v>3</c:v>
                </c:pt>
                <c:pt idx="5">
                  <c:v>3</c:v>
                </c:pt>
              </c:numCache>
            </c:numRef>
          </c:val>
        </c:ser>
        <c:dLbls>
          <c:numFmt formatCode="#,##0" sourceLinked="0"/>
          <c:txPr>
            <a:bodyPr/>
            <a:lstStyle/>
            <a:p>
              <a:pPr>
                <a:defRPr b="0" i="0" strike="noStrike" sz="1000" u="none">
                  <a:solidFill>
                    <a:srgbClr val="4A525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DE1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2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52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Remote NT housing repairs: too few trades, huge distances. Any schedule built for efficiency quietly sends remote tenants to the back. ReachNT ranks by need, uses Uber's H3 hexagons to share trips, prices the equity trade-off, makes a named person sign it, and tells every tenant why they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clock already gives remote houses 2.5 times longer. Costs explain why. Left alone, a cost-optimised schedule pushes remote work back further, and nobody signs off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Urgency and logistics are separate steps. A single priority score that mixes them is how distance gets in without anyone choosing it. A unit test fails if location appears in the urgency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is free and open source, with bindings for Python, JavaScript and Postgres. In a place with few people and huge distances, the win is grouping work fairly in every direction. H3 does not know roads; we pair it with the road-closure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point is one setting run over the same synthetic year. Days living with faults add up every day a household lived with an unfixed fault; dangerous faults count more. The coordinator chooses a point; ReachNT sits at the knee.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trips help most where communities have a neighbour within two rings: cut-in-the-wet communities go from 7 to 3 days. Small very remote road communities stay hardest; that points to local trades.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switch to Tradesperson, then Tenant. Change the setting at the top and the tenant's answer changes, because the reason changes. Sign a setting in Trade-off and the answer names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piece is open source, hosted in Australia, and sized for a territory with few people. Paid platforms would add a licence for every coordinator, contractor and housing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ReachNT does not pick. It shows the trade-off, makes someone own it, and lets every tenant ask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lstStyle>
            <a:lvl1pPr algn="l" indent="0" marL="0">
              <a:buNone/>
              <a:defRPr lang="en-US" sz="5400" b="1" dirty="0">
                <a:solidFill>
                  <a:schemeClr val="bg1"/>
                </a:solidFill>
                <a:latin typeface="Arial" pitchFamily="34" charset="0"/>
                <a:ea typeface="Arial" pitchFamily="34" charset="-122"/>
                <a:cs typeface="Arial" pitchFamily="34" charset="-120"/>
              </a:defRPr>
            </a:lvl1pPr>
          </a:lstStyle>
          <a:p>
            <a:pPr algn="l" indent="0" marL="0">
              <a:buNone/>
            </a:pPr>
            <a:endParaRPr lang="en-US" sz="5400" dirty="0"/>
          </a:p>
        </p:txBody>
      </p:sp>
      <p:sp>
        <p:nvSpPr>
          <p:cNvPr id="3" name="Text 0"/>
          <p:cNvSpPr/>
          <p:nvPr>
            <p:ph idx="101" type="body" hasCustomPrompt="1"/>
          </p:nvPr>
        </p:nvSpPr>
        <p:spPr>
          <a:xfrm>
            <a:off x="731520" y="3337560"/>
            <a:ext cx="10058400" cy="1463040"/>
          </a:xfrm>
          <a:prstGeom prst="rect">
            <a:avLst/>
          </a:prstGeom>
          <a:noFill/>
          <a:ln/>
        </p:spPr>
        <p:txBody>
          <a:bodyPr wrap="square" rtlCol="0"/>
          <a:lstStyle>
            <a:lvl1pPr algn="l" indent="0" marL="0">
              <a:buNone/>
              <a:defRPr lang="en-US" sz="2200" dirty="0">
                <a:solidFill>
                  <a:srgbClr val="C9CFD6"/>
                </a:solidFill>
              </a:defRPr>
            </a:lvl1pPr>
          </a:lstStyle>
          <a:p>
            <a:pPr algn="l" indent="0" marL="0">
              <a:buNone/>
            </a:pPr>
            <a:endParaRPr lang="en-US" sz="2200" dirty="0"/>
          </a:p>
        </p:txBody>
      </p:sp>
      <p:sp>
        <p:nvSpPr>
          <p:cNvPr id="4" name="Text 0"/>
          <p:cNvSpPr/>
          <p:nvPr/>
        </p:nvSpPr>
        <p:spPr>
          <a:xfrm>
            <a:off x="731520" y="6126480"/>
            <a:ext cx="10698480" cy="365760"/>
          </a:xfrm>
          <a:prstGeom prst="rect">
            <a:avLst/>
          </a:prstGeom>
          <a:noFill/>
          <a:ln/>
        </p:spPr>
        <p:txBody>
          <a:bodyPr wrap="square" rtlCol="0" anchor="ctr"/>
          <a:lstStyle/>
          <a:p>
            <a:pPr indent="0" marL="0">
              <a:buNone/>
            </a:pPr>
            <a:r>
              <a:rPr lang="en-US" sz="1200" dirty="0">
                <a:solidFill>
                  <a:srgbClr val="9AA3AD"/>
                </a:solidFill>
              </a:rPr>
              <a:t>CDU IT Code Fair 2026 · AI Challenge · Team AIC015 Top Enders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Lis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97280"/>
          </a:xfrm>
          <a:prstGeom prst="rect">
            <a:avLst/>
          </a:prstGeom>
          <a:noFill/>
          <a:ln/>
        </p:spPr>
        <p:txBody>
          <a:bodyPr wrap="square" rtlCol="0"/>
          <a:lstStyle>
            <a:lvl1pPr algn="l" indent="0" marL="0">
              <a:buNone/>
              <a:defRPr lang="en-US" sz="3800" b="1" dirty="0">
                <a:solidFill>
                  <a:schemeClr val="bg1"/>
                </a:solidFill>
                <a:latin typeface="Arial" pitchFamily="34" charset="0"/>
                <a:ea typeface="Arial" pitchFamily="34" charset="-122"/>
                <a:cs typeface="Arial" pitchFamily="34" charset="-120"/>
              </a:defRPr>
            </a:lvl1pPr>
          </a:lstStyle>
          <a:p>
            <a:pPr algn="l" indent="0" marL="0">
              <a:buNone/>
            </a:pPr>
            <a:endParaRPr lang="en-US" sz="3800" dirty="0"/>
          </a:p>
        </p:txBody>
      </p:sp>
      <p:sp>
        <p:nvSpPr>
          <p:cNvPr id="3" name="Text 0"/>
          <p:cNvSpPr/>
          <p:nvPr>
            <p:ph idx="101" type="body" hasCustomPrompt="1"/>
          </p:nvPr>
        </p:nvSpPr>
        <p:spPr>
          <a:xfrm>
            <a:off x="731520" y="1920240"/>
            <a:ext cx="10698480" cy="3931920"/>
          </a:xfrm>
          <a:prstGeom prst="rect">
            <a:avLst/>
          </a:prstGeom>
          <a:noFill/>
          <a:ln/>
        </p:spPr>
        <p:txBody>
          <a:bodyPr wrap="square" rtlCol="0"/>
          <a:lstStyle>
            <a:lvl1pPr algn="l" indent="0" marL="0">
              <a:buNone/>
              <a:defRPr lang="en-US" sz="1900" dirty="0">
                <a:solidFill>
                  <a:srgbClr val="E3E7EB"/>
                </a:solidFill>
              </a:defRPr>
            </a:lvl1pPr>
          </a:lstStyle>
          <a:p>
            <a:pPr algn="l" indent="0" marL="0">
              <a:buNone/>
            </a:pPr>
            <a:endParaRPr lang="en-US" sz="1900" dirty="0"/>
          </a:p>
        </p:txBody>
      </p:sp>
      <p:sp>
        <p:nvSpPr>
          <p:cNvPr id="4" name="Text 0"/>
          <p:cNvSpPr/>
          <p:nvPr/>
        </p:nvSpPr>
        <p:spPr>
          <a:xfrm>
            <a:off x="731520" y="6126480"/>
            <a:ext cx="10698480" cy="365760"/>
          </a:xfrm>
          <a:prstGeom prst="rect">
            <a:avLst/>
          </a:prstGeom>
          <a:noFill/>
          <a:ln/>
        </p:spPr>
        <p:txBody>
          <a:bodyPr wrap="square" rtlCol="0" anchor="ctr"/>
          <a:lstStyle/>
          <a:p>
            <a:pPr indent="0" marL="0">
              <a:buNone/>
            </a:pPr>
            <a:r>
              <a:rPr lang="en-US" sz="1200" dirty="0">
                <a:solidFill>
                  <a:srgbClr val="9AA3AD"/>
                </a:solidFill>
              </a:rPr>
              <a:t>CDU IT Code Fair 2026 · AI Challenge · Team AIC015 Top Enders</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3200" b="1" dirty="0">
                <a:solidFill>
                  <a:schemeClr val="tx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7B8490"/>
                </a:solidFill>
              </a:rPr>
              <a:t>ReachNT · Team AIC015 Top Enders · synthetic requests, real geography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ho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9AA3AD"/>
                </a:solidFill>
              </a:rPr>
              <a:t>ReachNT · Team AIC015 Top Enders · synthetic requests, real geography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5.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nchor="b"/>
          <a:lstStyle/>
          <a:p>
            <a:pPr algn="l" indent="0" marL="0">
              <a:buNone/>
            </a:pPr>
            <a:r>
              <a:rPr lang="en-US" sz="5400" b="1" dirty="0">
                <a:solidFill>
                  <a:schemeClr val="bg1"/>
                </a:solidFill>
                <a:latin typeface="Arial" pitchFamily="34" charset="0"/>
                <a:ea typeface="Arial" pitchFamily="34" charset="-122"/>
                <a:cs typeface="Arial" pitchFamily="34" charset="-120"/>
              </a:rPr>
              <a:t>ReachNT</a:t>
            </a:r>
            <a:endParaRPr lang="en-US" sz="5400" dirty="0"/>
          </a:p>
        </p:txBody>
      </p:sp>
      <p:sp>
        <p:nvSpPr>
          <p:cNvPr id="3" name="Text 0"/>
          <p:cNvSpPr/>
          <p:nvPr>
            <p:ph idx="101" type="body" hasCustomPrompt="1"/>
          </p:nvPr>
        </p:nvSpPr>
        <p:spPr>
          <a:xfrm>
            <a:off x="731520" y="3337560"/>
            <a:ext cx="10058400" cy="1463040"/>
          </a:xfrm>
          <a:prstGeom prst="rect">
            <a:avLst/>
          </a:prstGeom>
          <a:noFill/>
          <a:ln/>
        </p:spPr>
        <p:txBody>
          <a:bodyPr wrap="square" rtlCol="0" anchor="t"/>
          <a:lstStyle/>
          <a:p>
            <a:pPr algn="l" indent="0" marL="0">
              <a:buNone/>
            </a:pPr>
            <a:r>
              <a:rPr lang="en-US" sz="2200" dirty="0">
                <a:solidFill>
                  <a:srgbClr val="C9CFD6"/>
                </a:solidFill>
              </a:rPr>
              <a:t>Remote repair triage that ranks by need, shares trips with H3 hexagons, and makes someone sign for who waits</a:t>
            </a:r>
            <a:endParaRPr lang="en-US" sz="2200" dirty="0"/>
          </a:p>
          <a:p>
            <a:pPr algn="l" indent="0" marL="0">
              <a:buNone/>
            </a:pPr>
            <a:r>
              <a:rPr lang="en-US" sz="1600" dirty="0">
                <a:solidFill>
                  <a:srgbClr val="9AA3AD"/>
                </a:solidFill>
              </a:rPr>
              <a:t>Harsh Rastogi · Aashish</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Town jobs always look cheaper, so remote tenants wait</a:t>
            </a:r>
            <a:endParaRPr lang="en-US" sz="3200" dirty="0"/>
          </a:p>
        </p:txBody>
      </p:sp>
      <p:sp>
        <p:nvSpPr>
          <p:cNvPr id="3" name="prob-0"/>
          <p:cNvSpPr/>
          <p:nvPr/>
        </p:nvSpPr>
        <p:spPr>
          <a:xfrm>
            <a:off x="548640" y="1600200"/>
            <a:ext cx="2606040" cy="3017520"/>
          </a:xfrm>
          <a:prstGeom prst="roundRect">
            <a:avLst>
              <a:gd name="adj" fmla="val 2807"/>
            </a:avLst>
          </a:prstGeom>
          <a:solidFill>
            <a:srgbClr val="F1F3F5"/>
          </a:solidFill>
          <a:ln w="12700">
            <a:solidFill>
              <a:srgbClr val="F1F3F5"/>
            </a:solidFill>
            <a:prstDash val="solid"/>
          </a:ln>
        </p:spPr>
      </p:sp>
      <p:sp>
        <p:nvSpPr>
          <p:cNvPr id="4" name="prob-0-n"/>
          <p:cNvSpPr txBox="1"/>
          <p:nvPr/>
        </p:nvSpPr>
        <p:spPr>
          <a:xfrm>
            <a:off x="777240" y="1828800"/>
            <a:ext cx="2194560" cy="868680"/>
          </a:xfrm>
          <a:prstGeom prst="rect">
            <a:avLst/>
          </a:prstGeom>
          <a:noFill/>
          <a:ln/>
        </p:spPr>
        <p:txBody>
          <a:bodyPr wrap="square" lIns="0" tIns="0" rIns="0" bIns="0" rtlCol="0" anchor="t"/>
          <a:lstStyle/>
          <a:p>
            <a:pPr indent="0" marL="0">
              <a:buNone/>
            </a:pPr>
            <a:r>
              <a:rPr lang="en-US" sz="4600" b="1" dirty="0">
                <a:solidFill>
                  <a:srgbClr val="14181D"/>
                </a:solidFill>
                <a:latin typeface="Arial" pitchFamily="34" charset="0"/>
                <a:ea typeface="Arial" pitchFamily="34" charset="-122"/>
                <a:cs typeface="Arial" pitchFamily="34" charset="-120"/>
              </a:rPr>
              <a:t>5,058</a:t>
            </a:r>
            <a:endParaRPr lang="en-US" sz="4600" dirty="0"/>
          </a:p>
        </p:txBody>
      </p:sp>
      <p:sp>
        <p:nvSpPr>
          <p:cNvPr id="5" name="prob-0-l"/>
          <p:cNvSpPr txBox="1"/>
          <p:nvPr/>
        </p:nvSpPr>
        <p:spPr>
          <a:xfrm>
            <a:off x="777240" y="2743200"/>
            <a:ext cx="2194560" cy="1188720"/>
          </a:xfrm>
          <a:prstGeom prst="rect">
            <a:avLst/>
          </a:prstGeom>
          <a:noFill/>
          <a:ln/>
        </p:spPr>
        <p:txBody>
          <a:bodyPr wrap="square" lIns="0" tIns="0" rIns="0" bIns="0" rtlCol="0" anchor="t"/>
          <a:lstStyle/>
          <a:p>
            <a:pPr indent="0" marL="0">
              <a:buNone/>
            </a:pPr>
            <a:r>
              <a:rPr lang="en-US" sz="1600" dirty="0">
                <a:solidFill>
                  <a:srgbClr val="4A525C"/>
                </a:solidFill>
              </a:rPr>
              <a:t>remote public housing dwellings in 73 NT communities (DHLGCD)</a:t>
            </a:r>
            <a:endParaRPr lang="en-US" sz="1600" dirty="0"/>
          </a:p>
        </p:txBody>
      </p:sp>
      <p:sp>
        <p:nvSpPr>
          <p:cNvPr id="6" name="prob-1"/>
          <p:cNvSpPr/>
          <p:nvPr/>
        </p:nvSpPr>
        <p:spPr>
          <a:xfrm>
            <a:off x="3364992" y="1600200"/>
            <a:ext cx="2606040" cy="3017520"/>
          </a:xfrm>
          <a:prstGeom prst="roundRect">
            <a:avLst>
              <a:gd name="adj" fmla="val 2807"/>
            </a:avLst>
          </a:prstGeom>
          <a:solidFill>
            <a:srgbClr val="F1F3F5"/>
          </a:solidFill>
          <a:ln w="12700">
            <a:solidFill>
              <a:srgbClr val="F1F3F5"/>
            </a:solidFill>
            <a:prstDash val="solid"/>
          </a:ln>
        </p:spPr>
      </p:sp>
      <p:sp>
        <p:nvSpPr>
          <p:cNvPr id="7" name="prob-1-n"/>
          <p:cNvSpPr txBox="1"/>
          <p:nvPr/>
        </p:nvSpPr>
        <p:spPr>
          <a:xfrm>
            <a:off x="3593592" y="1828800"/>
            <a:ext cx="2194560" cy="868680"/>
          </a:xfrm>
          <a:prstGeom prst="rect">
            <a:avLst/>
          </a:prstGeom>
          <a:noFill/>
          <a:ln/>
        </p:spPr>
        <p:txBody>
          <a:bodyPr wrap="square" lIns="0" tIns="0" rIns="0" bIns="0" rtlCol="0" anchor="t"/>
          <a:lstStyle/>
          <a:p>
            <a:pPr indent="0" marL="0">
              <a:buNone/>
            </a:pPr>
            <a:r>
              <a:rPr lang="en-US" sz="4600" b="1" dirty="0">
                <a:solidFill>
                  <a:srgbClr val="D97706"/>
                </a:solidFill>
                <a:latin typeface="Arial" pitchFamily="34" charset="0"/>
                <a:ea typeface="Arial" pitchFamily="34" charset="-122"/>
                <a:cs typeface="Arial" pitchFamily="34" charset="-120"/>
              </a:rPr>
              <a:t>5 vs 2</a:t>
            </a:r>
            <a:endParaRPr lang="en-US" sz="4600" dirty="0"/>
          </a:p>
        </p:txBody>
      </p:sp>
      <p:sp>
        <p:nvSpPr>
          <p:cNvPr id="8" name="prob-1-l"/>
          <p:cNvSpPr txBox="1"/>
          <p:nvPr/>
        </p:nvSpPr>
        <p:spPr>
          <a:xfrm>
            <a:off x="3593592" y="2743200"/>
            <a:ext cx="2194560" cy="1188720"/>
          </a:xfrm>
          <a:prstGeom prst="rect">
            <a:avLst/>
          </a:prstGeom>
          <a:noFill/>
          <a:ln/>
        </p:spPr>
        <p:txBody>
          <a:bodyPr wrap="square" lIns="0" tIns="0" rIns="0" bIns="0" rtlCol="0" anchor="t"/>
          <a:lstStyle/>
          <a:p>
            <a:pPr indent="0" marL="0">
              <a:buNone/>
            </a:pPr>
            <a:r>
              <a:rPr lang="en-US" sz="1600" dirty="0">
                <a:solidFill>
                  <a:srgbClr val="4A525C"/>
                </a:solidFill>
              </a:rPr>
              <a:t>business days for an urgent repair, remote vs town, in the official NT standard (FS17)</a:t>
            </a:r>
            <a:endParaRPr lang="en-US" sz="1600" dirty="0"/>
          </a:p>
        </p:txBody>
      </p:sp>
      <p:sp>
        <p:nvSpPr>
          <p:cNvPr id="9" name="prob-2"/>
          <p:cNvSpPr/>
          <p:nvPr/>
        </p:nvSpPr>
        <p:spPr>
          <a:xfrm>
            <a:off x="6181344" y="1600200"/>
            <a:ext cx="2606040" cy="3017520"/>
          </a:xfrm>
          <a:prstGeom prst="roundRect">
            <a:avLst>
              <a:gd name="adj" fmla="val 2807"/>
            </a:avLst>
          </a:prstGeom>
          <a:solidFill>
            <a:srgbClr val="F1F3F5"/>
          </a:solidFill>
          <a:ln w="12700">
            <a:solidFill>
              <a:srgbClr val="F1F3F5"/>
            </a:solidFill>
            <a:prstDash val="solid"/>
          </a:ln>
        </p:spPr>
      </p:sp>
      <p:sp>
        <p:nvSpPr>
          <p:cNvPr id="10" name="prob-2-n"/>
          <p:cNvSpPr txBox="1"/>
          <p:nvPr/>
        </p:nvSpPr>
        <p:spPr>
          <a:xfrm>
            <a:off x="6409944" y="1828800"/>
            <a:ext cx="2194560" cy="868680"/>
          </a:xfrm>
          <a:prstGeom prst="rect">
            <a:avLst/>
          </a:prstGeom>
          <a:noFill/>
          <a:ln/>
        </p:spPr>
        <p:txBody>
          <a:bodyPr wrap="square" lIns="0" tIns="0" rIns="0" bIns="0" rtlCol="0" anchor="t"/>
          <a:lstStyle/>
          <a:p>
            <a:pPr indent="0" marL="0">
              <a:buNone/>
            </a:pPr>
            <a:r>
              <a:rPr lang="en-US" sz="4600" b="1" dirty="0">
                <a:solidFill>
                  <a:srgbClr val="D97706"/>
                </a:solidFill>
                <a:latin typeface="Arial" pitchFamily="34" charset="0"/>
                <a:ea typeface="Arial" pitchFamily="34" charset="-122"/>
                <a:cs typeface="Arial" pitchFamily="34" charset="-120"/>
              </a:rPr>
              <a:t>8.5×</a:t>
            </a:r>
            <a:endParaRPr lang="en-US" sz="4600" dirty="0"/>
          </a:p>
        </p:txBody>
      </p:sp>
      <p:sp>
        <p:nvSpPr>
          <p:cNvPr id="11" name="prob-2-l"/>
          <p:cNvSpPr txBox="1"/>
          <p:nvPr/>
        </p:nvSpPr>
        <p:spPr>
          <a:xfrm>
            <a:off x="6409944" y="2743200"/>
            <a:ext cx="2194560" cy="1188720"/>
          </a:xfrm>
          <a:prstGeom prst="rect">
            <a:avLst/>
          </a:prstGeom>
          <a:noFill/>
          <a:ln/>
        </p:spPr>
        <p:txBody>
          <a:bodyPr wrap="square" lIns="0" tIns="0" rIns="0" bIns="0" rtlCol="0" anchor="t"/>
          <a:lstStyle/>
          <a:p>
            <a:pPr indent="0" marL="0">
              <a:buNone/>
            </a:pPr>
            <a:r>
              <a:rPr lang="en-US" sz="1600" dirty="0">
                <a:solidFill>
                  <a:srgbClr val="4A525C"/>
                </a:solidFill>
              </a:rPr>
              <a:t>what an emergency repair costs in a very remote community vs a remote one (Nous 2017)</a:t>
            </a:r>
            <a:endParaRPr lang="en-US" sz="1600" dirty="0"/>
          </a:p>
        </p:txBody>
      </p:sp>
      <p:sp>
        <p:nvSpPr>
          <p:cNvPr id="12" name="prob-3"/>
          <p:cNvSpPr/>
          <p:nvPr/>
        </p:nvSpPr>
        <p:spPr>
          <a:xfrm>
            <a:off x="8997696" y="1600200"/>
            <a:ext cx="2606040" cy="3017520"/>
          </a:xfrm>
          <a:prstGeom prst="roundRect">
            <a:avLst>
              <a:gd name="adj" fmla="val 2807"/>
            </a:avLst>
          </a:prstGeom>
          <a:solidFill>
            <a:srgbClr val="F1F3F5"/>
          </a:solidFill>
          <a:ln w="12700">
            <a:solidFill>
              <a:srgbClr val="F1F3F5"/>
            </a:solidFill>
            <a:prstDash val="solid"/>
          </a:ln>
        </p:spPr>
      </p:sp>
      <p:sp>
        <p:nvSpPr>
          <p:cNvPr id="13" name="prob-3-n"/>
          <p:cNvSpPr txBox="1"/>
          <p:nvPr/>
        </p:nvSpPr>
        <p:spPr>
          <a:xfrm>
            <a:off x="9226296" y="1828800"/>
            <a:ext cx="2194560" cy="868680"/>
          </a:xfrm>
          <a:prstGeom prst="rect">
            <a:avLst/>
          </a:prstGeom>
          <a:noFill/>
          <a:ln/>
        </p:spPr>
        <p:txBody>
          <a:bodyPr wrap="square" lIns="0" tIns="0" rIns="0" bIns="0" rtlCol="0" anchor="t"/>
          <a:lstStyle/>
          <a:p>
            <a:pPr indent="0" marL="0">
              <a:buNone/>
            </a:pPr>
            <a:r>
              <a:rPr lang="en-US" sz="4600" b="1" dirty="0">
                <a:solidFill>
                  <a:srgbClr val="0A7AFF"/>
                </a:solidFill>
                <a:latin typeface="Arial" pitchFamily="34" charset="0"/>
                <a:ea typeface="Arial" pitchFamily="34" charset="-122"/>
                <a:cs typeface="Arial" pitchFamily="34" charset="-120"/>
              </a:rPr>
              <a:t>96%</a:t>
            </a:r>
            <a:endParaRPr lang="en-US" sz="4600" dirty="0"/>
          </a:p>
        </p:txBody>
      </p:sp>
      <p:sp>
        <p:nvSpPr>
          <p:cNvPr id="14" name="prob-3-l"/>
          <p:cNvSpPr txBox="1"/>
          <p:nvPr/>
        </p:nvSpPr>
        <p:spPr>
          <a:xfrm>
            <a:off x="9226296" y="2743200"/>
            <a:ext cx="2194560" cy="1188720"/>
          </a:xfrm>
          <a:prstGeom prst="rect">
            <a:avLst/>
          </a:prstGeom>
          <a:noFill/>
          <a:ln/>
        </p:spPr>
        <p:txBody>
          <a:bodyPr wrap="square" lIns="0" tIns="0" rIns="0" bIns="0" rtlCol="0" anchor="t"/>
          <a:lstStyle/>
          <a:p>
            <a:pPr indent="0" marL="0">
              <a:buNone/>
            </a:pPr>
            <a:r>
              <a:rPr lang="en-US" sz="1600" dirty="0">
                <a:solidFill>
                  <a:srgbClr val="4A525C"/>
                </a:solidFill>
              </a:rPr>
              <a:t>of an emergency job's cost can be travel; batched planned work 11–37% (Nous 2017)</a:t>
            </a:r>
            <a:endParaRPr lang="en-US" sz="1600" dirty="0"/>
          </a:p>
        </p:txBody>
      </p:sp>
      <p:sp>
        <p:nvSpPr>
          <p:cNvPr id="15" name="st"/>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600" i="1" dirty="0">
                <a:solidFill>
                  <a:srgbClr val="4A525C"/>
                </a:solidFill>
              </a:rPr>
              <a:t>Santa Teresa tenants listed 600+ repairs in 2015. The courts held public housing must be at least safe, and the High Court allowed compensation for the distress of unrepaired homes (2023).</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Left to “cheapest jobs first”, nobody decides who waits</a:t>
            </a:r>
            <a:endParaRPr lang="en-US" sz="3200" dirty="0"/>
          </a:p>
        </p:txBody>
      </p:sp>
      <p:sp>
        <p:nvSpPr>
          <p:cNvPr id="3" name="trap-r"/>
          <p:cNvSpPr/>
          <p:nvPr/>
        </p:nvSpPr>
        <p:spPr>
          <a:xfrm>
            <a:off x="548640" y="1554480"/>
            <a:ext cx="5394960" cy="2468880"/>
          </a:xfrm>
          <a:prstGeom prst="roundRect">
            <a:avLst>
              <a:gd name="adj" fmla="val 2963"/>
            </a:avLst>
          </a:prstGeom>
          <a:solidFill>
            <a:srgbClr val="FBEEDD"/>
          </a:solidFill>
          <a:ln w="12700">
            <a:solidFill>
              <a:srgbClr val="FBEEDD"/>
            </a:solidFill>
            <a:prstDash val="solid"/>
          </a:ln>
        </p:spPr>
      </p:sp>
      <p:sp>
        <p:nvSpPr>
          <p:cNvPr id="4" name="trap-r-n"/>
          <p:cNvSpPr txBox="1"/>
          <p:nvPr/>
        </p:nvSpPr>
        <p:spPr>
          <a:xfrm>
            <a:off x="868680" y="1828800"/>
            <a:ext cx="4846320" cy="868680"/>
          </a:xfrm>
          <a:prstGeom prst="rect">
            <a:avLst/>
          </a:prstGeom>
          <a:noFill/>
          <a:ln/>
        </p:spPr>
        <p:txBody>
          <a:bodyPr wrap="square" lIns="0" tIns="0" rIns="0" bIns="0" rtlCol="0" anchor="t"/>
          <a:lstStyle/>
          <a:p>
            <a:pPr indent="0" marL="0">
              <a:buNone/>
            </a:pPr>
            <a:r>
              <a:rPr lang="en-US" sz="4600" b="1" dirty="0">
                <a:solidFill>
                  <a:srgbClr val="D97706"/>
                </a:solidFill>
                <a:latin typeface="Arial" pitchFamily="34" charset="0"/>
                <a:ea typeface="Arial" pitchFamily="34" charset="-122"/>
                <a:cs typeface="Arial" pitchFamily="34" charset="-120"/>
              </a:rPr>
              <a:t>62 days</a:t>
            </a:r>
            <a:endParaRPr lang="en-US" sz="4600" dirty="0"/>
          </a:p>
        </p:txBody>
      </p:sp>
      <p:sp>
        <p:nvSpPr>
          <p:cNvPr id="5" name="trap-r-l"/>
          <p:cNvSpPr txBox="1"/>
          <p:nvPr/>
        </p:nvSpPr>
        <p:spPr>
          <a:xfrm>
            <a:off x="868680" y="2743200"/>
            <a:ext cx="4846320" cy="1188720"/>
          </a:xfrm>
          <a:prstGeom prst="rect">
            <a:avLst/>
          </a:prstGeom>
          <a:noFill/>
          <a:ln/>
        </p:spPr>
        <p:txBody>
          <a:bodyPr wrap="square" lIns="0" tIns="0" rIns="0" bIns="0" rtlCol="0" anchor="t"/>
          <a:lstStyle/>
          <a:p>
            <a:pPr indent="0" marL="0">
              <a:buNone/>
            </a:pPr>
            <a:r>
              <a:rPr lang="en-US" sz="1600" dirty="0">
                <a:solidFill>
                  <a:srgbClr val="4A525C"/>
                </a:solidFill>
              </a:rPr>
              <a:t>Urgent repairs in remote communities: 90% done within this. Cut off in the wet: 79 days.</a:t>
            </a:r>
            <a:endParaRPr lang="en-US" sz="1600" dirty="0"/>
          </a:p>
        </p:txBody>
      </p:sp>
      <p:sp>
        <p:nvSpPr>
          <p:cNvPr id="6" name="trap-t"/>
          <p:cNvSpPr/>
          <p:nvPr/>
        </p:nvSpPr>
        <p:spPr>
          <a:xfrm>
            <a:off x="6217920" y="1554480"/>
            <a:ext cx="5394960" cy="2468880"/>
          </a:xfrm>
          <a:prstGeom prst="roundRect">
            <a:avLst>
              <a:gd name="adj" fmla="val 2963"/>
            </a:avLst>
          </a:prstGeom>
          <a:solidFill>
            <a:srgbClr val="F1F3F5"/>
          </a:solidFill>
          <a:ln w="12700">
            <a:solidFill>
              <a:srgbClr val="F1F3F5"/>
            </a:solidFill>
            <a:prstDash val="solid"/>
          </a:ln>
        </p:spPr>
      </p:sp>
      <p:sp>
        <p:nvSpPr>
          <p:cNvPr id="7" name="trap-t-n"/>
          <p:cNvSpPr txBox="1"/>
          <p:nvPr/>
        </p:nvSpPr>
        <p:spPr>
          <a:xfrm>
            <a:off x="6537960" y="1828800"/>
            <a:ext cx="4846320" cy="868680"/>
          </a:xfrm>
          <a:prstGeom prst="rect">
            <a:avLst/>
          </a:prstGeom>
          <a:noFill/>
          <a:ln/>
        </p:spPr>
        <p:txBody>
          <a:bodyPr wrap="square" lIns="0" tIns="0" rIns="0" bIns="0" rtlCol="0" anchor="t"/>
          <a:lstStyle/>
          <a:p>
            <a:pPr indent="0" marL="0">
              <a:buNone/>
            </a:pPr>
            <a:r>
              <a:rPr lang="en-US" sz="4600" b="1" dirty="0">
                <a:solidFill>
                  <a:srgbClr val="14181D"/>
                </a:solidFill>
                <a:latin typeface="Arial" pitchFamily="34" charset="0"/>
                <a:ea typeface="Arial" pitchFamily="34" charset="-122"/>
                <a:cs typeface="Arial" pitchFamily="34" charset="-120"/>
              </a:rPr>
              <a:t>3 days</a:t>
            </a:r>
            <a:endParaRPr lang="en-US" sz="4600" dirty="0"/>
          </a:p>
        </p:txBody>
      </p:sp>
      <p:sp>
        <p:nvSpPr>
          <p:cNvPr id="8" name="trap-t-l"/>
          <p:cNvSpPr txBox="1"/>
          <p:nvPr/>
        </p:nvSpPr>
        <p:spPr>
          <a:xfrm>
            <a:off x="6537960" y="2743200"/>
            <a:ext cx="4846320" cy="1188720"/>
          </a:xfrm>
          <a:prstGeom prst="rect">
            <a:avLst/>
          </a:prstGeom>
          <a:noFill/>
          <a:ln/>
        </p:spPr>
        <p:txBody>
          <a:bodyPr wrap="square" lIns="0" tIns="0" rIns="0" bIns="0" rtlCol="0" anchor="t"/>
          <a:lstStyle/>
          <a:p>
            <a:pPr indent="0" marL="0">
              <a:buNone/>
            </a:pPr>
            <a:r>
              <a:rPr lang="en-US" sz="1600" dirty="0">
                <a:solidFill>
                  <a:srgbClr val="4A525C"/>
                </a:solidFill>
              </a:rPr>
              <a:t>Urgent repairs in the five hub towns. Same schedule, same crews.</a:t>
            </a:r>
            <a:endParaRPr lang="en-US" sz="1600" dirty="0"/>
          </a:p>
        </p:txBody>
      </p:sp>
      <p:sp>
        <p:nvSpPr>
          <p:cNvPr id="9" name="trap-note"/>
          <p:cNvSpPr txBox="1"/>
          <p:nvPr/>
        </p:nvSpPr>
        <p:spPr>
          <a:xfrm>
            <a:off x="548640" y="4297680"/>
            <a:ext cx="11064240" cy="1188720"/>
          </a:xfrm>
          <a:prstGeom prst="rect">
            <a:avLst/>
          </a:prstGeom>
          <a:noFill/>
          <a:ln/>
        </p:spPr>
        <p:txBody>
          <a:bodyPr wrap="square" lIns="0" tIns="0" rIns="0" bIns="0" rtlCol="0" anchor="t"/>
          <a:lstStyle/>
          <a:p>
            <a:pPr indent="0" marL="0">
              <a:buNone/>
            </a:pPr>
            <a:r>
              <a:rPr lang="en-US" sz="1700" dirty="0">
                <a:solidFill>
                  <a:srgbClr val="4A525C"/>
                </a:solidFill>
              </a:rPr>
              <a:t>One synthetic year on real NT geography: 70 communities, 8,345 houses, 37,515 requests, 71 tradespeople. Cheapest-first costs $558 a job, the lowest of any setting, which is why it looks reasonable on a cost report. 43% of remote urgent repairs pass even the official 5-day remote clock.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Rank by need. Share trips with hexagons. Price the gap</a:t>
            </a:r>
            <a:endParaRPr lang="en-US" sz="3200" dirty="0"/>
          </a:p>
        </p:txBody>
      </p:sp>
      <p:sp>
        <p:nvSpPr>
          <p:cNvPr id="3" name="step-0"/>
          <p:cNvSpPr/>
          <p:nvPr/>
        </p:nvSpPr>
        <p:spPr>
          <a:xfrm>
            <a:off x="548640" y="1600200"/>
            <a:ext cx="2103120" cy="3657600"/>
          </a:xfrm>
          <a:prstGeom prst="roundRect">
            <a:avLst>
              <a:gd name="adj" fmla="val 3478"/>
            </a:avLst>
          </a:prstGeom>
          <a:solidFill>
            <a:srgbClr val="F1F3F5"/>
          </a:solidFill>
          <a:ln w="12700">
            <a:solidFill>
              <a:srgbClr val="F1F3F5"/>
            </a:solidFill>
            <a:prstDash val="solid"/>
          </a:ln>
        </p:spPr>
      </p:sp>
      <p:sp>
        <p:nvSpPr>
          <p:cNvPr id="4" name="step-h-0"/>
          <p:cNvSpPr/>
          <p:nvPr/>
        </p:nvSpPr>
        <p:spPr>
          <a:xfrm>
            <a:off x="731520" y="1783080"/>
            <a:ext cx="548640" cy="475488"/>
          </a:xfrm>
          <a:prstGeom prst="hexagon">
            <a:avLst/>
          </a:prstGeom>
          <a:solidFill>
            <a:srgbClr val="0A7AFF"/>
          </a:solidFill>
          <a:ln w="12700">
            <a:solidFill>
              <a:srgbClr val="0A7AFF"/>
            </a:solidFill>
            <a:prstDash val="solid"/>
          </a:ln>
        </p:spPr>
      </p:sp>
      <p:sp>
        <p:nvSpPr>
          <p:cNvPr id="5" name="step-n-0"/>
          <p:cNvSpPr txBox="1"/>
          <p:nvPr/>
        </p:nvSpPr>
        <p:spPr>
          <a:xfrm>
            <a:off x="731520"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step-t-0"/>
          <p:cNvSpPr txBox="1"/>
          <p:nvPr/>
        </p:nvSpPr>
        <p:spPr>
          <a:xfrm>
            <a:off x="731520"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Read</a:t>
            </a:r>
            <a:endParaRPr lang="en-US" sz="1800" dirty="0"/>
          </a:p>
        </p:txBody>
      </p:sp>
      <p:sp>
        <p:nvSpPr>
          <p:cNvPr id="7" name="step-b-0"/>
          <p:cNvSpPr txBox="1"/>
          <p:nvPr/>
        </p:nvSpPr>
        <p:spPr>
          <a:xfrm>
            <a:off x="731520"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Phrase rules + a text model turn a free-text report into a fault, trade and health practice. Unsure or dangerous: a person.</a:t>
            </a:r>
            <a:endParaRPr lang="en-US" sz="1400" dirty="0"/>
          </a:p>
        </p:txBody>
      </p:sp>
      <p:sp>
        <p:nvSpPr>
          <p:cNvPr id="8" name="step-1"/>
          <p:cNvSpPr/>
          <p:nvPr/>
        </p:nvSpPr>
        <p:spPr>
          <a:xfrm>
            <a:off x="2798064" y="1600200"/>
            <a:ext cx="2103120" cy="3657600"/>
          </a:xfrm>
          <a:prstGeom prst="roundRect">
            <a:avLst>
              <a:gd name="adj" fmla="val 3478"/>
            </a:avLst>
          </a:prstGeom>
          <a:solidFill>
            <a:srgbClr val="F1F3F5"/>
          </a:solidFill>
          <a:ln w="12700">
            <a:solidFill>
              <a:srgbClr val="F1F3F5"/>
            </a:solidFill>
            <a:prstDash val="solid"/>
          </a:ln>
        </p:spPr>
      </p:sp>
      <p:sp>
        <p:nvSpPr>
          <p:cNvPr id="9" name="step-h-1"/>
          <p:cNvSpPr/>
          <p:nvPr/>
        </p:nvSpPr>
        <p:spPr>
          <a:xfrm>
            <a:off x="2980944" y="1783080"/>
            <a:ext cx="548640" cy="475488"/>
          </a:xfrm>
          <a:prstGeom prst="hexagon">
            <a:avLst/>
          </a:prstGeom>
          <a:solidFill>
            <a:srgbClr val="0A7AFF"/>
          </a:solidFill>
          <a:ln w="12700">
            <a:solidFill>
              <a:srgbClr val="0A7AFF"/>
            </a:solidFill>
            <a:prstDash val="solid"/>
          </a:ln>
        </p:spPr>
      </p:sp>
      <p:sp>
        <p:nvSpPr>
          <p:cNvPr id="10" name="step-n-1"/>
          <p:cNvSpPr txBox="1"/>
          <p:nvPr/>
        </p:nvSpPr>
        <p:spPr>
          <a:xfrm>
            <a:off x="2980944"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step-t-1"/>
          <p:cNvSpPr txBox="1"/>
          <p:nvPr/>
        </p:nvSpPr>
        <p:spPr>
          <a:xfrm>
            <a:off x="2980944"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Most urgent first</a:t>
            </a:r>
            <a:endParaRPr lang="en-US" sz="1800" dirty="0"/>
          </a:p>
        </p:txBody>
      </p:sp>
      <p:sp>
        <p:nvSpPr>
          <p:cNvPr id="12" name="step-b-1"/>
          <p:cNvSpPr txBox="1"/>
          <p:nvPr/>
        </p:nvSpPr>
        <p:spPr>
          <a:xfrm>
            <a:off x="2980944"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Danger, health, who lives there and time waited set the order. Where someone lives never does.</a:t>
            </a:r>
            <a:endParaRPr lang="en-US" sz="1400" dirty="0"/>
          </a:p>
        </p:txBody>
      </p:sp>
      <p:sp>
        <p:nvSpPr>
          <p:cNvPr id="13" name="step-2"/>
          <p:cNvSpPr/>
          <p:nvPr/>
        </p:nvSpPr>
        <p:spPr>
          <a:xfrm>
            <a:off x="5047488" y="1600200"/>
            <a:ext cx="2103120" cy="3657600"/>
          </a:xfrm>
          <a:prstGeom prst="roundRect">
            <a:avLst>
              <a:gd name="adj" fmla="val 3478"/>
            </a:avLst>
          </a:prstGeom>
          <a:solidFill>
            <a:srgbClr val="F1F3F5"/>
          </a:solidFill>
          <a:ln w="12700">
            <a:solidFill>
              <a:srgbClr val="F1F3F5"/>
            </a:solidFill>
            <a:prstDash val="solid"/>
          </a:ln>
        </p:spPr>
      </p:sp>
      <p:sp>
        <p:nvSpPr>
          <p:cNvPr id="14" name="step-h-2"/>
          <p:cNvSpPr/>
          <p:nvPr/>
        </p:nvSpPr>
        <p:spPr>
          <a:xfrm>
            <a:off x="5230368" y="1783080"/>
            <a:ext cx="548640" cy="475488"/>
          </a:xfrm>
          <a:prstGeom prst="hexagon">
            <a:avLst/>
          </a:prstGeom>
          <a:solidFill>
            <a:srgbClr val="0E8FB8"/>
          </a:solidFill>
          <a:ln w="12700">
            <a:solidFill>
              <a:srgbClr val="0E8FB8"/>
            </a:solidFill>
            <a:prstDash val="solid"/>
          </a:ln>
        </p:spPr>
      </p:sp>
      <p:sp>
        <p:nvSpPr>
          <p:cNvPr id="15" name="step-n-2"/>
          <p:cNvSpPr txBox="1"/>
          <p:nvPr/>
        </p:nvSpPr>
        <p:spPr>
          <a:xfrm>
            <a:off x="5230368"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step-t-2"/>
          <p:cNvSpPr txBox="1"/>
          <p:nvPr/>
        </p:nvSpPr>
        <p:spPr>
          <a:xfrm>
            <a:off x="5230368"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Share trips</a:t>
            </a:r>
            <a:endParaRPr lang="en-US" sz="1800" dirty="0"/>
          </a:p>
        </p:txBody>
      </p:sp>
      <p:sp>
        <p:nvSpPr>
          <p:cNvPr id="17" name="step-b-2"/>
          <p:cNvSpPr txBox="1"/>
          <p:nvPr/>
        </p:nvSpPr>
        <p:spPr>
          <a:xfrm>
            <a:off x="5230368"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Nearby communities get one visit instead of two. The plan works around trades, wet-season roads and airstrips.</a:t>
            </a:r>
            <a:endParaRPr lang="en-US" sz="1400" dirty="0"/>
          </a:p>
        </p:txBody>
      </p:sp>
      <p:sp>
        <p:nvSpPr>
          <p:cNvPr id="18" name="step-3"/>
          <p:cNvSpPr/>
          <p:nvPr/>
        </p:nvSpPr>
        <p:spPr>
          <a:xfrm>
            <a:off x="7296912" y="1600200"/>
            <a:ext cx="2103120" cy="3657600"/>
          </a:xfrm>
          <a:prstGeom prst="roundRect">
            <a:avLst>
              <a:gd name="adj" fmla="val 3478"/>
            </a:avLst>
          </a:prstGeom>
          <a:solidFill>
            <a:srgbClr val="F1F3F5"/>
          </a:solidFill>
          <a:ln w="12700">
            <a:solidFill>
              <a:srgbClr val="F1F3F5"/>
            </a:solidFill>
            <a:prstDash val="solid"/>
          </a:ln>
        </p:spPr>
      </p:sp>
      <p:sp>
        <p:nvSpPr>
          <p:cNvPr id="19" name="step-h-3"/>
          <p:cNvSpPr/>
          <p:nvPr/>
        </p:nvSpPr>
        <p:spPr>
          <a:xfrm>
            <a:off x="7479792" y="1783080"/>
            <a:ext cx="548640" cy="475488"/>
          </a:xfrm>
          <a:prstGeom prst="hexagon">
            <a:avLst/>
          </a:prstGeom>
          <a:solidFill>
            <a:srgbClr val="D97706"/>
          </a:solidFill>
          <a:ln w="12700">
            <a:solidFill>
              <a:srgbClr val="D97706"/>
            </a:solidFill>
            <a:prstDash val="solid"/>
          </a:ln>
        </p:spPr>
      </p:sp>
      <p:sp>
        <p:nvSpPr>
          <p:cNvPr id="20" name="step-n-3"/>
          <p:cNvSpPr txBox="1"/>
          <p:nvPr/>
        </p:nvSpPr>
        <p:spPr>
          <a:xfrm>
            <a:off x="7479792"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1" name="step-t-3"/>
          <p:cNvSpPr txBox="1"/>
          <p:nvPr/>
        </p:nvSpPr>
        <p:spPr>
          <a:xfrm>
            <a:off x="7479792"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Show the cost of fairness</a:t>
            </a:r>
            <a:endParaRPr lang="en-US" sz="1800" dirty="0"/>
          </a:p>
        </p:txBody>
      </p:sp>
      <p:sp>
        <p:nvSpPr>
          <p:cNvPr id="22" name="step-b-3"/>
          <p:cNvSpPr txBox="1"/>
          <p:nvPr/>
        </p:nvSpPr>
        <p:spPr>
          <a:xfrm>
            <a:off x="7479792"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Each way of planning, side by side: dollars per repair against who waits.</a:t>
            </a:r>
            <a:endParaRPr lang="en-US" sz="1400" dirty="0"/>
          </a:p>
        </p:txBody>
      </p:sp>
      <p:sp>
        <p:nvSpPr>
          <p:cNvPr id="23" name="step-4"/>
          <p:cNvSpPr/>
          <p:nvPr/>
        </p:nvSpPr>
        <p:spPr>
          <a:xfrm>
            <a:off x="9546336" y="1600200"/>
            <a:ext cx="2103120" cy="3657600"/>
          </a:xfrm>
          <a:prstGeom prst="roundRect">
            <a:avLst>
              <a:gd name="adj" fmla="val 3478"/>
            </a:avLst>
          </a:prstGeom>
          <a:solidFill>
            <a:srgbClr val="F1F3F5"/>
          </a:solidFill>
          <a:ln w="12700">
            <a:solidFill>
              <a:srgbClr val="F1F3F5"/>
            </a:solidFill>
            <a:prstDash val="solid"/>
          </a:ln>
        </p:spPr>
      </p:sp>
      <p:sp>
        <p:nvSpPr>
          <p:cNvPr id="24" name="step-h-4"/>
          <p:cNvSpPr/>
          <p:nvPr/>
        </p:nvSpPr>
        <p:spPr>
          <a:xfrm>
            <a:off x="9729216" y="1783080"/>
            <a:ext cx="548640" cy="475488"/>
          </a:xfrm>
          <a:prstGeom prst="hexagon">
            <a:avLst/>
          </a:prstGeom>
          <a:solidFill>
            <a:srgbClr val="1F9D4C"/>
          </a:solidFill>
          <a:ln w="12700">
            <a:solidFill>
              <a:srgbClr val="1F9D4C"/>
            </a:solidFill>
            <a:prstDash val="solid"/>
          </a:ln>
        </p:spPr>
      </p:sp>
      <p:sp>
        <p:nvSpPr>
          <p:cNvPr id="25" name="step-n-4"/>
          <p:cNvSpPr txBox="1"/>
          <p:nvPr/>
        </p:nvSpPr>
        <p:spPr>
          <a:xfrm>
            <a:off x="9729216" y="1783080"/>
            <a:ext cx="548640" cy="47548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6" name="step-t-4"/>
          <p:cNvSpPr txBox="1"/>
          <p:nvPr/>
        </p:nvSpPr>
        <p:spPr>
          <a:xfrm>
            <a:off x="9729216" y="2423160"/>
            <a:ext cx="1783080" cy="685800"/>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Sign and explain</a:t>
            </a:r>
            <a:endParaRPr lang="en-US" sz="1800" dirty="0"/>
          </a:p>
        </p:txBody>
      </p:sp>
      <p:sp>
        <p:nvSpPr>
          <p:cNvPr id="27" name="step-b-4"/>
          <p:cNvSpPr txBox="1"/>
          <p:nvPr/>
        </p:nvSpPr>
        <p:spPr>
          <a:xfrm>
            <a:off x="9729216" y="3154680"/>
            <a:ext cx="1783080" cy="2011680"/>
          </a:xfrm>
          <a:prstGeom prst="rect">
            <a:avLst/>
          </a:prstGeom>
          <a:noFill/>
          <a:ln/>
        </p:spPr>
        <p:txBody>
          <a:bodyPr wrap="square" lIns="0" tIns="0" rIns="0" bIns="0" rtlCol="0" anchor="t"/>
          <a:lstStyle/>
          <a:p>
            <a:pPr indent="0" marL="0">
              <a:buNone/>
            </a:pPr>
            <a:r>
              <a:rPr lang="en-US" sz="1400" dirty="0">
                <a:solidFill>
                  <a:srgbClr val="4A525C"/>
                </a:solidFill>
              </a:rPr>
              <a:t>A named role signs a setting. Each week a job waits, the reason is logged and the tenant can see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H3: Uber's hexagon grid, used for remote repairs</a:t>
            </a:r>
            <a:endParaRPr lang="en-US" sz="3200" dirty="0"/>
          </a:p>
        </p:txBody>
      </p:sp>
      <p:pic>
        <p:nvPicPr>
          <p:cNvPr id="3" name="h3map" descr="/Volumes/T7SHIELD/projects/reachnt/outputs/figures/fig1_map.png">    </p:cNvPr>
          <p:cNvPicPr>
            <a:picLocks noChangeAspect="1"/>
          </p:cNvPicPr>
          <p:nvPr/>
        </p:nvPicPr>
        <p:blipFill>
          <a:blip r:embed="rId1"/>
          <a:stretch>
            <a:fillRect/>
          </a:stretch>
        </p:blipFill>
        <p:spPr>
          <a:xfrm>
            <a:off x="274320" y="1234440"/>
            <a:ext cx="6400800" cy="4993532"/>
          </a:xfrm>
          <a:prstGeom prst="rect">
            <a:avLst/>
          </a:prstGeom>
        </p:spPr>
      </p:pic>
      <p:sp>
        <p:nvSpPr>
          <p:cNvPr id="4" name="h3-dot-0"/>
          <p:cNvSpPr/>
          <p:nvPr/>
        </p:nvSpPr>
        <p:spPr>
          <a:xfrm>
            <a:off x="6858000" y="1371600"/>
            <a:ext cx="384048" cy="329184"/>
          </a:xfrm>
          <a:prstGeom prst="hexagon">
            <a:avLst/>
          </a:prstGeom>
          <a:solidFill>
            <a:srgbClr val="0E8FB8"/>
          </a:solidFill>
          <a:ln w="12700">
            <a:solidFill>
              <a:srgbClr val="0E8FB8"/>
            </a:solidFill>
            <a:prstDash val="solid"/>
          </a:ln>
        </p:spPr>
      </p:sp>
      <p:sp>
        <p:nvSpPr>
          <p:cNvPr id="5" name="h3-t-0"/>
          <p:cNvSpPr txBox="1"/>
          <p:nvPr/>
        </p:nvSpPr>
        <p:spPr>
          <a:xfrm>
            <a:off x="7406640" y="1325880"/>
            <a:ext cx="4297680" cy="384048"/>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Shared trips</a:t>
            </a:r>
            <a:endParaRPr lang="en-US" sz="1800" dirty="0"/>
          </a:p>
        </p:txBody>
      </p:sp>
      <p:sp>
        <p:nvSpPr>
          <p:cNvPr id="6" name="h3-b-0"/>
          <p:cNvSpPr txBox="1"/>
          <p:nvPr/>
        </p:nvSpPr>
        <p:spPr>
          <a:xfrm>
            <a:off x="7406640" y="1709928"/>
            <a:ext cx="4297680" cy="777240"/>
          </a:xfrm>
          <a:prstGeom prst="rect">
            <a:avLst/>
          </a:prstGeom>
          <a:noFill/>
          <a:ln/>
        </p:spPr>
        <p:txBody>
          <a:bodyPr wrap="square" lIns="0" tIns="0" rIns="0" bIns="0" rtlCol="0" anchor="t"/>
          <a:lstStyle/>
          <a:p>
            <a:pPr indent="0" marL="0">
              <a:buNone/>
            </a:pPr>
            <a:r>
              <a:rPr lang="en-US" sz="1400" dirty="0">
                <a:solidFill>
                  <a:srgbClr val="4A525C"/>
                </a:solidFill>
              </a:rPr>
              <a:t>Two communities whose hexagons are no more than 2 apart (about 90 km) get one visit: Katherine → A → B → home. 68 pairs, e.g. Ngukurr + Rittarangu.</a:t>
            </a:r>
            <a:endParaRPr lang="en-US" sz="1400" dirty="0"/>
          </a:p>
        </p:txBody>
      </p:sp>
      <p:sp>
        <p:nvSpPr>
          <p:cNvPr id="7" name="h3-dot-1"/>
          <p:cNvSpPr/>
          <p:nvPr/>
        </p:nvSpPr>
        <p:spPr>
          <a:xfrm>
            <a:off x="6858000" y="2578608"/>
            <a:ext cx="384048" cy="329184"/>
          </a:xfrm>
          <a:prstGeom prst="hexagon">
            <a:avLst/>
          </a:prstGeom>
          <a:solidFill>
            <a:srgbClr val="0E8FB8"/>
          </a:solidFill>
          <a:ln w="12700">
            <a:solidFill>
              <a:srgbClr val="0E8FB8"/>
            </a:solidFill>
            <a:prstDash val="solid"/>
          </a:ln>
        </p:spPr>
      </p:sp>
      <p:sp>
        <p:nvSpPr>
          <p:cNvPr id="8" name="h3-t-1"/>
          <p:cNvSpPr txBox="1"/>
          <p:nvPr/>
        </p:nvSpPr>
        <p:spPr>
          <a:xfrm>
            <a:off x="7406640" y="2532888"/>
            <a:ext cx="4297680" cy="384048"/>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Why hexagons</a:t>
            </a:r>
            <a:endParaRPr lang="en-US" sz="1800" dirty="0"/>
          </a:p>
        </p:txBody>
      </p:sp>
      <p:sp>
        <p:nvSpPr>
          <p:cNvPr id="9" name="h3-b-1"/>
          <p:cNvSpPr txBox="1"/>
          <p:nvPr/>
        </p:nvSpPr>
        <p:spPr>
          <a:xfrm>
            <a:off x="7406640" y="2916936"/>
            <a:ext cx="4297680" cy="777240"/>
          </a:xfrm>
          <a:prstGeom prst="rect">
            <a:avLst/>
          </a:prstGeom>
          <a:noFill/>
          <a:ln/>
        </p:spPr>
        <p:txBody>
          <a:bodyPr wrap="square" lIns="0" tIns="0" rIns="0" bIns="0" rtlCol="0" anchor="t"/>
          <a:lstStyle/>
          <a:p>
            <a:pPr indent="0" marL="0">
              <a:buNone/>
            </a:pPr>
            <a:r>
              <a:rPr lang="en-US" sz="1400" dirty="0">
                <a:solidFill>
                  <a:srgbClr val="4A525C"/>
                </a:solidFill>
              </a:rPr>
              <a:t>Six neighbours, all the same distance away, so “within k rings” is a fair circle. Square grids such as S2 have neighbours at two distances.</a:t>
            </a:r>
            <a:endParaRPr lang="en-US" sz="1400" dirty="0"/>
          </a:p>
        </p:txBody>
      </p:sp>
      <p:sp>
        <p:nvSpPr>
          <p:cNvPr id="10" name="h3-dot-2"/>
          <p:cNvSpPr/>
          <p:nvPr/>
        </p:nvSpPr>
        <p:spPr>
          <a:xfrm>
            <a:off x="6858000" y="3785616"/>
            <a:ext cx="384048" cy="329184"/>
          </a:xfrm>
          <a:prstGeom prst="hexagon">
            <a:avLst/>
          </a:prstGeom>
          <a:solidFill>
            <a:srgbClr val="0E8FB8"/>
          </a:solidFill>
          <a:ln w="12700">
            <a:solidFill>
              <a:srgbClr val="0E8FB8"/>
            </a:solidFill>
            <a:prstDash val="solid"/>
          </a:ln>
        </p:spPr>
      </p:sp>
      <p:sp>
        <p:nvSpPr>
          <p:cNvPr id="11" name="h3-t-2"/>
          <p:cNvSpPr txBox="1"/>
          <p:nvPr/>
        </p:nvSpPr>
        <p:spPr>
          <a:xfrm>
            <a:off x="7406640" y="3739896"/>
            <a:ext cx="4297680" cy="384048"/>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While you're out there</a:t>
            </a:r>
            <a:endParaRPr lang="en-US" sz="1800" dirty="0"/>
          </a:p>
        </p:txBody>
      </p:sp>
      <p:sp>
        <p:nvSpPr>
          <p:cNvPr id="12" name="h3-b-2"/>
          <p:cNvSpPr txBox="1"/>
          <p:nvPr/>
        </p:nvSpPr>
        <p:spPr>
          <a:xfrm>
            <a:off x="7406640" y="4123944"/>
            <a:ext cx="4297680" cy="777240"/>
          </a:xfrm>
          <a:prstGeom prst="rect">
            <a:avLst/>
          </a:prstGeom>
          <a:noFill/>
          <a:ln/>
        </p:spPr>
        <p:txBody>
          <a:bodyPr wrap="square" lIns="0" tIns="0" rIns="0" bIns="0" rtlCol="0" anchor="t"/>
          <a:lstStyle/>
          <a:p>
            <a:pPr indent="0" marL="0">
              <a:buNone/>
            </a:pPr>
            <a:r>
              <a:rPr lang="en-US" sz="1400" dirty="0">
                <a:solidFill>
                  <a:srgbClr val="4A525C"/>
                </a:solidFill>
              </a:rPr>
              <a:t>A tradesperson's phone lists open jobs within 3 resolution-5 rings of their run.</a:t>
            </a:r>
            <a:endParaRPr lang="en-US" sz="1400" dirty="0"/>
          </a:p>
        </p:txBody>
      </p:sp>
      <p:sp>
        <p:nvSpPr>
          <p:cNvPr id="13" name="h3-dot-3"/>
          <p:cNvSpPr/>
          <p:nvPr/>
        </p:nvSpPr>
        <p:spPr>
          <a:xfrm>
            <a:off x="6858000" y="4992624"/>
            <a:ext cx="384048" cy="329184"/>
          </a:xfrm>
          <a:prstGeom prst="hexagon">
            <a:avLst/>
          </a:prstGeom>
          <a:solidFill>
            <a:srgbClr val="0E8FB8"/>
          </a:solidFill>
          <a:ln w="12700">
            <a:solidFill>
              <a:srgbClr val="0E8FB8"/>
            </a:solidFill>
            <a:prstDash val="solid"/>
          </a:ln>
        </p:spPr>
      </p:sp>
      <p:sp>
        <p:nvSpPr>
          <p:cNvPr id="14" name="h3-t-3"/>
          <p:cNvSpPr txBox="1"/>
          <p:nvPr/>
        </p:nvSpPr>
        <p:spPr>
          <a:xfrm>
            <a:off x="7406640" y="4946904"/>
            <a:ext cx="4297680" cy="384048"/>
          </a:xfrm>
          <a:prstGeom prst="rect">
            <a:avLst/>
          </a:prstGeom>
          <a:noFill/>
          <a:ln/>
        </p:spPr>
        <p:txBody>
          <a:bodyPr wrap="square" lIns="0" tIns="0" rIns="0" bIns="0" rtlCol="0" anchor="t"/>
          <a:lstStyle/>
          <a:p>
            <a:pPr indent="0" marL="0">
              <a:buNone/>
            </a:pPr>
            <a:r>
              <a:rPr lang="en-US" sz="1800" b="1" dirty="0">
                <a:solidFill>
                  <a:srgbClr val="14181D"/>
                </a:solidFill>
                <a:latin typeface="Arial" pitchFamily="34" charset="0"/>
                <a:ea typeface="Arial" pitchFamily="34" charset="-122"/>
                <a:cs typeface="Arial" pitchFamily="34" charset="-120"/>
              </a:rPr>
              <a:t>A house is a hexagon</a:t>
            </a:r>
            <a:endParaRPr lang="en-US" sz="1800" dirty="0"/>
          </a:p>
        </p:txBody>
      </p:sp>
      <p:sp>
        <p:nvSpPr>
          <p:cNvPr id="15" name="h3-b-3"/>
          <p:cNvSpPr txBox="1"/>
          <p:nvPr/>
        </p:nvSpPr>
        <p:spPr>
          <a:xfrm>
            <a:off x="7406640" y="5330952"/>
            <a:ext cx="4297680" cy="777240"/>
          </a:xfrm>
          <a:prstGeom prst="rect">
            <a:avLst/>
          </a:prstGeom>
          <a:noFill/>
          <a:ln/>
        </p:spPr>
        <p:txBody>
          <a:bodyPr wrap="square" lIns="0" tIns="0" rIns="0" bIns="0" rtlCol="0" anchor="t"/>
          <a:lstStyle/>
          <a:p>
            <a:pPr indent="0" marL="0">
              <a:buNone/>
            </a:pPr>
            <a:r>
              <a:rPr lang="en-US" sz="1400" dirty="0">
                <a:solidFill>
                  <a:srgbClr val="4A525C"/>
                </a:solidFill>
              </a:rPr>
              <a:t>Records hold a 76 m resolution-10 cell, never an address. Public views use 36 km² cells, hidden below 5 jobs.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Fairness costs a little more, and shared trips cut the cost</a:t>
            </a:r>
            <a:endParaRPr lang="en-US" sz="3200" dirty="0"/>
          </a:p>
        </p:txBody>
      </p:sp>
      <p:pic>
        <p:nvPicPr>
          <p:cNvPr id="3" name="frontier" descr="/Volumes/T7SHIELD/projects/reachnt/outputs/figures/fig2_frontier.png">    </p:cNvPr>
          <p:cNvPicPr>
            <a:picLocks noChangeAspect="1"/>
          </p:cNvPicPr>
          <p:nvPr/>
        </p:nvPicPr>
        <p:blipFill>
          <a:blip r:embed="rId1"/>
          <a:stretch>
            <a:fillRect/>
          </a:stretch>
        </p:blipFill>
        <p:spPr>
          <a:xfrm>
            <a:off x="365760" y="1280160"/>
            <a:ext cx="7589520" cy="3478530"/>
          </a:xfrm>
          <a:prstGeom prst="rect">
            <a:avLst/>
          </a:prstGeom>
        </p:spPr>
      </p:pic>
      <p:sp>
        <p:nvSpPr>
          <p:cNvPr id="4" name="price"/>
          <p:cNvSpPr/>
          <p:nvPr/>
        </p:nvSpPr>
        <p:spPr>
          <a:xfrm>
            <a:off x="8229600" y="1325880"/>
            <a:ext cx="3429000" cy="4846320"/>
          </a:xfrm>
          <a:prstGeom prst="roundRect">
            <a:avLst>
              <a:gd name="adj" fmla="val 2133"/>
            </a:avLst>
          </a:prstGeom>
          <a:solidFill>
            <a:srgbClr val="DFF2F8"/>
          </a:solidFill>
          <a:ln w="12700">
            <a:solidFill>
              <a:srgbClr val="DFF2F8"/>
            </a:solidFill>
            <a:prstDash val="solid"/>
          </a:ln>
        </p:spPr>
      </p:sp>
      <p:sp>
        <p:nvSpPr>
          <p:cNvPr id="5" name="price-t"/>
          <p:cNvSpPr txBox="1"/>
          <p:nvPr/>
        </p:nvSpPr>
        <p:spPr>
          <a:xfrm>
            <a:off x="8412480" y="1508760"/>
            <a:ext cx="3108960" cy="4572000"/>
          </a:xfrm>
          <a:prstGeom prst="rect">
            <a:avLst/>
          </a:prstGeom>
          <a:noFill/>
          <a:ln/>
        </p:spPr>
        <p:txBody>
          <a:bodyPr wrap="square" lIns="0" tIns="0" rIns="0" bIns="0" rtlCol="0" anchor="t"/>
          <a:lstStyle/>
          <a:p>
            <a:pPr indent="0" marL="0">
              <a:buNone/>
            </a:pPr>
            <a:r>
              <a:rPr lang="en-US" sz="1500" b="1" dirty="0">
                <a:solidFill>
                  <a:srgbClr val="14181D"/>
                </a:solidFill>
              </a:rPr>
              <a:t>ReachNT vs cheapest-first</a:t>
            </a:r>
            <a:endParaRPr lang="en-US" sz="1500" dirty="0"/>
          </a:p>
          <a:p>
            <a:pPr indent="0" marL="0">
              <a:buNone/>
            </a:pPr>
            <a:r>
              <a:rPr lang="en-US" sz="2200" b="1" dirty="0">
                <a:solidFill>
                  <a:srgbClr val="D97706"/>
                </a:solidFill>
              </a:rPr>
              <a:t>+$218 per repair (+39%)</a:t>
            </a:r>
            <a:endParaRPr lang="en-US" sz="1500" dirty="0"/>
          </a:p>
          <a:p>
            <a:pPr indent="0" marL="0">
              <a:buNone/>
            </a:pPr>
            <a:r>
              <a:rPr lang="en-US" sz="2200" b="1" dirty="0">
                <a:solidFill>
                  <a:srgbClr val="1F9D4C"/>
                </a:solidFill>
              </a:rPr>
              <a:t>−71% days living with faults</a:t>
            </a:r>
            <a:endParaRPr lang="en-US" sz="1500" dirty="0"/>
          </a:p>
          <a:p>
            <a:pPr indent="0" marL="0">
              <a:buNone/>
            </a:pPr>
            <a:r>
              <a:rPr lang="en-US" sz="1400" dirty="0">
                <a:solidFill>
                  <a:srgbClr val="4A525C"/>
                </a:solidFill>
              </a:rPr>
              <a:t>9 in 10 urgent remote repairs fixed within 62 → 3 days</a:t>
            </a:r>
            <a:endParaRPr lang="en-US" sz="1500" dirty="0"/>
          </a:p>
          <a:p>
            <a:pPr indent="0" marL="0">
              <a:buNone/>
            </a:pPr>
            <a:r>
              <a:rPr lang="en-US" sz="800" dirty="0">
                <a:solidFill>
                  <a:srgbClr val="000000"/>
                </a:solidFill>
              </a:rPr>
              <a:t> </a:t>
            </a:r>
            <a:endParaRPr lang="en-US" sz="1500" dirty="0"/>
          </a:p>
          <a:p>
            <a:pPr indent="0" marL="0">
              <a:buNone/>
            </a:pPr>
            <a:r>
              <a:rPr lang="en-US" sz="1500" b="1" dirty="0">
                <a:solidFill>
                  <a:srgbClr val="14181D"/>
                </a:solidFill>
              </a:rPr>
              <a:t>What shared trips added</a:t>
            </a:r>
            <a:endParaRPr lang="en-US" sz="1500" dirty="0"/>
          </a:p>
          <a:p>
            <a:pPr indent="0" marL="0">
              <a:buNone/>
            </a:pPr>
            <a:r>
              <a:rPr lang="en-US" sz="2000" b="1" dirty="0">
                <a:solidFill>
                  <a:srgbClr val="0E8FB8"/>
                </a:solidFill>
              </a:rPr>
              <a:t>$843 → $775 per repair</a:t>
            </a:r>
            <a:endParaRPr lang="en-US" sz="1500" dirty="0"/>
          </a:p>
          <a:p>
            <a:pPr indent="0" marL="0">
              <a:buNone/>
            </a:pPr>
            <a:r>
              <a:rPr lang="en-US" sz="1400" dirty="0">
                <a:solidFill>
                  <a:srgbClr val="4A525C"/>
                </a:solidFill>
              </a:rPr>
              <a:t>days living with faults 76k → 62k</a:t>
            </a:r>
            <a:endParaRPr lang="en-US" sz="1500" dirty="0"/>
          </a:p>
          <a:p>
            <a:pPr indent="0" marL="0">
              <a:buNone/>
            </a:pPr>
            <a:r>
              <a:rPr lang="en-US" sz="1300" dirty="0">
                <a:solidFill>
                  <a:srgbClr val="4A525C"/>
                </a:solidFill>
              </a:rPr>
              <a:t>Tighter budget: $721 per repair, cheaper than cheapest-first with a deadline ($727).</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Where the wait lands, by how hard the place is to reach</a:t>
            </a:r>
            <a:endParaRPr lang="en-US" sz="3200" dirty="0"/>
          </a:p>
        </p:txBody>
      </p:sp>
      <p:graphicFrame>
        <p:nvGraphicFramePr>
          <p:cNvPr id="3" name="bands" descr=""/>
          <p:cNvGraphicFramePr/>
          <p:nvPr/>
        </p:nvGraphicFramePr>
        <p:xfrm>
          <a:off x="548640" y="1371600"/>
          <a:ext cx="1106424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The coordinator sees the week on the real map</a:t>
            </a:r>
            <a:endParaRPr lang="en-US" sz="3000" dirty="0"/>
          </a:p>
        </p:txBody>
      </p:sp>
      <p:pic>
        <p:nvPicPr>
          <p:cNvPr id="3" name="shot-coord" descr="/Volumes/T7SHIELD/projects/reachnt/docs/deck/shots/coord.png">    </p:cNvPr>
          <p:cNvPicPr>
            <a:picLocks noChangeAspect="1"/>
          </p:cNvPicPr>
          <p:nvPr/>
        </p:nvPicPr>
        <p:blipFill>
          <a:blip r:embed="rId1"/>
          <a:stretch>
            <a:fillRect/>
          </a:stretch>
        </p:blipFill>
        <p:spPr>
          <a:xfrm>
            <a:off x="548640" y="1097280"/>
            <a:ext cx="8412480" cy="5257800"/>
          </a:xfrm>
          <a:prstGeom prst="rect">
            <a:avLst/>
          </a:prstGeom>
        </p:spPr>
      </p:pic>
      <p:sp>
        <p:nvSpPr>
          <p:cNvPr id="4" name="shot-coord-t"/>
          <p:cNvSpPr txBox="1"/>
          <p:nvPr/>
        </p:nvSpPr>
        <p:spPr>
          <a:xfrm>
            <a:off x="9235440" y="1188720"/>
            <a:ext cx="2468880" cy="4937760"/>
          </a:xfrm>
          <a:prstGeom prst="rect">
            <a:avLst/>
          </a:prstGeom>
          <a:noFill/>
          <a:ln/>
        </p:spPr>
        <p:txBody>
          <a:bodyPr wrap="square" lIns="0" tIns="0" rIns="0" bIns="0" rtlCol="0" anchor="t"/>
          <a:lstStyle/>
          <a:p>
            <a:pPr indent="0" marL="0">
              <a:buNone/>
            </a:pPr>
            <a:r>
              <a:rPr lang="en-US" sz="1400" b="1" dirty="0">
                <a:solidFill>
                  <a:srgbClr val="FFFFFF"/>
                </a:solidFill>
              </a:rPr>
              <a:t>3D hexagon columns</a:t>
            </a:r>
            <a:endParaRPr lang="en-US" sz="1400" dirty="0"/>
          </a:p>
          <a:p>
            <a:pPr indent="0" marL="0">
              <a:buNone/>
            </a:pPr>
            <a:r>
              <a:rPr lang="en-US" sz="1400" dirty="0">
                <a:solidFill>
                  <a:srgbClr val="C9CFD6"/>
                </a:solidFill>
              </a:rPr>
              <a:t>Height is open repairs; colour is booked, waiting or cut off.</a:t>
            </a:r>
            <a:endParaRPr lang="en-US" sz="1400" dirty="0"/>
          </a:p>
          <a:p>
            <a:pPr indent="0" marL="0">
              <a:buNone/>
            </a:pPr>
            <a:r>
              <a:rPr lang="en-US" sz="800" dirty="0">
                <a:solidFill>
                  <a:srgbClr val="000000"/>
                </a:solidFill>
              </a:rPr>
              <a:t> </a:t>
            </a:r>
            <a:endParaRPr lang="en-US" sz="1400" dirty="0"/>
          </a:p>
          <a:p>
            <a:pPr indent="0" marL="0">
              <a:buNone/>
            </a:pPr>
            <a:r>
              <a:rPr lang="en-US" sz="1400" b="1" dirty="0">
                <a:solidFill>
                  <a:srgbClr val="FFFFFF"/>
                </a:solidFill>
              </a:rPr>
              <a:t>Shared trips</a:t>
            </a:r>
            <a:endParaRPr lang="en-US" sz="1400" dirty="0"/>
          </a:p>
          <a:p>
            <a:pPr indent="0" marL="0">
              <a:buNone/>
            </a:pPr>
            <a:r>
              <a:rPr lang="en-US" sz="1400" dirty="0">
                <a:solidFill>
                  <a:srgbClr val="C9CFD6"/>
                </a:solidFill>
              </a:rPr>
              <a:t>Blue lines join communities sharing a trip this week.</a:t>
            </a:r>
            <a:endParaRPr lang="en-US" sz="1400" dirty="0"/>
          </a:p>
          <a:p>
            <a:pPr indent="0" marL="0">
              <a:buNone/>
            </a:pPr>
            <a:r>
              <a:rPr lang="en-US" sz="800" dirty="0">
                <a:solidFill>
                  <a:srgbClr val="000000"/>
                </a:solidFill>
              </a:rPr>
              <a:t> </a:t>
            </a:r>
            <a:endParaRPr lang="en-US" sz="1400" dirty="0"/>
          </a:p>
          <a:p>
            <a:pPr indent="0" marL="0">
              <a:buNone/>
            </a:pPr>
            <a:r>
              <a:rPr lang="en-US" sz="1400" b="1" dirty="0">
                <a:solidFill>
                  <a:srgbClr val="FFFFFF"/>
                </a:solidFill>
              </a:rPr>
              <a:t>Satellite imagery</a:t>
            </a:r>
            <a:endParaRPr lang="en-US" sz="1400" dirty="0"/>
          </a:p>
          <a:p>
            <a:pPr indent="0" marL="0">
              <a:buNone/>
            </a:pPr>
            <a:r>
              <a:rPr lang="en-US" sz="1400" dirty="0">
                <a:solidFill>
                  <a:srgbClr val="C9CFD6"/>
                </a:solidFill>
              </a:rPr>
              <a:t>Esri online; Digital Earth Australia tiles bundled for offline use.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On the phone: a run sheet for trades, a tracker for tenants</a:t>
            </a:r>
            <a:endParaRPr lang="en-US" sz="3000" dirty="0"/>
          </a:p>
        </p:txBody>
      </p:sp>
      <p:pic>
        <p:nvPicPr>
          <p:cNvPr id="3" name="shot-field" descr="/Volumes/T7SHIELD/projects/reachnt/docs/deck/shots/field_phone.png">    </p:cNvPr>
          <p:cNvPicPr>
            <a:picLocks noChangeAspect="1"/>
          </p:cNvPicPr>
          <p:nvPr/>
        </p:nvPicPr>
        <p:blipFill>
          <a:blip r:embed="rId1"/>
          <a:stretch>
            <a:fillRect/>
          </a:stretch>
        </p:blipFill>
        <p:spPr>
          <a:xfrm>
            <a:off x="640080" y="1097280"/>
            <a:ext cx="2377440" cy="5145024"/>
          </a:xfrm>
          <a:prstGeom prst="rect">
            <a:avLst/>
          </a:prstGeom>
        </p:spPr>
      </p:pic>
      <p:pic>
        <p:nvPicPr>
          <p:cNvPr id="4" name="shot-tenant" descr="/Volumes/T7SHIELD/projects/reachnt/docs/deck/shots/tenant_phone.png">    </p:cNvPr>
          <p:cNvPicPr>
            <a:picLocks noChangeAspect="1"/>
          </p:cNvPicPr>
          <p:nvPr/>
        </p:nvPicPr>
        <p:blipFill>
          <a:blip r:embed="rId2"/>
          <a:stretch>
            <a:fillRect/>
          </a:stretch>
        </p:blipFill>
        <p:spPr>
          <a:xfrm>
            <a:off x="3291840" y="1097280"/>
            <a:ext cx="2377440" cy="5145024"/>
          </a:xfrm>
          <a:prstGeom prst="rect">
            <a:avLst/>
          </a:prstGeom>
        </p:spPr>
      </p:pic>
      <p:sp>
        <p:nvSpPr>
          <p:cNvPr id="5" name="shot-phones-t"/>
          <p:cNvSpPr txBox="1"/>
          <p:nvPr/>
        </p:nvSpPr>
        <p:spPr>
          <a:xfrm>
            <a:off x="6126480" y="1188720"/>
            <a:ext cx="5577840" cy="5029200"/>
          </a:xfrm>
          <a:prstGeom prst="rect">
            <a:avLst/>
          </a:prstGeom>
          <a:noFill/>
          <a:ln/>
        </p:spPr>
        <p:txBody>
          <a:bodyPr wrap="square" lIns="0" tIns="0" rIns="0" bIns="0" rtlCol="0" anchor="t"/>
          <a:lstStyle/>
          <a:p>
            <a:pPr indent="0" marL="0">
              <a:buNone/>
            </a:pPr>
            <a:r>
              <a:rPr lang="en-US" sz="1800" b="1" dirty="0">
                <a:solidFill>
                  <a:srgbClr val="FFFFFF"/>
                </a:solidFill>
              </a:rPr>
              <a:t>Tradesperson</a:t>
            </a:r>
            <a:endParaRPr lang="en-US" sz="1500" dirty="0"/>
          </a:p>
          <a:p>
            <a:pPr indent="0" marL="0">
              <a:buNone/>
            </a:pPr>
            <a:r>
              <a:rPr lang="en-US" sz="1500" dirty="0">
                <a:solidFill>
                  <a:srgbClr val="C9CFD6"/>
                </a:solidFill>
              </a:rPr>
              <a:t>Only their own stops on the map, numbered in order. Each job shows what the tenant said, with Done or Couldn't do it. Save the run sheet as a PDF; updates made with no signal are sent later.</a:t>
            </a:r>
            <a:endParaRPr lang="en-US" sz="1500" dirty="0"/>
          </a:p>
          <a:p>
            <a:pPr indent="0" marL="0">
              <a:buNone/>
            </a:pPr>
            <a:r>
              <a:rPr lang="en-US" sz="1000" dirty="0">
                <a:solidFill>
                  <a:srgbClr val="000000"/>
                </a:solidFill>
              </a:rPr>
              <a:t> </a:t>
            </a:r>
            <a:endParaRPr lang="en-US" sz="1500" dirty="0"/>
          </a:p>
          <a:p>
            <a:pPr indent="0" marL="0">
              <a:buNone/>
            </a:pPr>
            <a:r>
              <a:rPr lang="en-US" sz="1800" b="1" dirty="0">
                <a:solidFill>
                  <a:srgbClr val="FFFFFF"/>
                </a:solidFill>
              </a:rPr>
              <a:t>Tenant</a:t>
            </a:r>
            <a:endParaRPr lang="en-US" sz="1500" dirty="0"/>
          </a:p>
          <a:p>
            <a:pPr indent="0" marL="0">
              <a:buNone/>
            </a:pPr>
            <a:r>
              <a:rPr lang="en-US" sz="1500" dirty="0">
                <a:solidFill>
                  <a:srgbClr val="C9CFD6"/>
                </a:solidFill>
              </a:rPr>
              <a:t>A text message and a timeline built from the weekly reason log:</a:t>
            </a:r>
            <a:endParaRPr lang="en-US" sz="1500" dirty="0"/>
          </a:p>
          <a:p>
            <a:pPr indent="0" marL="0">
              <a:buNone/>
            </a:pPr>
            <a:r>
              <a:rPr lang="en-US" sz="1500" i="1" dirty="0">
                <a:solidFill>
                  <a:srgbClr val="FFFFFF"/>
                </a:solidFill>
              </a:rPr>
              <a:t>“For 21 days no electrician was sent to your community. It costs about $2,000 to drive one there and back. That was a cost decision, not a judgement about your repair. Nobody signed off on it.”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Names, phones and addresses stay locked away, on free tools</a:t>
            </a:r>
            <a:endParaRPr lang="en-US" sz="3200" dirty="0"/>
          </a:p>
        </p:txBody>
      </p:sp>
      <p:sp>
        <p:nvSpPr>
          <p:cNvPr id="3" name="zone-0"/>
          <p:cNvSpPr/>
          <p:nvPr/>
        </p:nvSpPr>
        <p:spPr>
          <a:xfrm>
            <a:off x="548640" y="1463040"/>
            <a:ext cx="3520440" cy="2651760"/>
          </a:xfrm>
          <a:prstGeom prst="roundRect">
            <a:avLst>
              <a:gd name="adj" fmla="val 2759"/>
            </a:avLst>
          </a:prstGeom>
          <a:solidFill>
            <a:srgbClr val="F1F3F5"/>
          </a:solidFill>
          <a:ln w="12700">
            <a:solidFill>
              <a:srgbClr val="F1F3F5"/>
            </a:solidFill>
            <a:prstDash val="solid"/>
          </a:ln>
        </p:spPr>
      </p:sp>
      <p:sp>
        <p:nvSpPr>
          <p:cNvPr id="4" name="zone-t-0"/>
          <p:cNvSpPr txBox="1"/>
          <p:nvPr/>
        </p:nvSpPr>
        <p:spPr>
          <a:xfrm>
            <a:off x="777240" y="1645920"/>
            <a:ext cx="3108960" cy="457200"/>
          </a:xfrm>
          <a:prstGeom prst="rect">
            <a:avLst/>
          </a:prstGeom>
          <a:noFill/>
          <a:ln/>
        </p:spPr>
        <p:txBody>
          <a:bodyPr wrap="square" lIns="0" tIns="0" rIns="0" bIns="0" rtlCol="0" anchor="t"/>
          <a:lstStyle/>
          <a:p>
            <a:pPr indent="0" marL="0">
              <a:buNone/>
            </a:pPr>
            <a:r>
              <a:rPr lang="en-US" sz="2000" b="1" dirty="0">
                <a:solidFill>
                  <a:srgbClr val="6E56CF"/>
                </a:solidFill>
                <a:latin typeface="Arial" pitchFamily="34" charset="0"/>
                <a:ea typeface="Arial" pitchFamily="34" charset="-122"/>
                <a:cs typeface="Arial" pitchFamily="34" charset="-120"/>
              </a:rPr>
              <a:t>Vault (pii)</a:t>
            </a:r>
            <a:endParaRPr lang="en-US" sz="2000" dirty="0"/>
          </a:p>
        </p:txBody>
      </p:sp>
      <p:sp>
        <p:nvSpPr>
          <p:cNvPr id="5" name="zone-b-0"/>
          <p:cNvSpPr txBox="1"/>
          <p:nvPr/>
        </p:nvSpPr>
        <p:spPr>
          <a:xfrm>
            <a:off x="777240" y="2148840"/>
            <a:ext cx="3108960" cy="1828800"/>
          </a:xfrm>
          <a:prstGeom prst="rect">
            <a:avLst/>
          </a:prstGeom>
          <a:noFill/>
          <a:ln/>
        </p:spPr>
        <p:txBody>
          <a:bodyPr wrap="square" lIns="0" tIns="0" rIns="0" bIns="0" rtlCol="0" anchor="t"/>
          <a:lstStyle/>
          <a:p>
            <a:pPr indent="0" marL="0">
              <a:buNone/>
            </a:pPr>
            <a:r>
              <a:rPr lang="en-US" sz="1500" dirty="0">
                <a:solidFill>
                  <a:srgbClr val="4A525C"/>
                </a:solidFill>
              </a:rPr>
              <a:t>Name, phone, address, language. Encrypted with pgcrypto. Read only by intake staff through a function that logs every read.</a:t>
            </a:r>
            <a:endParaRPr lang="en-US" sz="1500" dirty="0"/>
          </a:p>
        </p:txBody>
      </p:sp>
      <p:sp>
        <p:nvSpPr>
          <p:cNvPr id="6" name="zone-1"/>
          <p:cNvSpPr/>
          <p:nvPr/>
        </p:nvSpPr>
        <p:spPr>
          <a:xfrm>
            <a:off x="4297680" y="1463040"/>
            <a:ext cx="3520440" cy="2651760"/>
          </a:xfrm>
          <a:prstGeom prst="roundRect">
            <a:avLst>
              <a:gd name="adj" fmla="val 2759"/>
            </a:avLst>
          </a:prstGeom>
          <a:solidFill>
            <a:srgbClr val="F1F3F5"/>
          </a:solidFill>
          <a:ln w="12700">
            <a:solidFill>
              <a:srgbClr val="F1F3F5"/>
            </a:solidFill>
            <a:prstDash val="solid"/>
          </a:ln>
        </p:spPr>
      </p:sp>
      <p:sp>
        <p:nvSpPr>
          <p:cNvPr id="7" name="zone-t-1"/>
          <p:cNvSpPr txBox="1"/>
          <p:nvPr/>
        </p:nvSpPr>
        <p:spPr>
          <a:xfrm>
            <a:off x="4526280" y="1645920"/>
            <a:ext cx="3108960" cy="457200"/>
          </a:xfrm>
          <a:prstGeom prst="rect">
            <a:avLst/>
          </a:prstGeom>
          <a:noFill/>
          <a:ln/>
        </p:spPr>
        <p:txBody>
          <a:bodyPr wrap="square" lIns="0" tIns="0" rIns="0" bIns="0" rtlCol="0" anchor="t"/>
          <a:lstStyle/>
          <a:p>
            <a:pPr indent="0" marL="0">
              <a:buNone/>
            </a:pPr>
            <a:r>
              <a:rPr lang="en-US" sz="2000" b="1" dirty="0">
                <a:solidFill>
                  <a:srgbClr val="0E8FB8"/>
                </a:solidFill>
                <a:latin typeface="Arial" pitchFamily="34" charset="0"/>
                <a:ea typeface="Arial" pitchFamily="34" charset="-122"/>
                <a:cs typeface="Arial" pitchFamily="34" charset="-120"/>
              </a:rPr>
              <a:t>Work (ops)</a:t>
            </a:r>
            <a:endParaRPr lang="en-US" sz="2000" dirty="0"/>
          </a:p>
        </p:txBody>
      </p:sp>
      <p:sp>
        <p:nvSpPr>
          <p:cNvPr id="8" name="zone-b-1"/>
          <p:cNvSpPr txBox="1"/>
          <p:nvPr/>
        </p:nvSpPr>
        <p:spPr>
          <a:xfrm>
            <a:off x="4526280" y="2148840"/>
            <a:ext cx="3108960" cy="1828800"/>
          </a:xfrm>
          <a:prstGeom prst="rect">
            <a:avLst/>
          </a:prstGeom>
          <a:noFill/>
          <a:ln/>
        </p:spPr>
        <p:txBody>
          <a:bodyPr wrap="square" lIns="0" tIns="0" rIns="0" bIns="0" rtlCol="0" anchor="t"/>
          <a:lstStyle/>
          <a:p>
            <a:pPr indent="0" marL="0">
              <a:buNone/>
            </a:pPr>
            <a:r>
              <a:rPr lang="en-US" sz="1500" dirty="0">
                <a:solidFill>
                  <a:srgbClr val="4A525C"/>
                </a:solidFill>
              </a:rPr>
              <a:t>Jobs, trips, reasons, the signed ledger. A house is an ID + a 76 m H3 hexagon. Trades see their run; tenants see their own jobs.</a:t>
            </a:r>
            <a:endParaRPr lang="en-US" sz="1500" dirty="0"/>
          </a:p>
        </p:txBody>
      </p:sp>
      <p:sp>
        <p:nvSpPr>
          <p:cNvPr id="9" name="zone-2"/>
          <p:cNvSpPr/>
          <p:nvPr/>
        </p:nvSpPr>
        <p:spPr>
          <a:xfrm>
            <a:off x="8046720" y="1463040"/>
            <a:ext cx="3520440" cy="2651760"/>
          </a:xfrm>
          <a:prstGeom prst="roundRect">
            <a:avLst>
              <a:gd name="adj" fmla="val 2759"/>
            </a:avLst>
          </a:prstGeom>
          <a:solidFill>
            <a:srgbClr val="F1F3F5"/>
          </a:solidFill>
          <a:ln w="12700">
            <a:solidFill>
              <a:srgbClr val="F1F3F5"/>
            </a:solidFill>
            <a:prstDash val="solid"/>
          </a:ln>
        </p:spPr>
      </p:sp>
      <p:sp>
        <p:nvSpPr>
          <p:cNvPr id="10" name="zone-t-2"/>
          <p:cNvSpPr txBox="1"/>
          <p:nvPr/>
        </p:nvSpPr>
        <p:spPr>
          <a:xfrm>
            <a:off x="8275320" y="1645920"/>
            <a:ext cx="3108960" cy="457200"/>
          </a:xfrm>
          <a:prstGeom prst="rect">
            <a:avLst/>
          </a:prstGeom>
          <a:noFill/>
          <a:ln/>
        </p:spPr>
        <p:txBody>
          <a:bodyPr wrap="square" lIns="0" tIns="0" rIns="0" bIns="0" rtlCol="0" anchor="t"/>
          <a:lstStyle/>
          <a:p>
            <a:pPr indent="0" marL="0">
              <a:buNone/>
            </a:pPr>
            <a:r>
              <a:rPr lang="en-US" sz="2000" b="1" dirty="0">
                <a:solidFill>
                  <a:srgbClr val="1F9D4C"/>
                </a:solidFill>
                <a:latin typeface="Arial" pitchFamily="34" charset="0"/>
                <a:ea typeface="Arial" pitchFamily="34" charset="-122"/>
                <a:cs typeface="Arial" pitchFamily="34" charset="-120"/>
              </a:rPr>
              <a:t>Public</a:t>
            </a:r>
            <a:endParaRPr lang="en-US" sz="2000" dirty="0"/>
          </a:p>
        </p:txBody>
      </p:sp>
      <p:sp>
        <p:nvSpPr>
          <p:cNvPr id="11" name="zone-b-2"/>
          <p:cNvSpPr txBox="1"/>
          <p:nvPr/>
        </p:nvSpPr>
        <p:spPr>
          <a:xfrm>
            <a:off x="8275320" y="2148840"/>
            <a:ext cx="3108960" cy="1828800"/>
          </a:xfrm>
          <a:prstGeom prst="rect">
            <a:avLst/>
          </a:prstGeom>
          <a:noFill/>
          <a:ln/>
        </p:spPr>
        <p:txBody>
          <a:bodyPr wrap="square" lIns="0" tIns="0" rIns="0" bIns="0" rtlCol="0" anchor="t"/>
          <a:lstStyle/>
          <a:p>
            <a:pPr indent="0" marL="0">
              <a:buNone/>
            </a:pPr>
            <a:r>
              <a:rPr lang="en-US" sz="1500" dirty="0">
                <a:solidFill>
                  <a:srgbClr val="4A525C"/>
                </a:solidFill>
              </a:rPr>
              <a:t>Waits by 36 km² hexagon and access band. Cells under 5 jobs hidden.</a:t>
            </a:r>
            <a:endParaRPr lang="en-US" sz="1500" dirty="0"/>
          </a:p>
        </p:txBody>
      </p:sp>
      <p:sp>
        <p:nvSpPr>
          <p:cNvPr id="12" name="stack"/>
          <p:cNvSpPr txBox="1"/>
          <p:nvPr/>
        </p:nvSpPr>
        <p:spPr>
          <a:xfrm>
            <a:off x="548640" y="4389120"/>
            <a:ext cx="11064240" cy="1463040"/>
          </a:xfrm>
          <a:prstGeom prst="rect">
            <a:avLst/>
          </a:prstGeom>
          <a:noFill/>
          <a:ln/>
        </p:spPr>
        <p:txBody>
          <a:bodyPr wrap="square" lIns="0" tIns="0" rIns="0" bIns="0" rtlCol="0" anchor="t"/>
          <a:lstStyle/>
          <a:p>
            <a:pPr indent="0" marL="0">
              <a:buNone/>
            </a:pPr>
            <a:r>
              <a:rPr lang="en-US" sz="1600" b="1" dirty="0">
                <a:solidFill>
                  <a:srgbClr val="14181D"/>
                </a:solidFill>
              </a:rPr>
              <a:t>Stack: </a:t>
            </a:r>
            <a:pPr indent="0" marL="0">
              <a:buNone/>
            </a:pPr>
            <a:r>
              <a:rPr lang="en-US" sz="1600" dirty="0">
                <a:solidFill>
                  <a:srgbClr val="4A525C"/>
                </a:solidFill>
              </a:rPr>
              <a:t>PostgreSQL + PostGIS + h3-pg + pgcrypto, all free and open source. Run it on NT Government servers for $0 in licences, or pilot on Neon's Sydney region (supports all four; free tier 1 GB). A year of data is under 1 GB. Analytics in DuckDB with its H3 extension; the field app keeps data on the phone when there's no signal.</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3200" b="1" dirty="0">
                <a:solidFill>
                  <a:schemeClr val="tx1"/>
                </a:solidFill>
                <a:latin typeface="Arial" pitchFamily="34" charset="0"/>
                <a:ea typeface="Arial" pitchFamily="34" charset="-122"/>
                <a:cs typeface="Arial" pitchFamily="34" charset="-120"/>
              </a:rPr>
              <a:t>What it cannot do yet</a:t>
            </a:r>
            <a:endParaRPr lang="en-US" sz="3200" dirty="0"/>
          </a:p>
        </p:txBody>
      </p:sp>
      <p:sp>
        <p:nvSpPr>
          <p:cNvPr id="3" name="lim-0"/>
          <p:cNvSpPr/>
          <p:nvPr/>
        </p:nvSpPr>
        <p:spPr>
          <a:xfrm>
            <a:off x="548640" y="1554480"/>
            <a:ext cx="3520440" cy="3383280"/>
          </a:xfrm>
          <a:prstGeom prst="roundRect">
            <a:avLst>
              <a:gd name="adj" fmla="val 2162"/>
            </a:avLst>
          </a:prstGeom>
          <a:solidFill>
            <a:srgbClr val="F1F3F5"/>
          </a:solidFill>
          <a:ln w="12700">
            <a:solidFill>
              <a:srgbClr val="F1F3F5"/>
            </a:solidFill>
            <a:prstDash val="solid"/>
          </a:ln>
        </p:spPr>
      </p:sp>
      <p:sp>
        <p:nvSpPr>
          <p:cNvPr id="4" name="lim-n-0"/>
          <p:cNvSpPr txBox="1"/>
          <p:nvPr/>
        </p:nvSpPr>
        <p:spPr>
          <a:xfrm>
            <a:off x="777240" y="1783080"/>
            <a:ext cx="3108960" cy="822960"/>
          </a:xfrm>
          <a:prstGeom prst="rect">
            <a:avLst/>
          </a:prstGeom>
          <a:noFill/>
          <a:ln/>
        </p:spPr>
        <p:txBody>
          <a:bodyPr wrap="square" lIns="0" tIns="0" rIns="0" bIns="0" rtlCol="0" anchor="t"/>
          <a:lstStyle/>
          <a:p>
            <a:pPr indent="0" marL="0">
              <a:buNone/>
            </a:pPr>
            <a:r>
              <a:rPr lang="en-US" sz="3200" b="1" dirty="0">
                <a:solidFill>
                  <a:srgbClr val="D97706"/>
                </a:solidFill>
                <a:latin typeface="Arial" pitchFamily="34" charset="0"/>
                <a:ea typeface="Arial" pitchFamily="34" charset="-122"/>
                <a:cs typeface="Arial" pitchFamily="34" charset="-120"/>
              </a:rPr>
              <a:t>AUC 0.78</a:t>
            </a:r>
            <a:endParaRPr lang="en-US" sz="3200" dirty="0"/>
          </a:p>
        </p:txBody>
      </p:sp>
      <p:sp>
        <p:nvSpPr>
          <p:cNvPr id="5" name="lim-l-0"/>
          <p:cNvSpPr txBox="1"/>
          <p:nvPr/>
        </p:nvSpPr>
        <p:spPr>
          <a:xfrm>
            <a:off x="777240" y="2697480"/>
            <a:ext cx="3108960" cy="2103120"/>
          </a:xfrm>
          <a:prstGeom prst="rect">
            <a:avLst/>
          </a:prstGeom>
          <a:noFill/>
          <a:ln/>
        </p:spPr>
        <p:txBody>
          <a:bodyPr wrap="square" lIns="0" tIns="0" rIns="0" bIns="0" rtlCol="0" anchor="t"/>
          <a:lstStyle/>
          <a:p>
            <a:pPr indent="0" marL="0">
              <a:buNone/>
            </a:pPr>
            <a:r>
              <a:rPr lang="en-US" sz="1600" dirty="0">
                <a:solidFill>
                  <a:srgbClr val="4A525C"/>
                </a:solidFill>
              </a:rPr>
              <a:t>for spotting a dangerous fault in wording the model never saw (1.00 on familiar wording). A person checks 40% of those reports, so 99% of dangerous ones are still caught.</a:t>
            </a:r>
            <a:endParaRPr lang="en-US" sz="1600" dirty="0"/>
          </a:p>
        </p:txBody>
      </p:sp>
      <p:sp>
        <p:nvSpPr>
          <p:cNvPr id="6" name="lim-1"/>
          <p:cNvSpPr/>
          <p:nvPr/>
        </p:nvSpPr>
        <p:spPr>
          <a:xfrm>
            <a:off x="4297680" y="1554480"/>
            <a:ext cx="3520440" cy="3383280"/>
          </a:xfrm>
          <a:prstGeom prst="roundRect">
            <a:avLst>
              <a:gd name="adj" fmla="val 2162"/>
            </a:avLst>
          </a:prstGeom>
          <a:solidFill>
            <a:srgbClr val="F1F3F5"/>
          </a:solidFill>
          <a:ln w="12700">
            <a:solidFill>
              <a:srgbClr val="F1F3F5"/>
            </a:solidFill>
            <a:prstDash val="solid"/>
          </a:ln>
        </p:spPr>
      </p:sp>
      <p:sp>
        <p:nvSpPr>
          <p:cNvPr id="7" name="lim-n-1"/>
          <p:cNvSpPr txBox="1"/>
          <p:nvPr/>
        </p:nvSpPr>
        <p:spPr>
          <a:xfrm>
            <a:off x="4526280" y="1783080"/>
            <a:ext cx="3108960" cy="822960"/>
          </a:xfrm>
          <a:prstGeom prst="rect">
            <a:avLst/>
          </a:prstGeom>
          <a:noFill/>
          <a:ln/>
        </p:spPr>
        <p:txBody>
          <a:bodyPr wrap="square" lIns="0" tIns="0" rIns="0" bIns="0" rtlCol="0" anchor="t"/>
          <a:lstStyle/>
          <a:p>
            <a:pPr indent="0" marL="0">
              <a:buNone/>
            </a:pPr>
            <a:r>
              <a:rPr lang="en-US" sz="3200" b="1" dirty="0">
                <a:solidFill>
                  <a:srgbClr val="6E56CF"/>
                </a:solidFill>
                <a:latin typeface="Arial" pitchFamily="34" charset="0"/>
                <a:ea typeface="Arial" pitchFamily="34" charset="-122"/>
                <a:cs typeface="Arial" pitchFamily="34" charset="-120"/>
              </a:rPr>
              <a:t>Synthetic</a:t>
            </a:r>
            <a:endParaRPr lang="en-US" sz="3200" dirty="0"/>
          </a:p>
        </p:txBody>
      </p:sp>
      <p:sp>
        <p:nvSpPr>
          <p:cNvPr id="8" name="lim-l-1"/>
          <p:cNvSpPr txBox="1"/>
          <p:nvPr/>
        </p:nvSpPr>
        <p:spPr>
          <a:xfrm>
            <a:off x="4526280" y="2697480"/>
            <a:ext cx="3108960" cy="2103120"/>
          </a:xfrm>
          <a:prstGeom prst="rect">
            <a:avLst/>
          </a:prstGeom>
          <a:noFill/>
          <a:ln/>
        </p:spPr>
        <p:txBody>
          <a:bodyPr wrap="square" lIns="0" tIns="0" rIns="0" bIns="0" rtlCol="0" anchor="t"/>
          <a:lstStyle/>
          <a:p>
            <a:pPr indent="0" marL="0">
              <a:buNone/>
            </a:pPr>
            <a:r>
              <a:rPr lang="en-US" sz="1600" dirty="0">
                <a:solidFill>
                  <a:srgbClr val="4A525C"/>
                </a:solidFill>
              </a:rPr>
              <a:t>repair requests: no public NT work-order data exists. Geography, roads, clocks and costs are real; comparisons are the finding, not the absolute numbers.</a:t>
            </a:r>
            <a:endParaRPr lang="en-US" sz="1600" dirty="0"/>
          </a:p>
        </p:txBody>
      </p:sp>
      <p:sp>
        <p:nvSpPr>
          <p:cNvPr id="9" name="lim-2"/>
          <p:cNvSpPr/>
          <p:nvPr/>
        </p:nvSpPr>
        <p:spPr>
          <a:xfrm>
            <a:off x="8046720" y="1554480"/>
            <a:ext cx="3520440" cy="3383280"/>
          </a:xfrm>
          <a:prstGeom prst="roundRect">
            <a:avLst>
              <a:gd name="adj" fmla="val 2162"/>
            </a:avLst>
          </a:prstGeom>
          <a:solidFill>
            <a:srgbClr val="F1F3F5"/>
          </a:solidFill>
          <a:ln w="12700">
            <a:solidFill>
              <a:srgbClr val="F1F3F5"/>
            </a:solidFill>
            <a:prstDash val="solid"/>
          </a:ln>
        </p:spPr>
      </p:sp>
      <p:sp>
        <p:nvSpPr>
          <p:cNvPr id="10" name="lim-n-2"/>
          <p:cNvSpPr txBox="1"/>
          <p:nvPr/>
        </p:nvSpPr>
        <p:spPr>
          <a:xfrm>
            <a:off x="8275320" y="1783080"/>
            <a:ext cx="3108960" cy="822960"/>
          </a:xfrm>
          <a:prstGeom prst="rect">
            <a:avLst/>
          </a:prstGeom>
          <a:noFill/>
          <a:ln/>
        </p:spPr>
        <p:txBody>
          <a:bodyPr wrap="square" lIns="0" tIns="0" rIns="0" bIns="0" rtlCol="0" anchor="t"/>
          <a:lstStyle/>
          <a:p>
            <a:pPr indent="0" marL="0">
              <a:buNone/>
            </a:pPr>
            <a:r>
              <a:rPr lang="en-US" sz="3200" b="1" dirty="0">
                <a:solidFill>
                  <a:srgbClr val="0A7AFF"/>
                </a:solidFill>
                <a:latin typeface="Arial" pitchFamily="34" charset="0"/>
                <a:ea typeface="Arial" pitchFamily="34" charset="-122"/>
                <a:cs typeface="Arial" pitchFamily="34" charset="-120"/>
              </a:rPr>
              <a:t>No co-design</a:t>
            </a:r>
            <a:endParaRPr lang="en-US" sz="3200" dirty="0"/>
          </a:p>
        </p:txBody>
      </p:sp>
      <p:sp>
        <p:nvSpPr>
          <p:cNvPr id="11" name="lim-l-2"/>
          <p:cNvSpPr txBox="1"/>
          <p:nvPr/>
        </p:nvSpPr>
        <p:spPr>
          <a:xfrm>
            <a:off x="8275320" y="2697480"/>
            <a:ext cx="3108960" cy="2103120"/>
          </a:xfrm>
          <a:prstGeom prst="rect">
            <a:avLst/>
          </a:prstGeom>
          <a:noFill/>
          <a:ln/>
        </p:spPr>
        <p:txBody>
          <a:bodyPr wrap="square" lIns="0" tIns="0" rIns="0" bIns="0" rtlCol="0" anchor="t"/>
          <a:lstStyle/>
          <a:p>
            <a:pPr indent="0" marL="0">
              <a:buNone/>
            </a:pPr>
            <a:r>
              <a:rPr lang="en-US" sz="1600" dirty="0">
                <a:solidFill>
                  <a:srgbClr val="4A525C"/>
                </a:solidFill>
              </a:rPr>
              <a:t>yet. Real reports come in Kriol, Aboriginal English and other languages. Tenants, Aboriginal Housing NT, land councils and the AIS shape the words first.</a:t>
            </a:r>
            <a:endParaRPr lang="en-US" sz="1600" dirty="0"/>
          </a:p>
        </p:txBody>
      </p:sp>
      <p:sp>
        <p:nvSpPr>
          <p:cNvPr id="12" name="art"/>
          <p:cNvSpPr txBox="1"/>
          <p:nvPr/>
        </p:nvSpPr>
        <p:spPr>
          <a:xfrm>
            <a:off x="548640" y="5212080"/>
            <a:ext cx="11064240" cy="548640"/>
          </a:xfrm>
          <a:prstGeom prst="rect">
            <a:avLst/>
          </a:prstGeom>
          <a:noFill/>
          <a:ln/>
        </p:spPr>
        <p:txBody>
          <a:bodyPr wrap="square" lIns="0" tIns="0" rIns="0" bIns="0" rtlCol="0" anchor="t"/>
          <a:lstStyle/>
          <a:p>
            <a:pPr indent="0" marL="0">
              <a:buNone/>
            </a:pPr>
            <a:r>
              <a:rPr lang="en-US" sz="1400" i="1" dirty="0">
                <a:solidFill>
                  <a:srgbClr val="7B8490"/>
                </a:solidFill>
              </a:rPr>
              <a:t>We used satellite imagery of Country, not Aboriginal art. Any artwork would be commissioned and licensed through an Aboriginal art centre.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49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97280"/>
          </a:xfrm>
          <a:prstGeom prst="rect">
            <a:avLst/>
          </a:prstGeom>
          <a:noFill/>
          <a:ln/>
        </p:spPr>
        <p:txBody>
          <a:bodyPr wrap="square" rtlCol="0" anchor="t"/>
          <a:lstStyle/>
          <a:p>
            <a:pPr algn="l" indent="0" marL="0">
              <a:buNone/>
            </a:pPr>
            <a:r>
              <a:rPr lang="en-US" sz="3800" b="1" dirty="0">
                <a:solidFill>
                  <a:schemeClr val="bg1"/>
                </a:solidFill>
                <a:latin typeface="Arial" pitchFamily="34" charset="0"/>
                <a:ea typeface="Arial" pitchFamily="34" charset="-122"/>
                <a:cs typeface="Arial" pitchFamily="34" charset="-120"/>
              </a:rPr>
              <a:t>Make the remote allowance a signed decision</a:t>
            </a:r>
            <a:endParaRPr lang="en-US" sz="3800" dirty="0"/>
          </a:p>
        </p:txBody>
      </p:sp>
      <p:sp>
        <p:nvSpPr>
          <p:cNvPr id="3" name="Text 0"/>
          <p:cNvSpPr/>
          <p:nvPr>
            <p:ph idx="101" type="body" hasCustomPrompt="1"/>
          </p:nvPr>
        </p:nvSpPr>
        <p:spPr>
          <a:xfrm>
            <a:off x="731520" y="1920240"/>
            <a:ext cx="10698480" cy="3931920"/>
          </a:xfrm>
          <a:prstGeom prst="rect">
            <a:avLst/>
          </a:prstGeom>
          <a:noFill/>
          <a:ln/>
        </p:spPr>
        <p:txBody>
          <a:bodyPr wrap="square" rtlCol="0" anchor="t"/>
          <a:lstStyle/>
          <a:p>
            <a:pPr algn="l" marL="342900" indent="-342900">
              <a:spcAft>
                <a:spcPts val="1400"/>
              </a:spcAft>
              <a:buSzPct val="100000"/>
              <a:buChar char="•"/>
            </a:pPr>
            <a:r>
              <a:rPr lang="en-US" sz="1900" dirty="0">
                <a:solidFill>
                  <a:srgbClr val="E3E7EB"/>
                </a:solidFill>
              </a:rPr>
              <a:t>DHLGCD: publish the triage rules; keep need and logistics separate; plan shared trips with H3; report urgent waits by access band; review the remote allowance each quarter with its cost.</a:t>
            </a:r>
            <a:endParaRPr lang="en-US" sz="1900" dirty="0"/>
          </a:p>
          <a:p>
            <a:pPr algn="l" marL="342900" indent="-342900">
              <a:spcAft>
                <a:spcPts val="1400"/>
              </a:spcAft>
              <a:buSzPct val="100000"/>
              <a:buChar char="•"/>
            </a:pPr>
            <a:r>
              <a:rPr lang="en-US" sz="1900" dirty="0">
                <a:solidFill>
                  <a:srgbClr val="E3E7EB"/>
                </a:solidFill>
              </a:rPr>
              <a:t>Contractors: log why each job waits; price charters, batching and shared trips into contracts; train local trades where waits are longest.</a:t>
            </a:r>
            <a:endParaRPr lang="en-US" sz="1900" dirty="0"/>
          </a:p>
          <a:p>
            <a:pPr algn="l" marL="342900" indent="-342900">
              <a:spcAft>
                <a:spcPts val="1400"/>
              </a:spcAft>
              <a:buSzPct val="100000"/>
              <a:buChar char="•"/>
            </a:pPr>
            <a:r>
              <a:rPr lang="en-US" sz="1900" dirty="0">
                <a:solidFill>
                  <a:srgbClr val="E3E7EB"/>
                </a:solidFill>
              </a:rPr>
              <a:t>Communities: co-design the tenant answer and fault words; hold the ledger to account.</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ReachNT</dc:title>
  <dc:subject>CDU IT Code Fair 2026, AI Challenge: housing maintenance triage</dc:subject>
  <dc:creator>Team AIC015 Top Enders</dc:creator>
  <cp:lastModifiedBy>Team AIC015 Top Enders</cp:lastModifiedBy>
  <cp:revision>1</cp:revision>
  <dcterms:created xsi:type="dcterms:W3CDTF">2026-10-06T01:09:33Z</dcterms:created>
  <dcterms:modified xsi:type="dcterms:W3CDTF">2026-10-06T01:09:33Z</dcterms:modified>
</cp:coreProperties>
</file>