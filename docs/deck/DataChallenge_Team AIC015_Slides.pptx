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ec944c-2ee2-1414-5c55-d5e23d4bf08b}">
          <p14:sldIdLst>
            <p14:sldId id="256"/>
          </p14:sldIdLst>
        </p14:section>
        <p14:section name="Problem" id="{b1e87c2d-6148-fc31-8e88-2e409a5923fa}">
          <p14:sldIdLst>
            <p14:sldId id="257"/>
            <p14:sldId id="258"/>
          </p14:sldIdLst>
        </p14:section>
        <p14:section name="Solution" id="{df3d6294-f69a-b5c5-7007-5b432ebc92d4}">
          <p14:sldIdLst>
            <p14:sldId id="259"/>
          </p14:sldIdLst>
        </p14:section>
        <p14:section name="Technology" id="{2aab84b5-26fa-d130-e609-fea8d8e47868}">
          <p14:sldIdLst>
            <p14:sldId id="260"/>
            <p14:sldId id="261"/>
            <p14:sldId id="262"/>
            <p14:sldId id="263"/>
          </p14:sldIdLst>
        </p14:section>
        <p14:section name="Results" id="{6d01b3f4-8ebd-f1f5-22c5-cbf0b321dc1d}">
          <p14:sldIdLst>
            <p14:sldId id="264"/>
            <p14:sldId id="265"/>
          </p14:sldIdLst>
        </p14:section>
        <p14:section name="Product" id="{55f0e854-4969-1baa-97b1-aaaf0c9ecc3d}">
          <p14:sldIdLst>
            <p14:sldId id="266"/>
          </p14:sldIdLst>
        </p14:section>
        <p14:section name="Trust" id="{4c26cf00-bdc3-ae95-2f41-e579ca584192}">
          <p14:sldIdLst>
            <p14:sldId id="267"/>
            <p14:sldId id="268"/>
          </p14:sldIdLst>
        </p14:section>
        <p14:section name="Close" id="{19e89e19-73a9-b7bf-5f65-815d2b56677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81D"/>
                </a:solidFill>
                <a:latin typeface="+mn-lt"/>
              </a:defRPr>
            </a:pPr>
            <a:r>
              <a:rPr sz="1400" b="0" i="0" u="none" strike="noStrike">
                <a:solidFill>
                  <a:srgbClr val="14181D"/>
                </a:solidFill>
                <a:latin typeface="+mn-lt"/>
              </a:rPr>
              <a:t>Cheapest jobs first: days until 9 in 10 urgent repairs are fixed</a:t>
            </a:r>
          </a:p>
        </c:rich>
      </c:tx>
      <c:layout/>
      <c:overlay val="0"/>
    </c:title>
    <c:autoTitleDeleted val="0"/>
    <c:plotArea>
      <c:layout/>
      <c:barChart>
        <c:barDir val="bar"/>
        <c:grouping val="clustered"/>
        <c:varyColors val="0"/>
        <c:ser>
          <c:idx val="0"/>
          <c:order val="0"/>
          <c:tx>
            <c:strRef>
              <c:f>Sheet1!$B$1</c:f>
              <c:strCache>
                <c:ptCount val="1"/>
                <c:pt idx="0">
                  <c:v>Days until 9 in 10 urgent repairs are fixed</c:v>
                </c:pt>
              </c:strCache>
            </c:strRef>
          </c:tx>
          <c:spPr>
            <a:solidFill>
              <a:srgbClr val="D97706"/>
            </a:solidFill>
            <a:effectLst/>
          </c:spPr>
          <c:invertIfNegative val="0"/>
          <c:dLbls>
            <c:numFmt formatCode="#,##0" sourceLinked="0"/>
            <c:txPr>
              <a:bodyPr/>
              <a:lstStyle/>
              <a:p>
                <a:pPr>
                  <a:defRPr b="0" i="0" strike="noStrike" sz="1400" u="none">
                    <a:solidFill>
                      <a:srgbClr val="14181D"/>
                    </a:solidFill>
                    <a:latin typeface="+mn-lt"/>
                  </a:defRPr>
                </a:pPr>
              </a:p>
            </c:txPr>
            <c:showLegendKey val="0"/>
            <c:showVal val="1"/>
            <c:showCatName val="0"/>
            <c:showSerName val="0"/>
            <c:showPercent val="0"/>
            <c:showBubbleSize val="0"/>
            <c:showLeaderLines val="0"/>
          </c:dLbls>
          <c:cat>
            <c:multiLvlStrRef>
              <c:f>Sheet1!$A$2:$A$7</c:f>
              <c:multiLvlStrCache>
                <c:ptCount val="6"/>
                <c:lvl>
                  <c:pt idx="0">
                    <c:v>Town</c:v>
                  </c:pt>
                  <c:pt idx="1">
                    <c:v>Near town</c:v>
                  </c:pt>
                  <c:pt idx="2">
                    <c:v>Remote (road)</c:v>
                  </c:pt>
                  <c:pt idx="3">
                    <c:v>Very remote</c:v>
                  </c:pt>
                  <c:pt idx="4">
                    <c:v>Cut off in the wet</c:v>
                  </c:pt>
                  <c:pt idx="5">
                    <c:v>Islands</c:v>
                  </c:pt>
                </c:lvl>
              </c:multiLvlStrCache>
            </c:multiLvlStrRef>
          </c:cat>
          <c:val>
            <c:numRef>
              <c:f>Sheet1!$B$2:$B$7</c:f>
              <c:numCache>
                <c:formatCode>General</c:formatCode>
                <c:ptCount val="6"/>
                <c:pt idx="0">
                  <c:v>3</c:v>
                </c:pt>
                <c:pt idx="1">
                  <c:v>6</c:v>
                </c:pt>
                <c:pt idx="2">
                  <c:v>74</c:v>
                </c:pt>
                <c:pt idx="3">
                  <c:v>74</c:v>
                </c:pt>
                <c:pt idx="4">
                  <c:v>69</c:v>
                </c:pt>
                <c:pt idx="5">
                  <c:v>70</c:v>
                </c:pt>
              </c:numCache>
            </c:numRef>
          </c:val>
        </c:ser>
        <c:dLbls>
          <c:numFmt formatCode="#,##0" sourceLinked="0"/>
          <c:txPr>
            <a:bodyPr/>
            <a:lstStyle/>
            <a:p>
              <a:pPr>
                <a:defRPr b="0" i="0" strike="noStrike" sz="1400" u="none">
                  <a:solidFill>
                    <a:srgbClr val="14181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2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81D"/>
                </a:solidFill>
                <a:latin typeface="+mn-lt"/>
              </a:defRPr>
            </a:pPr>
            <a:r>
              <a:rPr sz="1400" b="0" i="0" u="none" strike="noStrike">
                <a:solidFill>
                  <a:srgbClr val="14181D"/>
                </a:solidFill>
                <a:latin typeface="+mn-lt"/>
              </a:rPr>
              <a:t>Days households lived with a fault in a year (thousands)</a:t>
            </a:r>
          </a:p>
        </c:rich>
      </c:tx>
      <c:layout/>
      <c:overlay val="0"/>
    </c:title>
    <c:autoTitleDeleted val="0"/>
    <c:plotArea>
      <c:layout/>
      <c:barChart>
        <c:barDir val="col"/>
        <c:grouping val="clustered"/>
        <c:varyColors val="0"/>
        <c:ser>
          <c:idx val="0"/>
          <c:order val="0"/>
          <c:tx>
            <c:strRef>
              <c:f>Sheet1!$B$1</c:f>
              <c:strCache>
                <c:ptCount val="1"/>
                <c:pt idx="0">
                  <c:v>Days households lived with a fault (thousands)</c:v>
                </c:pt>
              </c:strCache>
            </c:strRef>
          </c:tx>
          <c:spPr>
            <a:solidFill>
              <a:srgbClr val="D97706"/>
            </a:solidFill>
            <a:effectLst/>
          </c:spPr>
          <c:invertIfNegative val="0"/>
          <c:dLbls>
            <c:numFmt formatCode="0&quot;k&quot;" sourceLinked="0"/>
            <c:txPr>
              <a:bodyPr/>
              <a:lstStyle/>
              <a:p>
                <a:pPr>
                  <a:defRPr b="0" i="0" strike="noStrike" sz="1600" u="none">
                    <a:solidFill>
                      <a:srgbClr val="14181D"/>
                    </a:solidFill>
                    <a:latin typeface="+mn-lt"/>
                  </a:defRPr>
                </a:pPr>
              </a:p>
            </c:txPr>
            <c:showLegendKey val="0"/>
            <c:showVal val="1"/>
            <c:showCatName val="0"/>
            <c:showSerName val="0"/>
            <c:showPercent val="0"/>
            <c:showBubbleSize val="0"/>
            <c:showLeaderLines val="0"/>
          </c:dLbls>
          <c:dPt>
            <c:idx val="0"/>
            <c:invertIfNegative val="0"/>
            <c:bubble3D val="0"/>
            <c:spPr>
              <a:solidFill>
                <a:srgbClr val="D97706"/>
              </a:solidFill>
              <a:effectLst/>
            </c:spPr>
          </c:dPt>
          <c:dPt>
            <c:idx val="1"/>
            <c:invertIfNegative val="0"/>
            <c:bubble3D val="0"/>
            <c:spPr>
              <a:solidFill>
                <a:srgbClr val="0A7AFF"/>
              </a:solidFill>
              <a:effectLst/>
            </c:spPr>
          </c:dPt>
          <c:dPt>
            <c:idx val="2"/>
            <c:invertIfNegative val="0"/>
            <c:bubble3D val="0"/>
            <c:spPr>
              <a:solidFill>
                <a:srgbClr val="0E8FB8"/>
              </a:solidFill>
              <a:effectLst/>
            </c:spPr>
          </c:dPt>
          <c:cat>
            <c:multiLvlStrRef>
              <c:f>Sheet1!$A$2:$A$4</c:f>
              <c:multiLvlStrCache>
                <c:ptCount val="3"/>
                <c:lvl>
                  <c:pt idx="0">
                    <c:v>Cheapest first</c:v>
                  </c:pt>
                  <c:pt idx="1">
                    <c:v>Cheapest first + urgent guarantee</c:v>
                  </c:pt>
                  <c:pt idx="2">
                    <c:v>ReachNT</c:v>
                  </c:pt>
                </c:lvl>
              </c:multiLvlStrCache>
            </c:multiLvlStrRef>
          </c:cat>
          <c:val>
            <c:numRef>
              <c:f>Sheet1!$B$2:$B$4</c:f>
              <c:numCache>
                <c:formatCode>General</c:formatCode>
                <c:ptCount val="3"/>
                <c:pt idx="0">
                  <c:v>233</c:v>
                </c:pt>
                <c:pt idx="1">
                  <c:v>87</c:v>
                </c:pt>
                <c:pt idx="2">
                  <c:v>62</c:v>
                </c:pt>
              </c:numCache>
            </c:numRef>
          </c:val>
        </c:ser>
        <c:dLbls>
          <c:numFmt formatCode="0&quot;k&quot;" sourceLinked="0"/>
          <c:txPr>
            <a:bodyPr/>
            <a:lstStyle/>
            <a:p>
              <a:pPr>
                <a:defRPr b="0" i="0" strike="noStrike" sz="1600" u="none">
                  <a:solidFill>
                    <a:srgbClr val="1418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52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30 seconds]
Good morning. I'm Harsh, this is Aashish, and we're Team Top Enders.
Imagine a family in a remote community in the Northern Territory. The water to their house stops. They ring the repairs line. In town, a plumber would be there in a couple of days. For them, it can take weeks.
Our project, ReachNT, is about why that happens, and what AI can do about it. Aashish will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35 seconds]
Here's the problem in four numbers.
There are 70 remote communities in our model, with about 4,500 public houses.
Emergency repairs in very remote communities cost eight and a half times as much, and travel can be almost the whole bill. Katherine's tradespeople drive up to six hours.
And this is the kind of message a tenant gets in our simulation. Notice the last line: nobody signed off on that wait. It just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35 seconds]
Why? Because the obvious way to plan repairs is to fix the most jobs for your money.
We simulated a whole year across the Territory. Planning for the cheapest jobs, town tenants get urgent repairs in 3 days. Remote tenants wait up to 62, and longer in the hardest places.
Nobody wrote a rule saying remote families wait. It's a side effect of chasing efficiency, and nobody is accountable for it. That's the gap we set out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35 seconds]
Thanks Aashish. ReachNT does four things.
One: it reads the report the way the tenant said it. If it isn't sure, a person calls back.
Two: it ranks repairs by need alone. Where you live is never part of your score.
Three: every week it plans the trips, and close communities share one trip.
Four: a named person signs how much cost counts, and every tenant can see why their repair is where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40 seconds]
Now the AI. Tenants say things like "no sparks now but the switch is black and the kids touch it".
ReachNT reads that with word rules and a learning model for wording the rules miss. If it's unsure, or anything sounds dangerous, a person checks the same day. It never downgrades danger on its own.
On wording the model never saw, it scored a ROC-AUC of 0.84. With the person in the loop, the system caught 99.3 percent of dangerous reports. Its confidence isn't reliable, so tenants never see a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40 seconds]
There's a quieter unfairness too. If points come only from what tenants say, "my nana lives here, nine of us, third time I rang" beats "toilet blocked, please come". Same house, same need.
So whoever the tenant tells asks the same six questions, with a free interpreter. Tier one, like someone on dialysis or a newborn, gets more points, and losing power or water becomes an emergency for them.
Across three thousand made-up households, saying less cost 50 points from words alone. With the questions, about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35 seconds]
This was my favourite decision. I suggested Uber's H3, an open-source grid of hexagons, and Harsh built the system around it.
A square's neighbours sit at two distances, sides and corners. A hexagon's six neighbours are all the same distance away. So "within two hexagons" is fair in every direction, and the rule for sharing a trip treats every community the same.
One grid does four jobs: shared trips, privacy, public numbers by area, and the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35 seconds]
Every week Google's OR-Tools plans the trips around crew hours, road closures and airstrips. A job running out of time gets a boost onto the next trip.
One tradesperson does one loop instead of two trips, and H3 tells us which pairs are close enough. That saves about $76 on every repair, and households spend 17% fewer days living with faults.
The solver proved 99.5 percent of twenty-six thousand weekly plans to be the best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45 seconds]
So what does it buy? A year of 37,508 made-up requests over the real Territory.
Planning for the cheapest jobs costs $561 a repair. ReachNT costs $821, about 47% more.
For that, nine in ten urgent remote repairs are fixed within 3 days instead of 62, and households live with faults for 74% fewer days. Against a cheaper plan that also guarantees urgent jobs, ReachNT costs 5% more for 29% fewer fault-days.
We ran five random years. The result held every time. The trade-off should be visible, priced, and signed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35 seconds]
Floods hit whole communities at once. The coordinator declares an event: every house made safe within 48 hours, one team trip, and surge crews from the contractor panel.
In a flood like January 2023 at Kalkarindji, the usual crews took 14 days, and the rest of the region slipped from 3 to 10. With surge crews, both stayed at 3.
The portal reads the NT Road Report and the Bureau of Meteorology, so heavy rain prompts the coordinator. It prompts; a person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60 seconds, including a 40-second live demo]
This is the working prototype, live at reachnt dot vercel dot app. Each hexagon is a community, the number is repairs waiting, and the blue lines are shared trips.
[Live demo, 40 seconds, practised beforehand (Early Feb, ReachNT plan): Tradesperson (plumber), tap Done on the first card, Binjari house 29. Housing officer, switch community to Binjari, house 29: "Still broken", Record. Coordinator, Checks, scroll to "Tenant says it's still broken", "Choose a crew", pick crew B, Send. Tenant: it opens on that repair, showing the reopened timeline.]
Tradespeople get a run sheet that works with no signal, and tenants see every week their repair waited,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35 seconds]
Because this affects people's homes, people stay in charge.
A named coordinator signs how much cost counts. A person can change urgency any time, on a call, on site or from a photo, and lowering a dangerous repair needs someone who spoke to the tenant or saw it.
A missed visit is never closed: it goes to the next trip or another crew, keeping its waiting time. And no app is needed: the housing officer can record anything for a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40 seconds]
We want to be straight about what we've proven and what we haven't.
We have 148 automated checks on every change, five random years, every community's location checked against satellite photos, and an independent audit whose findings we fixed.
But the requests are synthetic, because no public repair data exists. The reader is tested in English only. And no community has reviewed this yet. That's why our first recommendation is about people,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[AASHISH, about 30 seconds]
Three recommendations.
One: make the trade-off a signed decision. Publish the rules, ask every tenant the same questions, and record who decides how much cost counts.
Two: pilot it in the Katherine hub's sixteen communities, designed with tenants, Aboriginal Housing NT, land councils and interpreters.
Three: test the AI on real words before it reads anything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[HARSH, about 20 seconds]
To finish: where someone lives shouldn't decide how long they wait for water, power or a safe home.
ReachNT fixes urgent remote repairs in days instead of months, for a cost we can see and name, and it makes someone own that choice.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766560" cy="128016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3" name="Text 0"/>
          <p:cNvSpPr/>
          <p:nvPr>
            <p:ph idx="101" type="body" hasCustomPrompt="1"/>
          </p:nvPr>
        </p:nvSpPr>
        <p:spPr>
          <a:xfrm>
            <a:off x="731520" y="2880360"/>
            <a:ext cx="6035040" cy="1645920"/>
          </a:xfrm>
          <a:prstGeom prst="rect">
            <a:avLst/>
          </a:prstGeom>
          <a:noFill/>
          <a:ln/>
        </p:spPr>
        <p:txBody>
          <a:bodyPr wrap="square" rtlCol="0"/>
          <a:lstStyle>
            <a:lvl1pPr algn="l" indent="0" marL="0">
              <a:buNone/>
              <a:defRPr lang="en-US" sz="2200" dirty="0">
                <a:solidFill>
                  <a:srgbClr val="C9CFD6"/>
                </a:solidFill>
              </a:defRPr>
            </a:lvl1pPr>
          </a:lstStyle>
          <a:p>
            <a:pPr algn="l" indent="0" marL="0">
              <a:buNone/>
            </a:pPr>
            <a:endParaRPr lang="en-US" sz="2200" dirty="0"/>
          </a:p>
        </p:txBody>
      </p:sp>
      <p:sp>
        <p:nvSpPr>
          <p:cNvPr id="4" name="Text 0"/>
          <p:cNvSpPr/>
          <p:nvPr/>
        </p:nvSpPr>
        <p:spPr>
          <a:xfrm>
            <a:off x="731520" y="6172200"/>
            <a:ext cx="10698480" cy="320040"/>
          </a:xfrm>
          <a:prstGeom prst="rect">
            <a:avLst/>
          </a:prstGeom>
          <a:noFill/>
          <a:ln/>
        </p:spPr>
        <p:txBody>
          <a:bodyPr wrap="square" rtlCol="0" anchor="ctr"/>
          <a:lstStyle/>
          <a:p>
            <a:pPr indent="0" marL="0">
              <a:buNone/>
            </a:pPr>
            <a:r>
              <a:rPr lang="en-US" sz="1200" dirty="0">
                <a:solidFill>
                  <a:srgbClr val="9AA3AD"/>
                </a:solidFill>
              </a:rPr>
              <a:t>CDU IT Code Fair 2026 · Artificial Intelligence Challenge · Team AIC015 Top Enders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548640" y="6419088"/>
            <a:ext cx="9144000" cy="274320"/>
          </a:xfrm>
          <a:prstGeom prst="rect">
            <a:avLst/>
          </a:prstGeom>
          <a:noFill/>
          <a:ln/>
        </p:spPr>
        <p:txBody>
          <a:bodyPr wrap="square" rtlCol="0" anchor="ctr"/>
          <a:lstStyle/>
          <a:p>
            <a:pPr indent="0" marL="0">
              <a:buNone/>
            </a:pPr>
            <a:r>
              <a:rPr lang="en-US" sz="1000" dirty="0">
                <a:solidFill>
                  <a:srgbClr val="6B7480"/>
                </a:solidFill>
              </a:rPr>
              <a:t>ReachNT · Team AIC015 Top Enders · requests synthetic; communities, roads and clocks real; costs assumed, calibrated to Nous 2017</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hot">
    <p:bg>
      <p:bgPr>
        <a:solidFill>
          <a:srgbClr val="0D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19088"/>
            <a:ext cx="9144000" cy="274320"/>
          </a:xfrm>
          <a:prstGeom prst="rect">
            <a:avLst/>
          </a:prstGeom>
          <a:noFill/>
          <a:ln/>
        </p:spPr>
        <p:txBody>
          <a:bodyPr wrap="square" rtlCol="0" anchor="ctr"/>
          <a:lstStyle/>
          <a:p>
            <a:pPr indent="0" marL="0">
              <a:buNone/>
            </a:pPr>
            <a:r>
              <a:rPr lang="en-US" sz="1000" dirty="0">
                <a:solidFill>
                  <a:srgbClr val="9AA3AD"/>
                </a:solidFill>
              </a:rPr>
              <a:t>ReachNT · Team AIC015 Top Enders · requests synthetic; communities, roads and clocks real; costs assumed, calibrated to Nous 2017</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AD"/>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ap-backdrop" descr="map-backdrop">    </p:cNvPr>
          <p:cNvPicPr>
            <a:picLocks noChangeAspect="1"/>
          </p:cNvPicPr>
          <p:nvPr/>
        </p:nvPicPr>
        <p:blipFill>
          <a:blip r:embed="rId1">
            <a:alphaModFix amt="65000"/>
          </a:blip>
          <a:srcRect l="0" r="0" t="0" b="0"/>
          <a:stretch/>
        </p:blipFill>
        <p:spPr>
          <a:xfrm>
            <a:off x="6035040" y="0"/>
            <a:ext cx="6153912" cy="6858000"/>
          </a:xfrm>
          <a:prstGeom prst="rect">
            <a:avLst/>
          </a:prstGeom>
        </p:spPr>
      </p:pic>
      <p:sp>
        <p:nvSpPr>
          <p:cNvPr id="3" name="title-veil"/>
          <p:cNvSpPr/>
          <p:nvPr/>
        </p:nvSpPr>
        <p:spPr>
          <a:xfrm>
            <a:off x="0" y="0"/>
            <a:ext cx="6583680" cy="6858000"/>
          </a:xfrm>
          <a:prstGeom prst="rect">
            <a:avLst/>
          </a:prstGeom>
          <a:solidFill>
            <a:srgbClr val="0D1418"/>
          </a:solidFill>
          <a:ln w="12700">
            <a:solidFill>
              <a:srgbClr val="0D1418"/>
            </a:solidFill>
            <a:prstDash val="solid"/>
          </a:ln>
        </p:spPr>
      </p:sp>
      <p:sp>
        <p:nvSpPr>
          <p:cNvPr id="4" name="Text 0"/>
          <p:cNvSpPr/>
          <p:nvPr>
            <p:ph idx="100" type="title" hasCustomPrompt="1"/>
          </p:nvPr>
        </p:nvSpPr>
        <p:spPr>
          <a:xfrm>
            <a:off x="731520" y="1463040"/>
            <a:ext cx="6766560" cy="1280160"/>
          </a:xfrm>
          <a:prstGeom prst="rect">
            <a:avLst/>
          </a:prstGeom>
          <a:noFill/>
          <a:ln/>
        </p:spPr>
        <p:txBody>
          <a:bodyPr wrap="square" rtlCol="0" anchor="b"/>
          <a:lstStyle/>
          <a:p>
            <a:pPr algn="l" indent="0" marL="0">
              <a:buNone/>
            </a:pPr>
            <a:r>
              <a:rPr lang="en-US" sz="6000" b="1" dirty="0">
                <a:solidFill>
                  <a:schemeClr val="bg1"/>
                </a:solidFill>
                <a:latin typeface="Arial" pitchFamily="34" charset="0"/>
                <a:ea typeface="Arial" pitchFamily="34" charset="-122"/>
                <a:cs typeface="Arial" pitchFamily="34" charset="-120"/>
              </a:rPr>
              <a:t>ReachNT</a:t>
            </a:r>
            <a:endParaRPr lang="en-US" sz="6000" dirty="0"/>
          </a:p>
        </p:txBody>
      </p:sp>
      <p:sp>
        <p:nvSpPr>
          <p:cNvPr id="5" name="Text 0"/>
          <p:cNvSpPr/>
          <p:nvPr>
            <p:ph idx="101" type="body" hasCustomPrompt="1"/>
          </p:nvPr>
        </p:nvSpPr>
        <p:spPr>
          <a:xfrm>
            <a:off x="731520" y="2880360"/>
            <a:ext cx="6035040" cy="1645920"/>
          </a:xfrm>
          <a:prstGeom prst="rect">
            <a:avLst/>
          </a:prstGeom>
          <a:noFill/>
          <a:ln/>
        </p:spPr>
        <p:txBody>
          <a:bodyPr wrap="square" rtlCol="0" anchor="t"/>
          <a:lstStyle/>
          <a:p>
            <a:pPr algn="l" indent="0" marL="0">
              <a:buNone/>
            </a:pPr>
            <a:r>
              <a:rPr lang="en-US" sz="2200" dirty="0">
                <a:solidFill>
                  <a:srgbClr val="C9CFD6"/>
                </a:solidFill>
              </a:rPr>
              <a:t>Urgent repairs fixed on time out bush, without letting cost quietly decide who waits</a:t>
            </a:r>
            <a:endParaRPr lang="en-US" sz="2200" dirty="0"/>
          </a:p>
        </p:txBody>
      </p:sp>
      <p:sp>
        <p:nvSpPr>
          <p:cNvPr id="6" name="names"/>
          <p:cNvSpPr txBox="1"/>
          <p:nvPr/>
        </p:nvSpPr>
        <p:spPr>
          <a:xfrm>
            <a:off x="731520" y="4800600"/>
            <a:ext cx="5852160" cy="365760"/>
          </a:xfrm>
          <a:prstGeom prst="rect">
            <a:avLst/>
          </a:prstGeom>
          <a:noFill/>
          <a:ln/>
        </p:spPr>
        <p:txBody>
          <a:bodyPr wrap="square" lIns="0" tIns="0" rIns="0" bIns="0" rtlCol="0" anchor="t"/>
          <a:lstStyle/>
          <a:p>
            <a:pPr indent="0" marL="0">
              <a:buNone/>
            </a:pPr>
            <a:r>
              <a:rPr lang="en-US" sz="1600" dirty="0">
                <a:solidFill>
                  <a:srgbClr val="9AA3AD"/>
                </a:solidFill>
                <a:latin typeface="Calibri" pitchFamily="34" charset="0"/>
                <a:ea typeface="Calibri" pitchFamily="34" charset="-122"/>
                <a:cs typeface="Calibri" pitchFamily="34" charset="-120"/>
              </a:rPr>
              <a:t>Harsh Rastogi · Aashish</a:t>
            </a:r>
            <a:endParaRPr lang="en-US" sz="1600" dirty="0"/>
          </a:p>
        </p:txBody>
      </p:sp>
      <p:sp>
        <p:nvSpPr>
          <p:cNvPr id="7" name="url"/>
          <p:cNvSpPr txBox="1"/>
          <p:nvPr/>
        </p:nvSpPr>
        <p:spPr>
          <a:xfrm>
            <a:off x="731520" y="5212080"/>
            <a:ext cx="5852160" cy="365760"/>
          </a:xfrm>
          <a:prstGeom prst="rect">
            <a:avLst/>
          </a:prstGeom>
          <a:noFill/>
          <a:ln/>
        </p:spPr>
        <p:txBody>
          <a:bodyPr wrap="square" lIns="0" tIns="0" rIns="0" bIns="0" rtlCol="0" anchor="t"/>
          <a:lstStyle/>
          <a:p>
            <a:pPr indent="0" marL="0">
              <a:buNone/>
            </a:pPr>
            <a:r>
              <a:rPr lang="en-US" sz="1600" b="1" dirty="0">
                <a:solidFill>
                  <a:srgbClr val="64D2FF"/>
                </a:solidFill>
                <a:latin typeface="Calibri" pitchFamily="34" charset="0"/>
                <a:ea typeface="Calibri" pitchFamily="34" charset="-122"/>
                <a:cs typeface="Calibri" pitchFamily="34" charset="-120"/>
              </a:rPr>
              <a:t>reachnt.vercel.app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Remote repairs cost more, so they quietly fall to the back</a:t>
            </a:r>
            <a:endParaRPr lang="en-US" sz="2800" dirty="0"/>
          </a:p>
        </p:txBody>
      </p:sp>
      <p:sp>
        <p:nvSpPr>
          <p:cNvPr id="3" name="s-com-n"/>
          <p:cNvSpPr txBox="1"/>
          <p:nvPr/>
        </p:nvSpPr>
        <p:spPr>
          <a:xfrm>
            <a:off x="548640" y="1600200"/>
            <a:ext cx="2560320" cy="868680"/>
          </a:xfrm>
          <a:prstGeom prst="rect">
            <a:avLst/>
          </a:prstGeom>
          <a:noFill/>
          <a:ln/>
        </p:spPr>
        <p:txBody>
          <a:bodyPr wrap="square" lIns="0" tIns="0" rIns="0" bIns="0" rtlCol="0" anchor="t"/>
          <a:lstStyle/>
          <a:p>
            <a:pPr indent="0" marL="0">
              <a:buNone/>
            </a:pPr>
            <a:r>
              <a:rPr lang="en-US" sz="4800" b="1" dirty="0">
                <a:solidFill>
                  <a:srgbClr val="0E8FB8"/>
                </a:solidFill>
                <a:latin typeface="Arial" pitchFamily="34" charset="0"/>
                <a:ea typeface="Arial" pitchFamily="34" charset="-122"/>
                <a:cs typeface="Arial" pitchFamily="34" charset="-120"/>
              </a:rPr>
              <a:t>70</a:t>
            </a:r>
            <a:endParaRPr lang="en-US" sz="4800" dirty="0"/>
          </a:p>
        </p:txBody>
      </p:sp>
      <p:sp>
        <p:nvSpPr>
          <p:cNvPr id="4" name="s-com-l"/>
          <p:cNvSpPr txBox="1"/>
          <p:nvPr/>
        </p:nvSpPr>
        <p:spPr>
          <a:xfrm>
            <a:off x="548640" y="2514600"/>
            <a:ext cx="256032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remote communities in our model, with 4,481 public houses</a:t>
            </a:r>
            <a:endParaRPr lang="en-US" sz="1500" dirty="0"/>
          </a:p>
        </p:txBody>
      </p:sp>
      <p:sp>
        <p:nvSpPr>
          <p:cNvPr id="5" name="s-cost-n"/>
          <p:cNvSpPr txBox="1"/>
          <p:nvPr/>
        </p:nvSpPr>
        <p:spPr>
          <a:xfrm>
            <a:off x="3291840" y="1600200"/>
            <a:ext cx="2560320" cy="868680"/>
          </a:xfrm>
          <a:prstGeom prst="rect">
            <a:avLst/>
          </a:prstGeom>
          <a:noFill/>
          <a:ln/>
        </p:spPr>
        <p:txBody>
          <a:bodyPr wrap="square" lIns="0" tIns="0" rIns="0" bIns="0" rtlCol="0" anchor="t"/>
          <a:lstStyle/>
          <a:p>
            <a:pPr indent="0" marL="0">
              <a:buNone/>
            </a:pPr>
            <a:r>
              <a:rPr lang="en-US" sz="4800" b="1" dirty="0">
                <a:solidFill>
                  <a:srgbClr val="D97706"/>
                </a:solidFill>
                <a:latin typeface="Arial" pitchFamily="34" charset="0"/>
                <a:ea typeface="Arial" pitchFamily="34" charset="-122"/>
                <a:cs typeface="Arial" pitchFamily="34" charset="-120"/>
              </a:rPr>
              <a:t>8.5×</a:t>
            </a:r>
            <a:endParaRPr lang="en-US" sz="4800" dirty="0"/>
          </a:p>
        </p:txBody>
      </p:sp>
      <p:sp>
        <p:nvSpPr>
          <p:cNvPr id="6" name="s-cost-l"/>
          <p:cNvSpPr txBox="1"/>
          <p:nvPr/>
        </p:nvSpPr>
        <p:spPr>
          <a:xfrm>
            <a:off x="3291840" y="2514600"/>
            <a:ext cx="256032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what an emergency repair costs in a very remote community, against a remote one (Nous Group, 2017)</a:t>
            </a:r>
            <a:endParaRPr lang="en-US" sz="1500" dirty="0"/>
          </a:p>
        </p:txBody>
      </p:sp>
      <p:sp>
        <p:nvSpPr>
          <p:cNvPr id="7" name="s-travel-n"/>
          <p:cNvSpPr txBox="1"/>
          <p:nvPr/>
        </p:nvSpPr>
        <p:spPr>
          <a:xfrm>
            <a:off x="6035040" y="1600200"/>
            <a:ext cx="2560320" cy="868680"/>
          </a:xfrm>
          <a:prstGeom prst="rect">
            <a:avLst/>
          </a:prstGeom>
          <a:noFill/>
          <a:ln/>
        </p:spPr>
        <p:txBody>
          <a:bodyPr wrap="square" lIns="0" tIns="0" rIns="0" bIns="0" rtlCol="0" anchor="t"/>
          <a:lstStyle/>
          <a:p>
            <a:pPr indent="0" marL="0">
              <a:buNone/>
            </a:pPr>
            <a:r>
              <a:rPr lang="en-US" sz="4800" b="1" dirty="0">
                <a:solidFill>
                  <a:srgbClr val="D97706"/>
                </a:solidFill>
                <a:latin typeface="Arial" pitchFamily="34" charset="0"/>
                <a:ea typeface="Arial" pitchFamily="34" charset="-122"/>
                <a:cs typeface="Arial" pitchFamily="34" charset="-120"/>
              </a:rPr>
              <a:t>96%</a:t>
            </a:r>
            <a:endParaRPr lang="en-US" sz="4800" dirty="0"/>
          </a:p>
        </p:txBody>
      </p:sp>
      <p:sp>
        <p:nvSpPr>
          <p:cNvPr id="8" name="s-travel-l"/>
          <p:cNvSpPr txBox="1"/>
          <p:nvPr/>
        </p:nvSpPr>
        <p:spPr>
          <a:xfrm>
            <a:off x="6035040" y="2514600"/>
            <a:ext cx="256032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of an emergency job's cost can be travel alone (Nous Group, 2017)</a:t>
            </a:r>
            <a:endParaRPr lang="en-US" sz="1500" dirty="0"/>
          </a:p>
        </p:txBody>
      </p:sp>
      <p:sp>
        <p:nvSpPr>
          <p:cNvPr id="9" name="s-drive-n"/>
          <p:cNvSpPr txBox="1"/>
          <p:nvPr/>
        </p:nvSpPr>
        <p:spPr>
          <a:xfrm>
            <a:off x="8778240" y="1600200"/>
            <a:ext cx="2834640" cy="868680"/>
          </a:xfrm>
          <a:prstGeom prst="rect">
            <a:avLst/>
          </a:prstGeom>
          <a:noFill/>
          <a:ln/>
        </p:spPr>
        <p:txBody>
          <a:bodyPr wrap="square" lIns="0" tIns="0" rIns="0" bIns="0" rtlCol="0" anchor="t"/>
          <a:lstStyle/>
          <a:p>
            <a:pPr indent="0" marL="0">
              <a:buNone/>
            </a:pPr>
            <a:r>
              <a:rPr lang="en-US" sz="4800" b="1" dirty="0">
                <a:solidFill>
                  <a:srgbClr val="6E56CF"/>
                </a:solidFill>
                <a:latin typeface="Arial" pitchFamily="34" charset="0"/>
                <a:ea typeface="Arial" pitchFamily="34" charset="-122"/>
                <a:cs typeface="Arial" pitchFamily="34" charset="-120"/>
              </a:rPr>
              <a:t>6 h</a:t>
            </a:r>
            <a:endParaRPr lang="en-US" sz="4800" dirty="0"/>
          </a:p>
        </p:txBody>
      </p:sp>
      <p:sp>
        <p:nvSpPr>
          <p:cNvPr id="10" name="s-drive-l"/>
          <p:cNvSpPr txBox="1"/>
          <p:nvPr/>
        </p:nvSpPr>
        <p:spPr>
          <a:xfrm>
            <a:off x="8778240" y="2514600"/>
            <a:ext cx="283464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drive from Katherine to Kalkarindji, one of the 16 communities its tradespeople serve</a:t>
            </a:r>
            <a:endParaRPr lang="en-US" sz="1500" dirty="0"/>
          </a:p>
        </p:txBody>
      </p:sp>
      <p:sp>
        <p:nvSpPr>
          <p:cNvPr id="11" name="story-card"/>
          <p:cNvSpPr/>
          <p:nvPr/>
        </p:nvSpPr>
        <p:spPr>
          <a:xfrm>
            <a:off x="548640" y="4160520"/>
            <a:ext cx="11064240" cy="1920240"/>
          </a:xfrm>
          <a:prstGeom prst="roundRect">
            <a:avLst>
              <a:gd name="adj" fmla="val 4762"/>
            </a:avLst>
          </a:prstGeom>
          <a:solidFill>
            <a:srgbClr val="F1F3F5"/>
          </a:solidFill>
          <a:ln w="12700">
            <a:solidFill>
              <a:srgbClr val="F1F3F5"/>
            </a:solidFill>
            <a:prstDash val="solid"/>
          </a:ln>
        </p:spPr>
      </p:sp>
      <p:sp>
        <p:nvSpPr>
          <p:cNvPr id="12" name="story-hex"/>
          <p:cNvSpPr/>
          <p:nvPr/>
        </p:nvSpPr>
        <p:spPr>
          <a:xfrm>
            <a:off x="868680" y="4526280"/>
            <a:ext cx="822960" cy="724205"/>
          </a:xfrm>
          <a:prstGeom prst="hexagon">
            <a:avLst/>
          </a:prstGeom>
          <a:solidFill>
            <a:srgbClr val="D97706"/>
          </a:solidFill>
          <a:ln w="12700">
            <a:solidFill>
              <a:srgbClr val="D97706"/>
            </a:solidFill>
            <a:prstDash val="solid"/>
          </a:ln>
        </p:spPr>
      </p:sp>
      <p:sp>
        <p:nvSpPr>
          <p:cNvPr id="13" name="story-hex-t"/>
          <p:cNvSpPr txBox="1"/>
          <p:nvPr/>
        </p:nvSpPr>
        <p:spPr>
          <a:xfrm>
            <a:off x="868680" y="4526280"/>
            <a:ext cx="822960" cy="724205"/>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a:t>
            </a:r>
            <a:endParaRPr lang="en-US" sz="2600" dirty="0"/>
          </a:p>
        </p:txBody>
      </p:sp>
      <p:sp>
        <p:nvSpPr>
          <p:cNvPr id="14" name="story-label"/>
          <p:cNvSpPr txBox="1"/>
          <p:nvPr/>
        </p:nvSpPr>
        <p:spPr>
          <a:xfrm>
            <a:off x="1965960" y="4389120"/>
            <a:ext cx="9326880" cy="320040"/>
          </a:xfrm>
          <a:prstGeom prst="rect">
            <a:avLst/>
          </a:prstGeom>
          <a:noFill/>
          <a:ln/>
        </p:spPr>
        <p:txBody>
          <a:bodyPr wrap="square" lIns="0" tIns="0" rIns="0" bIns="0" rtlCol="0" anchor="t"/>
          <a:lstStyle/>
          <a:p>
            <a:pPr indent="0" marL="0">
              <a:buNone/>
            </a:pPr>
            <a:r>
              <a:rPr lang="en-US" sz="1300" b="1" dirty="0">
                <a:solidFill>
                  <a:srgbClr val="6B7480"/>
                </a:solidFill>
                <a:latin typeface="Calibri" pitchFamily="34" charset="0"/>
                <a:ea typeface="Calibri" pitchFamily="34" charset="-122"/>
                <a:cs typeface="Calibri" pitchFamily="34" charset="-120"/>
              </a:rPr>
              <a:t>A real kind of message, from our simulated year</a:t>
            </a:r>
            <a:endParaRPr lang="en-US" sz="1300" dirty="0"/>
          </a:p>
        </p:txBody>
      </p:sp>
      <p:sp>
        <p:nvSpPr>
          <p:cNvPr id="15" name="story-sms"/>
          <p:cNvSpPr txBox="1"/>
          <p:nvPr/>
        </p:nvSpPr>
        <p:spPr>
          <a:xfrm>
            <a:off x="1965960" y="4709160"/>
            <a:ext cx="9326880" cy="457200"/>
          </a:xfrm>
          <a:prstGeom prst="rect">
            <a:avLst/>
          </a:prstGeom>
          <a:noFill/>
          <a:ln/>
        </p:spPr>
        <p:txBody>
          <a:bodyPr wrap="square" lIns="0" tIns="0" rIns="0" bIns="0" rtlCol="0" anchor="t"/>
          <a:lstStyle/>
          <a:p>
            <a:pPr indent="0" marL="0">
              <a:buNone/>
            </a:pPr>
            <a:r>
              <a:rPr lang="en-US" sz="1800" b="1" dirty="0">
                <a:solidFill>
                  <a:srgbClr val="14181D"/>
                </a:solidFill>
                <a:latin typeface="Calibri" pitchFamily="34" charset="0"/>
                <a:ea typeface="Calibri" pitchFamily="34" charset="-122"/>
                <a:cs typeface="Calibri" pitchFamily="34" charset="-120"/>
              </a:rPr>
              <a:t>“Your no power to the house repair is urgent. Waiting 56 days. Held up by travel cost.”</a:t>
            </a:r>
            <a:endParaRPr lang="en-US" sz="1800" dirty="0"/>
          </a:p>
        </p:txBody>
      </p:sp>
      <p:sp>
        <p:nvSpPr>
          <p:cNvPr id="16" name="story-why"/>
          <p:cNvSpPr txBox="1"/>
          <p:nvPr/>
        </p:nvSpPr>
        <p:spPr>
          <a:xfrm>
            <a:off x="1965960" y="5166360"/>
            <a:ext cx="9326880" cy="7772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For 28 days no electrician was sent to your community. It costs about $8,100 to fly one there and back. That was a cost decision, not a judgement about your repair. Nobody signed off on it.</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Plan for the cheapest jobs, and remote tenants wait weeks</a:t>
            </a:r>
            <a:endParaRPr lang="en-US" sz="2800" dirty="0"/>
          </a:p>
        </p:txBody>
      </p:sp>
      <p:graphicFrame>
        <p:nvGraphicFramePr>
          <p:cNvPr id="3" name="wait-chart" descr=""/>
          <p:cNvGraphicFramePr/>
          <p:nvPr/>
        </p:nvGraphicFramePr>
        <p:xfrm>
          <a:off x="548640" y="13716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trap-card"/>
          <p:cNvSpPr/>
          <p:nvPr/>
        </p:nvSpPr>
        <p:spPr>
          <a:xfrm>
            <a:off x="7680960" y="1463040"/>
            <a:ext cx="3931920" cy="2148840"/>
          </a:xfrm>
          <a:prstGeom prst="roundRect">
            <a:avLst>
              <a:gd name="adj" fmla="val 4255"/>
            </a:avLst>
          </a:prstGeom>
          <a:solidFill>
            <a:srgbClr val="FBEEDD"/>
          </a:solidFill>
          <a:ln w="12700">
            <a:solidFill>
              <a:srgbClr val="FBEEDD"/>
            </a:solidFill>
            <a:prstDash val="solid"/>
          </a:ln>
        </p:spPr>
      </p:sp>
      <p:sp>
        <p:nvSpPr>
          <p:cNvPr id="5" name="trap-n"/>
          <p:cNvSpPr txBox="1"/>
          <p:nvPr/>
        </p:nvSpPr>
        <p:spPr>
          <a:xfrm>
            <a:off x="7955280" y="1645920"/>
            <a:ext cx="3474720" cy="731520"/>
          </a:xfrm>
          <a:prstGeom prst="rect">
            <a:avLst/>
          </a:prstGeom>
          <a:noFill/>
          <a:ln/>
        </p:spPr>
        <p:txBody>
          <a:bodyPr wrap="square" lIns="0" tIns="0" rIns="0" bIns="0" rtlCol="0" anchor="t"/>
          <a:lstStyle/>
          <a:p>
            <a:pPr indent="0" marL="0">
              <a:buNone/>
            </a:pPr>
            <a:r>
              <a:rPr lang="en-US" sz="4400" b="1" dirty="0">
                <a:solidFill>
                  <a:srgbClr val="D97706"/>
                </a:solidFill>
                <a:latin typeface="Arial" pitchFamily="34" charset="0"/>
                <a:ea typeface="Arial" pitchFamily="34" charset="-122"/>
                <a:cs typeface="Arial" pitchFamily="34" charset="-120"/>
              </a:rPr>
              <a:t>62 days</a:t>
            </a:r>
            <a:endParaRPr lang="en-US" sz="4400" dirty="0"/>
          </a:p>
        </p:txBody>
      </p:sp>
      <p:sp>
        <p:nvSpPr>
          <p:cNvPr id="6" name="trap-l"/>
          <p:cNvSpPr txBox="1"/>
          <p:nvPr/>
        </p:nvSpPr>
        <p:spPr>
          <a:xfrm>
            <a:off x="7955280" y="2423160"/>
            <a:ext cx="3474720" cy="914400"/>
          </a:xfrm>
          <a:prstGeom prst="rect">
            <a:avLst/>
          </a:prstGeom>
          <a:noFill/>
          <a:ln/>
        </p:spPr>
        <p:txBody>
          <a:bodyPr wrap="square" lIns="0" tIns="0" rIns="0" bIns="0" rtlCol="0" anchor="t"/>
          <a:lstStyle/>
          <a:p>
            <a:pPr indent="0" marL="0">
              <a:buNone/>
            </a:pPr>
            <a:r>
              <a:rPr lang="en-US" sz="1600" dirty="0">
                <a:solidFill>
                  <a:srgbClr val="14181D"/>
                </a:solidFill>
                <a:latin typeface="Calibri" pitchFamily="34" charset="0"/>
                <a:ea typeface="Calibri" pitchFamily="34" charset="-122"/>
                <a:cs typeface="Calibri" pitchFamily="34" charset="-120"/>
              </a:rPr>
              <a:t>for 9 in 10 urgent remote repairs overall (longer in the hardest-to-reach places), against 3 days in town</a:t>
            </a:r>
            <a:endParaRPr lang="en-US" sz="1600" dirty="0"/>
          </a:p>
        </p:txBody>
      </p:sp>
      <p:sp>
        <p:nvSpPr>
          <p:cNvPr id="7" name="why-card"/>
          <p:cNvSpPr/>
          <p:nvPr/>
        </p:nvSpPr>
        <p:spPr>
          <a:xfrm>
            <a:off x="7680960" y="3840480"/>
            <a:ext cx="3931920" cy="2240280"/>
          </a:xfrm>
          <a:prstGeom prst="roundRect">
            <a:avLst>
              <a:gd name="adj" fmla="val 4082"/>
            </a:avLst>
          </a:prstGeom>
          <a:solidFill>
            <a:srgbClr val="F1F3F5"/>
          </a:solidFill>
          <a:ln w="12700">
            <a:solidFill>
              <a:srgbClr val="F1F3F5"/>
            </a:solidFill>
            <a:prstDash val="solid"/>
          </a:ln>
        </p:spPr>
      </p:sp>
      <p:sp>
        <p:nvSpPr>
          <p:cNvPr id="8" name="why-text"/>
          <p:cNvSpPr txBox="1"/>
          <p:nvPr/>
        </p:nvSpPr>
        <p:spPr>
          <a:xfrm>
            <a:off x="7955280" y="4069080"/>
            <a:ext cx="3474720" cy="1828800"/>
          </a:xfrm>
          <a:prstGeom prst="rect">
            <a:avLst/>
          </a:prstGeom>
          <a:noFill/>
          <a:ln/>
        </p:spPr>
        <p:txBody>
          <a:bodyPr wrap="square" lIns="0" tIns="0" rIns="0" bIns="0" rtlCol="0" anchor="t"/>
          <a:lstStyle/>
          <a:p>
            <a:pPr indent="0" marL="0">
              <a:buNone/>
            </a:pPr>
            <a:r>
              <a:rPr lang="en-US" sz="1600" b="1" dirty="0">
                <a:solidFill>
                  <a:srgbClr val="14181D"/>
                </a:solidFill>
                <a:latin typeface="Calibri" pitchFamily="34" charset="0"/>
                <a:ea typeface="Calibri" pitchFamily="34" charset="-122"/>
                <a:cs typeface="Calibri" pitchFamily="34" charset="-120"/>
              </a:rPr>
              <a:t>Why: </a:t>
            </a:r>
            <a:pPr indent="0" marL="0">
              <a:buNone/>
            </a:pPr>
            <a:r>
              <a:rPr lang="en-US" sz="1600" dirty="0">
                <a:solidFill>
                  <a:srgbClr val="4A525C"/>
                </a:solidFill>
                <a:latin typeface="Calibri" pitchFamily="34" charset="0"/>
                <a:ea typeface="Calibri" pitchFamily="34" charset="-122"/>
                <a:cs typeface="Calibri" pitchFamily="34" charset="-120"/>
              </a:rPr>
              <a:t>a schedule built to fix the most jobs for the money always picks town first. It's efficient on paper, and no one ever decides that remote families should wait.</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ReachNT: rank by need, share trips, and put a name on the trade-off</a:t>
            </a:r>
            <a:endParaRPr lang="en-US" sz="2800" dirty="0"/>
          </a:p>
        </p:txBody>
      </p:sp>
      <p:sp>
        <p:nvSpPr>
          <p:cNvPr id="3" name="step-1"/>
          <p:cNvSpPr/>
          <p:nvPr/>
        </p:nvSpPr>
        <p:spPr>
          <a:xfrm>
            <a:off x="548640" y="1600200"/>
            <a:ext cx="2633472" cy="3931920"/>
          </a:xfrm>
          <a:prstGeom prst="roundRect">
            <a:avLst>
              <a:gd name="adj" fmla="val 3472"/>
            </a:avLst>
          </a:prstGeom>
          <a:solidFill>
            <a:srgbClr val="F1F3F5"/>
          </a:solidFill>
          <a:ln w="12700">
            <a:solidFill>
              <a:srgbClr val="F1F3F5"/>
            </a:solidFill>
            <a:prstDash val="solid"/>
          </a:ln>
        </p:spPr>
      </p:sp>
      <p:sp>
        <p:nvSpPr>
          <p:cNvPr id="4" name="step-hex-1"/>
          <p:cNvSpPr/>
          <p:nvPr/>
        </p:nvSpPr>
        <p:spPr>
          <a:xfrm>
            <a:off x="822960" y="1874520"/>
            <a:ext cx="868680" cy="764438"/>
          </a:xfrm>
          <a:prstGeom prst="hexagon">
            <a:avLst/>
          </a:prstGeom>
          <a:solidFill>
            <a:srgbClr val="0E8FB8"/>
          </a:solidFill>
          <a:ln w="12700">
            <a:solidFill>
              <a:srgbClr val="0E8FB8"/>
            </a:solidFill>
            <a:prstDash val="solid"/>
          </a:ln>
        </p:spPr>
      </p:sp>
      <p:sp>
        <p:nvSpPr>
          <p:cNvPr id="5" name="step-hex-1-t"/>
          <p:cNvSpPr txBox="1"/>
          <p:nvPr/>
        </p:nvSpPr>
        <p:spPr>
          <a:xfrm>
            <a:off x="822960" y="187452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6" name="step-h-1"/>
          <p:cNvSpPr txBox="1"/>
          <p:nvPr/>
        </p:nvSpPr>
        <p:spPr>
          <a:xfrm>
            <a:off x="822960" y="2834640"/>
            <a:ext cx="2194560" cy="45720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Read</a:t>
            </a:r>
            <a:endParaRPr lang="en-US" sz="2100" dirty="0"/>
          </a:p>
        </p:txBody>
      </p:sp>
      <p:sp>
        <p:nvSpPr>
          <p:cNvPr id="7" name="step-b-1"/>
          <p:cNvSpPr txBox="1"/>
          <p:nvPr/>
        </p:nvSpPr>
        <p:spPr>
          <a:xfrm>
            <a:off x="822960" y="3337560"/>
            <a:ext cx="2148840" cy="210312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Reads what the tenant said, in their words, and picks the fault and how urgent it is. Unsure? A person calls back.</a:t>
            </a:r>
            <a:endParaRPr lang="en-US" sz="1500" dirty="0"/>
          </a:p>
        </p:txBody>
      </p:sp>
      <p:sp>
        <p:nvSpPr>
          <p:cNvPr id="8" name="step-2"/>
          <p:cNvSpPr/>
          <p:nvPr/>
        </p:nvSpPr>
        <p:spPr>
          <a:xfrm>
            <a:off x="3364992" y="1600200"/>
            <a:ext cx="2633472" cy="3931920"/>
          </a:xfrm>
          <a:prstGeom prst="roundRect">
            <a:avLst>
              <a:gd name="adj" fmla="val 3472"/>
            </a:avLst>
          </a:prstGeom>
          <a:solidFill>
            <a:srgbClr val="F1F3F5"/>
          </a:solidFill>
          <a:ln w="12700">
            <a:solidFill>
              <a:srgbClr val="F1F3F5"/>
            </a:solidFill>
            <a:prstDash val="solid"/>
          </a:ln>
        </p:spPr>
      </p:sp>
      <p:sp>
        <p:nvSpPr>
          <p:cNvPr id="9" name="step-hex-2"/>
          <p:cNvSpPr/>
          <p:nvPr/>
        </p:nvSpPr>
        <p:spPr>
          <a:xfrm>
            <a:off x="3639312" y="1874520"/>
            <a:ext cx="868680" cy="764438"/>
          </a:xfrm>
          <a:prstGeom prst="hexagon">
            <a:avLst/>
          </a:prstGeom>
          <a:solidFill>
            <a:srgbClr val="1F9D4C"/>
          </a:solidFill>
          <a:ln w="12700">
            <a:solidFill>
              <a:srgbClr val="1F9D4C"/>
            </a:solidFill>
            <a:prstDash val="solid"/>
          </a:ln>
        </p:spPr>
      </p:sp>
      <p:sp>
        <p:nvSpPr>
          <p:cNvPr id="10" name="step-hex-2-t"/>
          <p:cNvSpPr txBox="1"/>
          <p:nvPr/>
        </p:nvSpPr>
        <p:spPr>
          <a:xfrm>
            <a:off x="3639312" y="187452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1" name="step-h-2"/>
          <p:cNvSpPr txBox="1"/>
          <p:nvPr/>
        </p:nvSpPr>
        <p:spPr>
          <a:xfrm>
            <a:off x="3639312" y="2834640"/>
            <a:ext cx="2194560" cy="45720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Rank by need</a:t>
            </a:r>
            <a:endParaRPr lang="en-US" sz="2100" dirty="0"/>
          </a:p>
        </p:txBody>
      </p:sp>
      <p:sp>
        <p:nvSpPr>
          <p:cNvPr id="12" name="step-b-2"/>
          <p:cNvSpPr txBox="1"/>
          <p:nvPr/>
        </p:nvSpPr>
        <p:spPr>
          <a:xfrm>
            <a:off x="3639312" y="3337560"/>
            <a:ext cx="2148840" cy="210312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Danger, health, who lives there and time waited set the order. Distance and cost are never in the score.</a:t>
            </a:r>
            <a:endParaRPr lang="en-US" sz="1500" dirty="0"/>
          </a:p>
        </p:txBody>
      </p:sp>
      <p:sp>
        <p:nvSpPr>
          <p:cNvPr id="13" name="step-3"/>
          <p:cNvSpPr/>
          <p:nvPr/>
        </p:nvSpPr>
        <p:spPr>
          <a:xfrm>
            <a:off x="6181344" y="1600200"/>
            <a:ext cx="2633472" cy="3931920"/>
          </a:xfrm>
          <a:prstGeom prst="roundRect">
            <a:avLst>
              <a:gd name="adj" fmla="val 3472"/>
            </a:avLst>
          </a:prstGeom>
          <a:solidFill>
            <a:srgbClr val="F1F3F5"/>
          </a:solidFill>
          <a:ln w="12700">
            <a:solidFill>
              <a:srgbClr val="F1F3F5"/>
            </a:solidFill>
            <a:prstDash val="solid"/>
          </a:ln>
        </p:spPr>
      </p:sp>
      <p:sp>
        <p:nvSpPr>
          <p:cNvPr id="14" name="step-hex-3"/>
          <p:cNvSpPr/>
          <p:nvPr/>
        </p:nvSpPr>
        <p:spPr>
          <a:xfrm>
            <a:off x="6455664" y="1874520"/>
            <a:ext cx="868680" cy="764438"/>
          </a:xfrm>
          <a:prstGeom prst="hexagon">
            <a:avLst/>
          </a:prstGeom>
          <a:solidFill>
            <a:srgbClr val="6E56CF"/>
          </a:solidFill>
          <a:ln w="12700">
            <a:solidFill>
              <a:srgbClr val="6E56CF"/>
            </a:solidFill>
            <a:prstDash val="solid"/>
          </a:ln>
        </p:spPr>
      </p:sp>
      <p:sp>
        <p:nvSpPr>
          <p:cNvPr id="15" name="step-hex-3-t"/>
          <p:cNvSpPr txBox="1"/>
          <p:nvPr/>
        </p:nvSpPr>
        <p:spPr>
          <a:xfrm>
            <a:off x="6455664" y="187452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6" name="step-h-3"/>
          <p:cNvSpPr txBox="1"/>
          <p:nvPr/>
        </p:nvSpPr>
        <p:spPr>
          <a:xfrm>
            <a:off x="6455664" y="2834640"/>
            <a:ext cx="2194560" cy="45720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Plan shared trips</a:t>
            </a:r>
            <a:endParaRPr lang="en-US" sz="2100" dirty="0"/>
          </a:p>
        </p:txBody>
      </p:sp>
      <p:sp>
        <p:nvSpPr>
          <p:cNvPr id="17" name="step-b-3"/>
          <p:cNvSpPr txBox="1"/>
          <p:nvPr/>
        </p:nvSpPr>
        <p:spPr>
          <a:xfrm>
            <a:off x="6455664" y="3337560"/>
            <a:ext cx="2148840" cy="210312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Each week it plans who goes where. Neighbouring communities share one trip, found with Uber's H3 hexagons.</a:t>
            </a:r>
            <a:endParaRPr lang="en-US" sz="1500" dirty="0"/>
          </a:p>
        </p:txBody>
      </p:sp>
      <p:sp>
        <p:nvSpPr>
          <p:cNvPr id="18" name="step-4"/>
          <p:cNvSpPr/>
          <p:nvPr/>
        </p:nvSpPr>
        <p:spPr>
          <a:xfrm>
            <a:off x="8997696" y="1600200"/>
            <a:ext cx="2633472" cy="3931920"/>
          </a:xfrm>
          <a:prstGeom prst="roundRect">
            <a:avLst>
              <a:gd name="adj" fmla="val 3472"/>
            </a:avLst>
          </a:prstGeom>
          <a:solidFill>
            <a:srgbClr val="F1F3F5"/>
          </a:solidFill>
          <a:ln w="12700">
            <a:solidFill>
              <a:srgbClr val="F1F3F5"/>
            </a:solidFill>
            <a:prstDash val="solid"/>
          </a:ln>
        </p:spPr>
      </p:sp>
      <p:sp>
        <p:nvSpPr>
          <p:cNvPr id="19" name="step-hex-4"/>
          <p:cNvSpPr/>
          <p:nvPr/>
        </p:nvSpPr>
        <p:spPr>
          <a:xfrm>
            <a:off x="9272016" y="1874520"/>
            <a:ext cx="868680" cy="764438"/>
          </a:xfrm>
          <a:prstGeom prst="hexagon">
            <a:avLst/>
          </a:prstGeom>
          <a:solidFill>
            <a:srgbClr val="D97706"/>
          </a:solidFill>
          <a:ln w="12700">
            <a:solidFill>
              <a:srgbClr val="D97706"/>
            </a:solidFill>
            <a:prstDash val="solid"/>
          </a:ln>
        </p:spPr>
      </p:sp>
      <p:sp>
        <p:nvSpPr>
          <p:cNvPr id="20" name="step-hex-4-t"/>
          <p:cNvSpPr txBox="1"/>
          <p:nvPr/>
        </p:nvSpPr>
        <p:spPr>
          <a:xfrm>
            <a:off x="9272016" y="187452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1" name="step-h-4"/>
          <p:cNvSpPr txBox="1"/>
          <p:nvPr/>
        </p:nvSpPr>
        <p:spPr>
          <a:xfrm>
            <a:off x="9272016" y="2834640"/>
            <a:ext cx="2194560" cy="45720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Explain and sign</a:t>
            </a:r>
            <a:endParaRPr lang="en-US" sz="2100" dirty="0"/>
          </a:p>
        </p:txBody>
      </p:sp>
      <p:sp>
        <p:nvSpPr>
          <p:cNvPr id="22" name="step-b-4"/>
          <p:cNvSpPr txBox="1"/>
          <p:nvPr/>
        </p:nvSpPr>
        <p:spPr>
          <a:xfrm>
            <a:off x="9272016" y="3337560"/>
            <a:ext cx="2148840" cy="210312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A named coordinator signs how much cost may count. Every tenant can see why their repair waited.</a:t>
            </a:r>
            <a:endParaRPr lang="en-US" sz="1500" dirty="0"/>
          </a:p>
        </p:txBody>
      </p:sp>
      <p:sp>
        <p:nvSpPr>
          <p:cNvPr id="23" name="views"/>
          <p:cNvSpPr txBox="1"/>
          <p:nvPr/>
        </p:nvSpPr>
        <p:spPr>
          <a:xfrm>
            <a:off x="548640" y="5669280"/>
            <a:ext cx="11064240" cy="594360"/>
          </a:xfrm>
          <a:prstGeom prst="rect">
            <a:avLst/>
          </a:prstGeom>
          <a:noFill/>
          <a:ln/>
        </p:spPr>
        <p:txBody>
          <a:bodyPr wrap="square" lIns="0" tIns="0" rIns="0" bIns="0" rtlCol="0" anchor="t">
            <a:normAutofit/>
          </a:bodyPr>
          <a:lstStyle/>
          <a:p>
            <a:pPr indent="0" marL="0">
              <a:buNone/>
            </a:pPr>
            <a:r>
              <a:rPr lang="en-US" sz="1400" i="1" dirty="0">
                <a:solidFill>
                  <a:srgbClr val="4A525C"/>
                </a:solidFill>
                <a:latin typeface="Calibri" pitchFamily="34" charset="0"/>
                <a:ea typeface="Calibri" pitchFamily="34" charset="-122"/>
                <a:cs typeface="Calibri" pitchFamily="34" charset="-120"/>
              </a:rPr>
              <a:t>One tool, four views: the coordinator plans, the tradesperson gets a run sheet that works without signal, the tenant gets a straight answer, and the housing officer records for tenants without the app.</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AI that reads tenants' words, and knows when to ask a person</a:t>
            </a:r>
            <a:endParaRPr lang="en-US" sz="2800" dirty="0"/>
          </a:p>
        </p:txBody>
      </p:sp>
      <p:sp>
        <p:nvSpPr>
          <p:cNvPr id="3" name="flow-0"/>
          <p:cNvSpPr/>
          <p:nvPr/>
        </p:nvSpPr>
        <p:spPr>
          <a:xfrm>
            <a:off x="548640" y="1554480"/>
            <a:ext cx="5852160" cy="1188720"/>
          </a:xfrm>
          <a:prstGeom prst="roundRect">
            <a:avLst>
              <a:gd name="adj" fmla="val 7692"/>
            </a:avLst>
          </a:prstGeom>
          <a:solidFill>
            <a:srgbClr val="F1F3F5"/>
          </a:solidFill>
          <a:ln w="12700">
            <a:solidFill>
              <a:srgbClr val="F1F3F5"/>
            </a:solidFill>
            <a:prstDash val="solid"/>
          </a:ln>
        </p:spPr>
      </p:sp>
      <p:sp>
        <p:nvSpPr>
          <p:cNvPr id="4" name="flow-h-0"/>
          <p:cNvSpPr txBox="1"/>
          <p:nvPr/>
        </p:nvSpPr>
        <p:spPr>
          <a:xfrm>
            <a:off x="777240" y="1691640"/>
            <a:ext cx="5394960" cy="365760"/>
          </a:xfrm>
          <a:prstGeom prst="rect">
            <a:avLst/>
          </a:prstGeom>
          <a:noFill/>
          <a:ln/>
        </p:spPr>
        <p:txBody>
          <a:bodyPr wrap="square" lIns="0" tIns="0" rIns="0" bIns="0" rtlCol="0" anchor="t"/>
          <a:lstStyle/>
          <a:p>
            <a:pPr indent="0" marL="0">
              <a:buNone/>
            </a:pPr>
            <a:r>
              <a:rPr lang="en-US" sz="1600" b="1" dirty="0">
                <a:solidFill>
                  <a:srgbClr val="14181D"/>
                </a:solidFill>
                <a:latin typeface="Calibri" pitchFamily="34" charset="0"/>
                <a:ea typeface="Calibri" pitchFamily="34" charset="-122"/>
                <a:cs typeface="Calibri" pitchFamily="34" charset="-120"/>
              </a:rPr>
              <a:t>What the tenant said</a:t>
            </a:r>
            <a:endParaRPr lang="en-US" sz="1600" dirty="0"/>
          </a:p>
        </p:txBody>
      </p:sp>
      <p:sp>
        <p:nvSpPr>
          <p:cNvPr id="5" name="flow-b-0"/>
          <p:cNvSpPr txBox="1"/>
          <p:nvPr/>
        </p:nvSpPr>
        <p:spPr>
          <a:xfrm>
            <a:off x="777240" y="2057400"/>
            <a:ext cx="5394960" cy="640080"/>
          </a:xfrm>
          <a:prstGeom prst="rect">
            <a:avLst/>
          </a:prstGeom>
          <a:noFill/>
          <a:ln/>
        </p:spPr>
        <p:txBody>
          <a:bodyPr wrap="square" lIns="0" tIns="0" rIns="0" bIns="0" rtlCol="0" anchor="t"/>
          <a:lstStyle/>
          <a:p>
            <a:pPr indent="0" marL="0">
              <a:buNone/>
            </a:pPr>
            <a:r>
              <a:rPr lang="en-US" sz="1400" i="1" dirty="0">
                <a:solidFill>
                  <a:srgbClr val="4A525C"/>
                </a:solidFill>
                <a:latin typeface="Calibri" pitchFamily="34" charset="0"/>
                <a:ea typeface="Calibri" pitchFamily="34" charset="-122"/>
                <a:cs typeface="Calibri" pitchFamily="34" charset="-120"/>
              </a:rPr>
              <a:t>“no sparks now but the switch is black and kids touch it”</a:t>
            </a:r>
            <a:endParaRPr lang="en-US" sz="1400" dirty="0"/>
          </a:p>
        </p:txBody>
      </p:sp>
      <p:sp>
        <p:nvSpPr>
          <p:cNvPr id="6" name="flow-1"/>
          <p:cNvSpPr/>
          <p:nvPr/>
        </p:nvSpPr>
        <p:spPr>
          <a:xfrm>
            <a:off x="548640" y="2971800"/>
            <a:ext cx="5852160" cy="1188720"/>
          </a:xfrm>
          <a:prstGeom prst="roundRect">
            <a:avLst>
              <a:gd name="adj" fmla="val 7692"/>
            </a:avLst>
          </a:prstGeom>
          <a:solidFill>
            <a:srgbClr val="DFF2F8"/>
          </a:solidFill>
          <a:ln w="12700">
            <a:solidFill>
              <a:srgbClr val="DFF2F8"/>
            </a:solidFill>
            <a:prstDash val="solid"/>
          </a:ln>
        </p:spPr>
      </p:sp>
      <p:sp>
        <p:nvSpPr>
          <p:cNvPr id="7" name="flow-h-1"/>
          <p:cNvSpPr txBox="1"/>
          <p:nvPr/>
        </p:nvSpPr>
        <p:spPr>
          <a:xfrm>
            <a:off x="777240" y="3108960"/>
            <a:ext cx="5394960" cy="365760"/>
          </a:xfrm>
          <a:prstGeom prst="rect">
            <a:avLst/>
          </a:prstGeom>
          <a:noFill/>
          <a:ln/>
        </p:spPr>
        <p:txBody>
          <a:bodyPr wrap="square" lIns="0" tIns="0" rIns="0" bIns="0" rtlCol="0" anchor="t"/>
          <a:lstStyle/>
          <a:p>
            <a:pPr indent="0" marL="0">
              <a:buNone/>
            </a:pPr>
            <a:r>
              <a:rPr lang="en-US" sz="1600" b="1" dirty="0">
                <a:solidFill>
                  <a:srgbClr val="14181D"/>
                </a:solidFill>
                <a:latin typeface="Calibri" pitchFamily="34" charset="0"/>
                <a:ea typeface="Calibri" pitchFamily="34" charset="-122"/>
                <a:cs typeface="Calibri" pitchFamily="34" charset="-120"/>
              </a:rPr>
              <a:t>Word rules + a learning model</a:t>
            </a:r>
            <a:endParaRPr lang="en-US" sz="1600" dirty="0"/>
          </a:p>
        </p:txBody>
      </p:sp>
      <p:sp>
        <p:nvSpPr>
          <p:cNvPr id="8" name="flow-b-1"/>
          <p:cNvSpPr txBox="1"/>
          <p:nvPr/>
        </p:nvSpPr>
        <p:spPr>
          <a:xfrm>
            <a:off x="777240" y="3474720"/>
            <a:ext cx="5394960" cy="6400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Rules catch known phrases; a logistic regression model catches wording the rules miss</a:t>
            </a:r>
            <a:endParaRPr lang="en-US" sz="1400" dirty="0"/>
          </a:p>
        </p:txBody>
      </p:sp>
      <p:sp>
        <p:nvSpPr>
          <p:cNvPr id="9" name="flow-2"/>
          <p:cNvSpPr/>
          <p:nvPr/>
        </p:nvSpPr>
        <p:spPr>
          <a:xfrm>
            <a:off x="548640" y="4389120"/>
            <a:ext cx="2880360" cy="1188720"/>
          </a:xfrm>
          <a:prstGeom prst="roundRect">
            <a:avLst>
              <a:gd name="adj" fmla="val 7692"/>
            </a:avLst>
          </a:prstGeom>
          <a:solidFill>
            <a:srgbClr val="E3F4E8"/>
          </a:solidFill>
          <a:ln w="12700">
            <a:solidFill>
              <a:srgbClr val="E3F4E8"/>
            </a:solidFill>
            <a:prstDash val="solid"/>
          </a:ln>
        </p:spPr>
      </p:sp>
      <p:sp>
        <p:nvSpPr>
          <p:cNvPr id="10" name="flow-h-2"/>
          <p:cNvSpPr txBox="1"/>
          <p:nvPr/>
        </p:nvSpPr>
        <p:spPr>
          <a:xfrm>
            <a:off x="777240" y="4526280"/>
            <a:ext cx="2423160" cy="365760"/>
          </a:xfrm>
          <a:prstGeom prst="rect">
            <a:avLst/>
          </a:prstGeom>
          <a:noFill/>
          <a:ln/>
        </p:spPr>
        <p:txBody>
          <a:bodyPr wrap="square" lIns="0" tIns="0" rIns="0" bIns="0" rtlCol="0" anchor="t"/>
          <a:lstStyle/>
          <a:p>
            <a:pPr indent="0" marL="0">
              <a:buNone/>
            </a:pPr>
            <a:r>
              <a:rPr lang="en-US" sz="1600" b="1" dirty="0">
                <a:solidFill>
                  <a:srgbClr val="14181D"/>
                </a:solidFill>
                <a:latin typeface="Calibri" pitchFamily="34" charset="0"/>
                <a:ea typeface="Calibri" pitchFamily="34" charset="-122"/>
                <a:cs typeface="Calibri" pitchFamily="34" charset="-120"/>
              </a:rPr>
              <a:t>Sure, and not dangerous?</a:t>
            </a:r>
            <a:endParaRPr lang="en-US" sz="1600" dirty="0"/>
          </a:p>
        </p:txBody>
      </p:sp>
      <p:sp>
        <p:nvSpPr>
          <p:cNvPr id="11" name="flow-b-2"/>
          <p:cNvSpPr txBox="1"/>
          <p:nvPr/>
        </p:nvSpPr>
        <p:spPr>
          <a:xfrm>
            <a:off x="777240" y="4892040"/>
            <a:ext cx="2423160" cy="6400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Ranked straight away</a:t>
            </a:r>
            <a:endParaRPr lang="en-US" sz="1400" dirty="0"/>
          </a:p>
        </p:txBody>
      </p:sp>
      <p:sp>
        <p:nvSpPr>
          <p:cNvPr id="12" name="flow-3"/>
          <p:cNvSpPr/>
          <p:nvPr/>
        </p:nvSpPr>
        <p:spPr>
          <a:xfrm>
            <a:off x="3520440" y="4389120"/>
            <a:ext cx="2880360" cy="1188720"/>
          </a:xfrm>
          <a:prstGeom prst="roundRect">
            <a:avLst>
              <a:gd name="adj" fmla="val 7692"/>
            </a:avLst>
          </a:prstGeom>
          <a:solidFill>
            <a:srgbClr val="FBEEDD"/>
          </a:solidFill>
          <a:ln w="12700">
            <a:solidFill>
              <a:srgbClr val="FBEEDD"/>
            </a:solidFill>
            <a:prstDash val="solid"/>
          </a:ln>
        </p:spPr>
      </p:sp>
      <p:sp>
        <p:nvSpPr>
          <p:cNvPr id="13" name="flow-h-3"/>
          <p:cNvSpPr txBox="1"/>
          <p:nvPr/>
        </p:nvSpPr>
        <p:spPr>
          <a:xfrm>
            <a:off x="3749040" y="4526280"/>
            <a:ext cx="2423160" cy="365760"/>
          </a:xfrm>
          <a:prstGeom prst="rect">
            <a:avLst/>
          </a:prstGeom>
          <a:noFill/>
          <a:ln/>
        </p:spPr>
        <p:txBody>
          <a:bodyPr wrap="square" lIns="0" tIns="0" rIns="0" bIns="0" rtlCol="0" anchor="t"/>
          <a:lstStyle/>
          <a:p>
            <a:pPr indent="0" marL="0">
              <a:buNone/>
            </a:pPr>
            <a:r>
              <a:rPr lang="en-US" sz="1600" b="1" dirty="0">
                <a:solidFill>
                  <a:srgbClr val="14181D"/>
                </a:solidFill>
                <a:latin typeface="Calibri" pitchFamily="34" charset="0"/>
                <a:ea typeface="Calibri" pitchFamily="34" charset="-122"/>
                <a:cs typeface="Calibri" pitchFamily="34" charset="-120"/>
              </a:rPr>
              <a:t>Unsure or risky?</a:t>
            </a:r>
            <a:endParaRPr lang="en-US" sz="1600" dirty="0"/>
          </a:p>
        </p:txBody>
      </p:sp>
      <p:sp>
        <p:nvSpPr>
          <p:cNvPr id="14" name="flow-b-3"/>
          <p:cNvSpPr txBox="1"/>
          <p:nvPr/>
        </p:nvSpPr>
        <p:spPr>
          <a:xfrm>
            <a:off x="3749040" y="4892040"/>
            <a:ext cx="2423160" cy="6400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A person checks today. It never downgrades danger on its own</a:t>
            </a:r>
            <a:endParaRPr lang="en-US" sz="1400" dirty="0"/>
          </a:p>
        </p:txBody>
      </p:sp>
      <p:sp>
        <p:nvSpPr>
          <p:cNvPr id="15" name="arrow-1"/>
          <p:cNvSpPr/>
          <p:nvPr/>
        </p:nvSpPr>
        <p:spPr>
          <a:xfrm>
            <a:off x="3474720" y="2743200"/>
            <a:ext cx="0" cy="228600"/>
          </a:xfrm>
          <a:prstGeom prst="line">
            <a:avLst/>
          </a:prstGeom>
          <a:noFill/>
          <a:ln w="19050">
            <a:solidFill>
              <a:srgbClr val="6B7480"/>
            </a:solidFill>
            <a:prstDash val="solid"/>
            <a:tailEnd type="triangle"/>
          </a:ln>
        </p:spPr>
      </p:sp>
      <p:sp>
        <p:nvSpPr>
          <p:cNvPr id="16" name="arrow-2"/>
          <p:cNvSpPr/>
          <p:nvPr/>
        </p:nvSpPr>
        <p:spPr>
          <a:xfrm>
            <a:off x="3474720" y="4160520"/>
            <a:ext cx="0" cy="228600"/>
          </a:xfrm>
          <a:prstGeom prst="line">
            <a:avLst/>
          </a:prstGeom>
          <a:noFill/>
          <a:ln w="19050">
            <a:solidFill>
              <a:srgbClr val="6B7480"/>
            </a:solidFill>
            <a:prstDash val="solid"/>
            <a:tailEnd type="triangle"/>
          </a:ln>
        </p:spPr>
      </p:sp>
      <p:sp>
        <p:nvSpPr>
          <p:cNvPr id="17" name="s-caught-n"/>
          <p:cNvSpPr txBox="1"/>
          <p:nvPr/>
        </p:nvSpPr>
        <p:spPr>
          <a:xfrm>
            <a:off x="6858000" y="1554480"/>
            <a:ext cx="4754880" cy="868680"/>
          </a:xfrm>
          <a:prstGeom prst="rect">
            <a:avLst/>
          </a:prstGeom>
          <a:noFill/>
          <a:ln/>
        </p:spPr>
        <p:txBody>
          <a:bodyPr wrap="square" lIns="0" tIns="0" rIns="0" bIns="0" rtlCol="0" anchor="t"/>
          <a:lstStyle/>
          <a:p>
            <a:pPr indent="0" marL="0">
              <a:buNone/>
            </a:pPr>
            <a:r>
              <a:rPr lang="en-US" sz="5000" b="1" dirty="0">
                <a:solidFill>
                  <a:srgbClr val="1F9D4C"/>
                </a:solidFill>
                <a:latin typeface="Arial" pitchFamily="34" charset="0"/>
                <a:ea typeface="Arial" pitchFamily="34" charset="-122"/>
                <a:cs typeface="Arial" pitchFamily="34" charset="-120"/>
              </a:rPr>
              <a:t>99.3%</a:t>
            </a:r>
            <a:endParaRPr lang="en-US" sz="5000" dirty="0"/>
          </a:p>
        </p:txBody>
      </p:sp>
      <p:sp>
        <p:nvSpPr>
          <p:cNvPr id="18" name="s-caught-l"/>
          <p:cNvSpPr txBox="1"/>
          <p:nvPr/>
        </p:nvSpPr>
        <p:spPr>
          <a:xfrm>
            <a:off x="6858000" y="2468880"/>
            <a:ext cx="475488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of dangerous reports caught, on wording the AI had never seen, because doubtful ones go to a person</a:t>
            </a:r>
            <a:endParaRPr lang="en-US" sz="1500" dirty="0"/>
          </a:p>
        </p:txBody>
      </p:sp>
      <p:sp>
        <p:nvSpPr>
          <p:cNvPr id="19" name="s-auc-n"/>
          <p:cNvSpPr txBox="1"/>
          <p:nvPr/>
        </p:nvSpPr>
        <p:spPr>
          <a:xfrm>
            <a:off x="6858000" y="3337560"/>
            <a:ext cx="2286000" cy="868680"/>
          </a:xfrm>
          <a:prstGeom prst="rect">
            <a:avLst/>
          </a:prstGeom>
          <a:noFill/>
          <a:ln/>
        </p:spPr>
        <p:txBody>
          <a:bodyPr wrap="square" lIns="0" tIns="0" rIns="0" bIns="0" rtlCol="0" anchor="t"/>
          <a:lstStyle/>
          <a:p>
            <a:pPr indent="0" marL="0">
              <a:buNone/>
            </a:pPr>
            <a:r>
              <a:rPr lang="en-US" sz="4000" b="1" dirty="0">
                <a:solidFill>
                  <a:srgbClr val="0E8FB8"/>
                </a:solidFill>
                <a:latin typeface="Arial" pitchFamily="34" charset="0"/>
                <a:ea typeface="Arial" pitchFamily="34" charset="-122"/>
                <a:cs typeface="Arial" pitchFamily="34" charset="-120"/>
              </a:rPr>
              <a:t>0.84</a:t>
            </a:r>
            <a:endParaRPr lang="en-US" sz="4000" dirty="0"/>
          </a:p>
        </p:txBody>
      </p:sp>
      <p:sp>
        <p:nvSpPr>
          <p:cNvPr id="20" name="s-auc-l"/>
          <p:cNvSpPr txBox="1"/>
          <p:nvPr/>
        </p:nvSpPr>
        <p:spPr>
          <a:xfrm>
            <a:off x="6858000" y="4251960"/>
            <a:ext cx="228600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ROC-AUC for the model alone on new wording (1.00 on familiar)</a:t>
            </a:r>
            <a:endParaRPr lang="en-US" sz="1500" dirty="0"/>
          </a:p>
        </p:txBody>
      </p:sp>
      <p:sp>
        <p:nvSpPr>
          <p:cNvPr id="21" name="s-person-n"/>
          <p:cNvSpPr txBox="1"/>
          <p:nvPr/>
        </p:nvSpPr>
        <p:spPr>
          <a:xfrm>
            <a:off x="9326880" y="3337560"/>
            <a:ext cx="2286000" cy="868680"/>
          </a:xfrm>
          <a:prstGeom prst="rect">
            <a:avLst/>
          </a:prstGeom>
          <a:noFill/>
          <a:ln/>
        </p:spPr>
        <p:txBody>
          <a:bodyPr wrap="square" lIns="0" tIns="0" rIns="0" bIns="0" rtlCol="0" anchor="t"/>
          <a:lstStyle/>
          <a:p>
            <a:pPr indent="0" marL="0">
              <a:buNone/>
            </a:pPr>
            <a:r>
              <a:rPr lang="en-US" sz="4000" b="1" dirty="0">
                <a:solidFill>
                  <a:srgbClr val="D97706"/>
                </a:solidFill>
                <a:latin typeface="Arial" pitchFamily="34" charset="0"/>
                <a:ea typeface="Arial" pitchFamily="34" charset="-122"/>
                <a:cs typeface="Arial" pitchFamily="34" charset="-120"/>
              </a:rPr>
              <a:t>42%</a:t>
            </a:r>
            <a:endParaRPr lang="en-US" sz="4000" dirty="0"/>
          </a:p>
        </p:txBody>
      </p:sp>
      <p:sp>
        <p:nvSpPr>
          <p:cNvPr id="22" name="s-person-l"/>
          <p:cNvSpPr txBox="1"/>
          <p:nvPr/>
        </p:nvSpPr>
        <p:spPr>
          <a:xfrm>
            <a:off x="9326880" y="4251960"/>
            <a:ext cx="228600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of unfamiliar reports sent to a person</a:t>
            </a:r>
            <a:endParaRPr lang="en-US" sz="1500" dirty="0"/>
          </a:p>
        </p:txBody>
      </p:sp>
      <p:sp>
        <p:nvSpPr>
          <p:cNvPr id="23" name="honest"/>
          <p:cNvSpPr txBox="1"/>
          <p:nvPr/>
        </p:nvSpPr>
        <p:spPr>
          <a:xfrm>
            <a:off x="6858000" y="5120640"/>
            <a:ext cx="4754880" cy="1005840"/>
          </a:xfrm>
          <a:prstGeom prst="rect">
            <a:avLst/>
          </a:prstGeom>
          <a:noFill/>
          <a:ln/>
        </p:spPr>
        <p:txBody>
          <a:bodyPr wrap="square" lIns="0" tIns="0" rIns="0" bIns="0" rtlCol="0" anchor="t"/>
          <a:lstStyle/>
          <a:p>
            <a:pPr indent="0" marL="0">
              <a:buNone/>
            </a:pPr>
            <a:r>
              <a:rPr lang="en-US" sz="1400" i="1" dirty="0">
                <a:solidFill>
                  <a:srgbClr val="4A525C"/>
                </a:solidFill>
                <a:latin typeface="Calibri" pitchFamily="34" charset="0"/>
                <a:ea typeface="Calibri" pitchFamily="34" charset="-122"/>
                <a:cs typeface="Calibri" pitchFamily="34" charset="-120"/>
              </a:rPr>
              <a:t>We never show tenants a confidence percentage: when the model said it was 90% sure, it was right about half the time. Being honest about that is part of the design.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Fair to people who say less, or say it differently</a:t>
            </a:r>
            <a:endParaRPr lang="en-US" sz="2800" dirty="0"/>
          </a:p>
        </p:txBody>
      </p:sp>
      <p:pic>
        <p:nvPicPr>
          <p:cNvPr id="3" name="shot-intake" descr="shot-intake">    </p:cNvPr>
          <p:cNvPicPr>
            <a:picLocks noChangeAspect="1"/>
          </p:cNvPicPr>
          <p:nvPr/>
        </p:nvPicPr>
        <p:blipFill>
          <a:blip r:embed="rId1"/>
          <a:stretch>
            <a:fillRect/>
          </a:stretch>
        </p:blipFill>
        <p:spPr>
          <a:xfrm>
            <a:off x="548640" y="1371600"/>
            <a:ext cx="2423160" cy="4617720"/>
          </a:xfrm>
          <a:prstGeom prst="rect">
            <a:avLst/>
          </a:prstGeom>
        </p:spPr>
      </p:pic>
      <p:sp>
        <p:nvSpPr>
          <p:cNvPr id="4" name="tell-0"/>
          <p:cNvSpPr/>
          <p:nvPr/>
        </p:nvSpPr>
        <p:spPr>
          <a:xfrm>
            <a:off x="3246120" y="1371600"/>
            <a:ext cx="4343400" cy="1280160"/>
          </a:xfrm>
          <a:prstGeom prst="roundRect">
            <a:avLst>
              <a:gd name="adj" fmla="val 7143"/>
            </a:avLst>
          </a:prstGeom>
          <a:solidFill>
            <a:srgbClr val="F1F3F5"/>
          </a:solidFill>
          <a:ln w="12700">
            <a:solidFill>
              <a:srgbClr val="F1F3F5"/>
            </a:solidFill>
            <a:prstDash val="solid"/>
          </a:ln>
        </p:spPr>
      </p:sp>
      <p:sp>
        <p:nvSpPr>
          <p:cNvPr id="5" name="tell-h-0"/>
          <p:cNvSpPr txBox="1"/>
          <p:nvPr/>
        </p:nvSpPr>
        <p:spPr>
          <a:xfrm>
            <a:off x="3474720" y="1481328"/>
            <a:ext cx="3931920" cy="320040"/>
          </a:xfrm>
          <a:prstGeom prst="rect">
            <a:avLst/>
          </a:prstGeom>
          <a:noFill/>
          <a:ln/>
        </p:spPr>
        <p:txBody>
          <a:bodyPr wrap="square" lIns="0" tIns="0" rIns="0" bIns="0" rtlCol="0" anchor="t">
            <a:normAutofit/>
          </a:bodyPr>
          <a:lstStyle/>
          <a:p>
            <a:pPr indent="0" marL="0">
              <a:buNone/>
            </a:pPr>
            <a:r>
              <a:rPr lang="en-US" sz="1350" b="1" dirty="0">
                <a:solidFill>
                  <a:srgbClr val="14181D"/>
                </a:solidFill>
                <a:latin typeface="Calibri" pitchFamily="34" charset="0"/>
                <a:ea typeface="Calibri" pitchFamily="34" charset="-122"/>
                <a:cs typeface="Calibri" pitchFamily="34" charset="-120"/>
              </a:rPr>
              <a:t>Told in full</a:t>
            </a:r>
            <a:endParaRPr lang="en-US" sz="1350" dirty="0"/>
          </a:p>
        </p:txBody>
      </p:sp>
      <p:sp>
        <p:nvSpPr>
          <p:cNvPr id="6" name="tell-b-0"/>
          <p:cNvSpPr txBox="1"/>
          <p:nvPr/>
        </p:nvSpPr>
        <p:spPr>
          <a:xfrm>
            <a:off x="3474720" y="1828800"/>
            <a:ext cx="3931920" cy="777240"/>
          </a:xfrm>
          <a:prstGeom prst="rect">
            <a:avLst/>
          </a:prstGeom>
          <a:noFill/>
          <a:ln/>
        </p:spPr>
        <p:txBody>
          <a:bodyPr wrap="square" lIns="0" tIns="0" rIns="0" bIns="0" rtlCol="0" anchor="t"/>
          <a:lstStyle/>
          <a:p>
            <a:pPr indent="0" marL="0">
              <a:buNone/>
            </a:pPr>
            <a:r>
              <a:rPr lang="en-US" sz="1300" i="1" dirty="0">
                <a:solidFill>
                  <a:srgbClr val="4A525C"/>
                </a:solidFill>
                <a:latin typeface="Calibri" pitchFamily="34" charset="0"/>
                <a:ea typeface="Calibri" pitchFamily="34" charset="-122"/>
                <a:cs typeface="Calibri" pitchFamily="34" charset="-120"/>
              </a:rPr>
              <a:t>“toilet blocked, my nana lives here, 9 of us, third time I rang”</a:t>
            </a:r>
            <a:endParaRPr lang="en-US" sz="1300" dirty="0"/>
          </a:p>
        </p:txBody>
      </p:sp>
      <p:sp>
        <p:nvSpPr>
          <p:cNvPr id="7" name="tell-1"/>
          <p:cNvSpPr/>
          <p:nvPr/>
        </p:nvSpPr>
        <p:spPr>
          <a:xfrm>
            <a:off x="3246120" y="2788920"/>
            <a:ext cx="4343400" cy="1280160"/>
          </a:xfrm>
          <a:prstGeom prst="roundRect">
            <a:avLst>
              <a:gd name="adj" fmla="val 7143"/>
            </a:avLst>
          </a:prstGeom>
          <a:solidFill>
            <a:srgbClr val="FBEEDD"/>
          </a:solidFill>
          <a:ln w="12700">
            <a:solidFill>
              <a:srgbClr val="FBEEDD"/>
            </a:solidFill>
            <a:prstDash val="solid"/>
          </a:ln>
        </p:spPr>
      </p:sp>
      <p:sp>
        <p:nvSpPr>
          <p:cNvPr id="8" name="tell-h-1"/>
          <p:cNvSpPr txBox="1"/>
          <p:nvPr/>
        </p:nvSpPr>
        <p:spPr>
          <a:xfrm>
            <a:off x="3474720" y="2898648"/>
            <a:ext cx="3931920" cy="320040"/>
          </a:xfrm>
          <a:prstGeom prst="rect">
            <a:avLst/>
          </a:prstGeom>
          <a:noFill/>
          <a:ln/>
        </p:spPr>
        <p:txBody>
          <a:bodyPr wrap="square" lIns="0" tIns="0" rIns="0" bIns="0" rtlCol="0" anchor="t">
            <a:normAutofit/>
          </a:bodyPr>
          <a:lstStyle/>
          <a:p>
            <a:pPr indent="0" marL="0">
              <a:buNone/>
            </a:pPr>
            <a:r>
              <a:rPr lang="en-US" sz="1350" b="1" dirty="0">
                <a:solidFill>
                  <a:srgbClr val="14181D"/>
                </a:solidFill>
                <a:latin typeface="Calibri" pitchFamily="34" charset="0"/>
                <a:ea typeface="Calibri" pitchFamily="34" charset="-122"/>
                <a:cs typeface="Calibri" pitchFamily="34" charset="-120"/>
              </a:rPr>
              <a:t>Told in a few words to the housing officer</a:t>
            </a:r>
            <a:endParaRPr lang="en-US" sz="1350" dirty="0"/>
          </a:p>
        </p:txBody>
      </p:sp>
      <p:sp>
        <p:nvSpPr>
          <p:cNvPr id="9" name="tell-b-1"/>
          <p:cNvSpPr txBox="1"/>
          <p:nvPr/>
        </p:nvSpPr>
        <p:spPr>
          <a:xfrm>
            <a:off x="3474720" y="3246120"/>
            <a:ext cx="3931920" cy="777240"/>
          </a:xfrm>
          <a:prstGeom prst="rect">
            <a:avLst/>
          </a:prstGeom>
          <a:noFill/>
          <a:ln/>
        </p:spPr>
        <p:txBody>
          <a:bodyPr wrap="square" lIns="0" tIns="0" rIns="0" bIns="0" rtlCol="0" anchor="t"/>
          <a:lstStyle/>
          <a:p>
            <a:pPr indent="0" marL="0">
              <a:buNone/>
            </a:pPr>
            <a:r>
              <a:rPr lang="en-US" sz="1300" dirty="0">
                <a:solidFill>
                  <a:srgbClr val="4A525C"/>
                </a:solidFill>
                <a:latin typeface="Calibri" pitchFamily="34" charset="0"/>
                <a:ea typeface="Calibri" pitchFamily="34" charset="-122"/>
                <a:cs typeface="Calibri" pitchFamily="34" charset="-120"/>
              </a:rPr>
              <a:t>“toilet blocked pls come”. Same house, same need. From the words alone, this example loses 45 points</a:t>
            </a:r>
            <a:endParaRPr lang="en-US" sz="1300" dirty="0"/>
          </a:p>
        </p:txBody>
      </p:sp>
      <p:sp>
        <p:nvSpPr>
          <p:cNvPr id="10" name="ask-card"/>
          <p:cNvSpPr/>
          <p:nvPr/>
        </p:nvSpPr>
        <p:spPr>
          <a:xfrm>
            <a:off x="3246120" y="4206240"/>
            <a:ext cx="4343400" cy="1783080"/>
          </a:xfrm>
          <a:prstGeom prst="roundRect">
            <a:avLst>
              <a:gd name="adj" fmla="val 5128"/>
            </a:avLst>
          </a:prstGeom>
          <a:solidFill>
            <a:srgbClr val="E3F4E8"/>
          </a:solidFill>
          <a:ln w="12700">
            <a:solidFill>
              <a:srgbClr val="E3F4E8"/>
            </a:solidFill>
            <a:prstDash val="solid"/>
          </a:ln>
        </p:spPr>
      </p:sp>
      <p:sp>
        <p:nvSpPr>
          <p:cNvPr id="11" name="ask-h"/>
          <p:cNvSpPr txBox="1"/>
          <p:nvPr/>
        </p:nvSpPr>
        <p:spPr>
          <a:xfrm>
            <a:off x="3474720" y="4315968"/>
            <a:ext cx="3931920" cy="320040"/>
          </a:xfrm>
          <a:prstGeom prst="rect">
            <a:avLst/>
          </a:prstGeom>
          <a:noFill/>
          <a:ln/>
        </p:spPr>
        <p:txBody>
          <a:bodyPr wrap="square" lIns="0" tIns="0" rIns="0" bIns="0" rtlCol="0" anchor="t"/>
          <a:lstStyle/>
          <a:p>
            <a:pPr indent="0" marL="0">
              <a:buNone/>
            </a:pPr>
            <a:r>
              <a:rPr lang="en-US" sz="1400" b="1" dirty="0">
                <a:solidFill>
                  <a:srgbClr val="14181D"/>
                </a:solidFill>
                <a:latin typeface="Calibri" pitchFamily="34" charset="0"/>
                <a:ea typeface="Calibri" pitchFamily="34" charset="-122"/>
                <a:cs typeface="Calibri" pitchFamily="34" charset="-120"/>
              </a:rPr>
              <a:t>So everyone is asked the same six questions</a:t>
            </a:r>
            <a:endParaRPr lang="en-US" sz="1400" dirty="0"/>
          </a:p>
        </p:txBody>
      </p:sp>
      <p:sp>
        <p:nvSpPr>
          <p:cNvPr id="12" name="ask-b"/>
          <p:cNvSpPr txBox="1"/>
          <p:nvPr/>
        </p:nvSpPr>
        <p:spPr>
          <a:xfrm>
            <a:off x="3474720" y="4663440"/>
            <a:ext cx="3931920" cy="1280160"/>
          </a:xfrm>
          <a:prstGeom prst="rect">
            <a:avLst/>
          </a:prstGeom>
          <a:noFill/>
          <a:ln/>
        </p:spPr>
        <p:txBody>
          <a:bodyPr wrap="square" lIns="0" tIns="0" rIns="0" bIns="0" rtlCol="0" anchor="t"/>
          <a:lstStyle/>
          <a:p>
            <a:pPr indent="0" marL="0">
              <a:buNone/>
            </a:pPr>
            <a:r>
              <a:rPr lang="en-US" sz="1250" dirty="0">
                <a:solidFill>
                  <a:srgbClr val="4A525C"/>
                </a:solidFill>
                <a:latin typeface="Calibri" pitchFamily="34" charset="0"/>
                <a:ea typeface="Calibri" pitchFamily="34" charset="-122"/>
                <a:cs typeface="Calibri" pitchFamily="34" charset="-120"/>
              </a:rPr>
              <a:t>Anyone in danger now? Needs power, cooling or medicine; a baby under 1 or a frail elder (Tier 1)? Young children, pregnant, sick or hard to get around (Tier 2)? How many live there? Told anyone before? Records fill in the rest. "Not asked" never costs points.</a:t>
            </a:r>
            <a:endParaRPr lang="en-US" sz="1250" dirty="0"/>
          </a:p>
        </p:txBody>
      </p:sp>
      <p:sp>
        <p:nvSpPr>
          <p:cNvPr id="13" name="fair-n-0"/>
          <p:cNvSpPr txBox="1"/>
          <p:nvPr/>
        </p:nvSpPr>
        <p:spPr>
          <a:xfrm>
            <a:off x="7955280" y="1371600"/>
            <a:ext cx="3657600" cy="594360"/>
          </a:xfrm>
          <a:prstGeom prst="rect">
            <a:avLst/>
          </a:prstGeom>
          <a:noFill/>
          <a:ln/>
        </p:spPr>
        <p:txBody>
          <a:bodyPr wrap="square" lIns="0" tIns="0" rIns="0" bIns="0" rtlCol="0" anchor="t"/>
          <a:lstStyle/>
          <a:p>
            <a:pPr indent="0" marL="0">
              <a:buNone/>
            </a:pPr>
            <a:r>
              <a:rPr lang="en-US" sz="3600" b="1" dirty="0">
                <a:solidFill>
                  <a:srgbClr val="1F9D4C"/>
                </a:solidFill>
                <a:latin typeface="Arial" pitchFamily="34" charset="0"/>
                <a:ea typeface="Arial" pitchFamily="34" charset="-122"/>
                <a:cs typeface="Arial" pitchFamily="34" charset="-120"/>
              </a:rPr>
              <a:t>50 → 5</a:t>
            </a:r>
            <a:endParaRPr lang="en-US" sz="3600" dirty="0"/>
          </a:p>
        </p:txBody>
      </p:sp>
      <p:sp>
        <p:nvSpPr>
          <p:cNvPr id="14" name="fair-l-0"/>
          <p:cNvSpPr txBox="1"/>
          <p:nvPr/>
        </p:nvSpPr>
        <p:spPr>
          <a:xfrm>
            <a:off x="7955280" y="1993392"/>
            <a:ext cx="365760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points a household lost for saying less (average)</a:t>
            </a:r>
            <a:endParaRPr lang="en-US" sz="1400" dirty="0"/>
          </a:p>
        </p:txBody>
      </p:sp>
      <p:sp>
        <p:nvSpPr>
          <p:cNvPr id="15" name="fair-n-1"/>
          <p:cNvSpPr txBox="1"/>
          <p:nvPr/>
        </p:nvSpPr>
        <p:spPr>
          <a:xfrm>
            <a:off x="7955280" y="2852928"/>
            <a:ext cx="3657600" cy="594360"/>
          </a:xfrm>
          <a:prstGeom prst="rect">
            <a:avLst/>
          </a:prstGeom>
          <a:noFill/>
          <a:ln/>
        </p:spPr>
        <p:txBody>
          <a:bodyPr wrap="square" lIns="0" tIns="0" rIns="0" bIns="0" rtlCol="0" anchor="t"/>
          <a:lstStyle/>
          <a:p>
            <a:pPr indent="0" marL="0">
              <a:buNone/>
            </a:pPr>
            <a:r>
              <a:rPr lang="en-US" sz="3600" b="1" dirty="0">
                <a:solidFill>
                  <a:srgbClr val="0E8FB8"/>
                </a:solidFill>
                <a:latin typeface="Arial" pitchFamily="34" charset="0"/>
                <a:ea typeface="Arial" pitchFamily="34" charset="-122"/>
                <a:cs typeface="Arial" pitchFamily="34" charset="-120"/>
              </a:rPr>
              <a:t>95% → 6%</a:t>
            </a:r>
            <a:endParaRPr lang="en-US" sz="3600" dirty="0"/>
          </a:p>
        </p:txBody>
      </p:sp>
      <p:sp>
        <p:nvSpPr>
          <p:cNvPr id="16" name="fair-l-1"/>
          <p:cNvSpPr txBox="1"/>
          <p:nvPr/>
        </p:nvSpPr>
        <p:spPr>
          <a:xfrm>
            <a:off x="7955280" y="3474720"/>
            <a:ext cx="365760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of short reports ranked below the same household told in full</a:t>
            </a:r>
            <a:endParaRPr lang="en-US" sz="1400" dirty="0"/>
          </a:p>
        </p:txBody>
      </p:sp>
      <p:sp>
        <p:nvSpPr>
          <p:cNvPr id="17" name="fair-n-2"/>
          <p:cNvSpPr txBox="1"/>
          <p:nvPr/>
        </p:nvSpPr>
        <p:spPr>
          <a:xfrm>
            <a:off x="7955280" y="4334256"/>
            <a:ext cx="3657600" cy="594360"/>
          </a:xfrm>
          <a:prstGeom prst="rect">
            <a:avLst/>
          </a:prstGeom>
          <a:noFill/>
          <a:ln/>
        </p:spPr>
        <p:txBody>
          <a:bodyPr wrap="square" lIns="0" tIns="0" rIns="0" bIns="0" rtlCol="0" anchor="t"/>
          <a:lstStyle/>
          <a:p>
            <a:pPr indent="0" marL="0">
              <a:buNone/>
            </a:pPr>
            <a:r>
              <a:rPr lang="en-US" sz="3600" b="1" dirty="0">
                <a:solidFill>
                  <a:srgbClr val="6E56CF"/>
                </a:solidFill>
                <a:latin typeface="Arial" pitchFamily="34" charset="0"/>
                <a:ea typeface="Arial" pitchFamily="34" charset="-122"/>
                <a:cs typeface="Arial" pitchFamily="34" charset="-120"/>
              </a:rPr>
              <a:t>13% → 89%</a:t>
            </a:r>
            <a:endParaRPr lang="en-US" sz="3600" dirty="0"/>
          </a:p>
        </p:txBody>
      </p:sp>
      <p:sp>
        <p:nvSpPr>
          <p:cNvPr id="18" name="fair-l-2"/>
          <p:cNvSpPr txBox="1"/>
          <p:nvPr/>
        </p:nvSpPr>
        <p:spPr>
          <a:xfrm>
            <a:off x="7955280" y="4956048"/>
            <a:ext cx="365760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of Tier 1 or 2 households recognised from a few words</a:t>
            </a:r>
            <a:endParaRPr lang="en-US" sz="1400" dirty="0"/>
          </a:p>
        </p:txBody>
      </p:sp>
      <p:sp>
        <p:nvSpPr>
          <p:cNvPr id="19" name="fair-foot"/>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250" i="1" dirty="0">
                <a:solidFill>
                  <a:srgbClr val="4A525C"/>
                </a:solidFill>
                <a:latin typeface="Calibri" pitchFamily="34" charset="0"/>
                <a:ea typeface="Calibri" pitchFamily="34" charset="-122"/>
                <a:cs typeface="Calibri" pitchFamily="34" charset="-120"/>
              </a:rPr>
              <a:t>Clock starts at first contact · free interpreters (AIS, TIS National, NRS) · how, when and in what language you report is never scored</a:t>
            </a:r>
            <a:endParaRPr lang="en-US" sz="12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Why we built it on Uber's H3 hexagon grid</a:t>
            </a:r>
            <a:endParaRPr lang="en-US" sz="2800" dirty="0"/>
          </a:p>
        </p:txBody>
      </p:sp>
      <p:sp>
        <p:nvSpPr>
          <p:cNvPr id="3" name="sq-label"/>
          <p:cNvSpPr txBox="1"/>
          <p:nvPr/>
        </p:nvSpPr>
        <p:spPr>
          <a:xfrm>
            <a:off x="548640" y="1417320"/>
            <a:ext cx="2377440" cy="320040"/>
          </a:xfrm>
          <a:prstGeom prst="rect">
            <a:avLst/>
          </a:prstGeom>
          <a:noFill/>
          <a:ln/>
        </p:spPr>
        <p:txBody>
          <a:bodyPr wrap="square" lIns="0" tIns="0" rIns="0" bIns="0" rtlCol="0" anchor="t"/>
          <a:lstStyle/>
          <a:p>
            <a:pPr indent="0" marL="0">
              <a:buNone/>
            </a:pPr>
            <a:r>
              <a:rPr lang="en-US" sz="1500" b="1" dirty="0">
                <a:solidFill>
                  <a:srgbClr val="14181D"/>
                </a:solidFill>
                <a:latin typeface="Calibri" pitchFamily="34" charset="0"/>
                <a:ea typeface="Calibri" pitchFamily="34" charset="-122"/>
                <a:cs typeface="Calibri" pitchFamily="34" charset="-120"/>
              </a:rPr>
              <a:t>Squares</a:t>
            </a:r>
            <a:endParaRPr lang="en-US" sz="1500" dirty="0"/>
          </a:p>
        </p:txBody>
      </p:sp>
      <p:sp>
        <p:nvSpPr>
          <p:cNvPr id="4" name="sq-0-0"/>
          <p:cNvSpPr/>
          <p:nvPr/>
        </p:nvSpPr>
        <p:spPr>
          <a:xfrm>
            <a:off x="548640" y="1783080"/>
            <a:ext cx="658368" cy="658368"/>
          </a:xfrm>
          <a:prstGeom prst="rect">
            <a:avLst/>
          </a:prstGeom>
          <a:solidFill>
            <a:srgbClr val="FBEEDD"/>
          </a:solidFill>
          <a:ln w="12700">
            <a:solidFill>
              <a:srgbClr val="FFFFFF"/>
            </a:solidFill>
            <a:prstDash val="solid"/>
          </a:ln>
        </p:spPr>
      </p:sp>
      <p:sp>
        <p:nvSpPr>
          <p:cNvPr id="5" name="sq-0-1"/>
          <p:cNvSpPr/>
          <p:nvPr/>
        </p:nvSpPr>
        <p:spPr>
          <a:xfrm>
            <a:off x="1261872" y="1783080"/>
            <a:ext cx="658368" cy="658368"/>
          </a:xfrm>
          <a:prstGeom prst="rect">
            <a:avLst/>
          </a:prstGeom>
          <a:solidFill>
            <a:srgbClr val="DFF2F8"/>
          </a:solidFill>
          <a:ln w="12700">
            <a:solidFill>
              <a:srgbClr val="FFFFFF"/>
            </a:solidFill>
            <a:prstDash val="solid"/>
          </a:ln>
        </p:spPr>
      </p:sp>
      <p:sp>
        <p:nvSpPr>
          <p:cNvPr id="6" name="sq-0-2"/>
          <p:cNvSpPr/>
          <p:nvPr/>
        </p:nvSpPr>
        <p:spPr>
          <a:xfrm>
            <a:off x="1975104" y="1783080"/>
            <a:ext cx="658368" cy="658368"/>
          </a:xfrm>
          <a:prstGeom prst="rect">
            <a:avLst/>
          </a:prstGeom>
          <a:solidFill>
            <a:srgbClr val="FBEEDD"/>
          </a:solidFill>
          <a:ln w="12700">
            <a:solidFill>
              <a:srgbClr val="FFFFFF"/>
            </a:solidFill>
            <a:prstDash val="solid"/>
          </a:ln>
        </p:spPr>
      </p:sp>
      <p:sp>
        <p:nvSpPr>
          <p:cNvPr id="7" name="sq-1-0"/>
          <p:cNvSpPr/>
          <p:nvPr/>
        </p:nvSpPr>
        <p:spPr>
          <a:xfrm>
            <a:off x="548640" y="2496312"/>
            <a:ext cx="658368" cy="658368"/>
          </a:xfrm>
          <a:prstGeom prst="rect">
            <a:avLst/>
          </a:prstGeom>
          <a:solidFill>
            <a:srgbClr val="DFF2F8"/>
          </a:solidFill>
          <a:ln w="12700">
            <a:solidFill>
              <a:srgbClr val="FFFFFF"/>
            </a:solidFill>
            <a:prstDash val="solid"/>
          </a:ln>
        </p:spPr>
      </p:sp>
      <p:sp>
        <p:nvSpPr>
          <p:cNvPr id="8" name="sq-1-1"/>
          <p:cNvSpPr/>
          <p:nvPr/>
        </p:nvSpPr>
        <p:spPr>
          <a:xfrm>
            <a:off x="1261872" y="2496312"/>
            <a:ext cx="658368" cy="658368"/>
          </a:xfrm>
          <a:prstGeom prst="rect">
            <a:avLst/>
          </a:prstGeom>
          <a:solidFill>
            <a:srgbClr val="14181D"/>
          </a:solidFill>
          <a:ln w="12700">
            <a:solidFill>
              <a:srgbClr val="FFFFFF"/>
            </a:solidFill>
            <a:prstDash val="solid"/>
          </a:ln>
        </p:spPr>
      </p:sp>
      <p:sp>
        <p:nvSpPr>
          <p:cNvPr id="9" name="sq-1-2"/>
          <p:cNvSpPr/>
          <p:nvPr/>
        </p:nvSpPr>
        <p:spPr>
          <a:xfrm>
            <a:off x="1975104" y="2496312"/>
            <a:ext cx="658368" cy="658368"/>
          </a:xfrm>
          <a:prstGeom prst="rect">
            <a:avLst/>
          </a:prstGeom>
          <a:solidFill>
            <a:srgbClr val="DFF2F8"/>
          </a:solidFill>
          <a:ln w="12700">
            <a:solidFill>
              <a:srgbClr val="FFFFFF"/>
            </a:solidFill>
            <a:prstDash val="solid"/>
          </a:ln>
        </p:spPr>
      </p:sp>
      <p:sp>
        <p:nvSpPr>
          <p:cNvPr id="10" name="sq-2-0"/>
          <p:cNvSpPr/>
          <p:nvPr/>
        </p:nvSpPr>
        <p:spPr>
          <a:xfrm>
            <a:off x="548640" y="3209544"/>
            <a:ext cx="658368" cy="658368"/>
          </a:xfrm>
          <a:prstGeom prst="rect">
            <a:avLst/>
          </a:prstGeom>
          <a:solidFill>
            <a:srgbClr val="FBEEDD"/>
          </a:solidFill>
          <a:ln w="12700">
            <a:solidFill>
              <a:srgbClr val="FFFFFF"/>
            </a:solidFill>
            <a:prstDash val="solid"/>
          </a:ln>
        </p:spPr>
      </p:sp>
      <p:sp>
        <p:nvSpPr>
          <p:cNvPr id="11" name="sq-2-1"/>
          <p:cNvSpPr/>
          <p:nvPr/>
        </p:nvSpPr>
        <p:spPr>
          <a:xfrm>
            <a:off x="1261872" y="3209544"/>
            <a:ext cx="658368" cy="658368"/>
          </a:xfrm>
          <a:prstGeom prst="rect">
            <a:avLst/>
          </a:prstGeom>
          <a:solidFill>
            <a:srgbClr val="DFF2F8"/>
          </a:solidFill>
          <a:ln w="12700">
            <a:solidFill>
              <a:srgbClr val="FFFFFF"/>
            </a:solidFill>
            <a:prstDash val="solid"/>
          </a:ln>
        </p:spPr>
      </p:sp>
      <p:sp>
        <p:nvSpPr>
          <p:cNvPr id="12" name="sq-2-2"/>
          <p:cNvSpPr/>
          <p:nvPr/>
        </p:nvSpPr>
        <p:spPr>
          <a:xfrm>
            <a:off x="1975104" y="3209544"/>
            <a:ext cx="658368" cy="658368"/>
          </a:xfrm>
          <a:prstGeom prst="rect">
            <a:avLst/>
          </a:prstGeom>
          <a:solidFill>
            <a:srgbClr val="FBEEDD"/>
          </a:solidFill>
          <a:ln w="12700">
            <a:solidFill>
              <a:srgbClr val="FFFFFF"/>
            </a:solidFill>
            <a:prstDash val="solid"/>
          </a:ln>
        </p:spPr>
      </p:sp>
      <p:sp>
        <p:nvSpPr>
          <p:cNvPr id="13" name="sq-note"/>
          <p:cNvSpPr txBox="1"/>
          <p:nvPr/>
        </p:nvSpPr>
        <p:spPr>
          <a:xfrm>
            <a:off x="548640" y="3977640"/>
            <a:ext cx="2377440" cy="548640"/>
          </a:xfrm>
          <a:prstGeom prst="rect">
            <a:avLst/>
          </a:prstGeom>
          <a:noFill/>
          <a:ln/>
        </p:spPr>
        <p:txBody>
          <a:bodyPr wrap="square" lIns="0" tIns="0" rIns="0" bIns="0" rtlCol="0" anchor="t"/>
          <a:lstStyle/>
          <a:p>
            <a:pPr indent="0" marL="0">
              <a:buNone/>
            </a:pPr>
            <a:r>
              <a:rPr lang="en-US" sz="1300" dirty="0">
                <a:solidFill>
                  <a:srgbClr val="4A525C"/>
                </a:solidFill>
                <a:latin typeface="Calibri" pitchFamily="34" charset="0"/>
                <a:ea typeface="Calibri" pitchFamily="34" charset="-122"/>
                <a:cs typeface="Calibri" pitchFamily="34" charset="-120"/>
              </a:rPr>
              <a:t>8 neighbours at 2 different distances</a:t>
            </a:r>
            <a:endParaRPr lang="en-US" sz="1300" dirty="0"/>
          </a:p>
        </p:txBody>
      </p:sp>
      <p:sp>
        <p:nvSpPr>
          <p:cNvPr id="14" name="hx-label"/>
          <p:cNvSpPr txBox="1"/>
          <p:nvPr/>
        </p:nvSpPr>
        <p:spPr>
          <a:xfrm>
            <a:off x="3291840" y="1417320"/>
            <a:ext cx="2560320" cy="320040"/>
          </a:xfrm>
          <a:prstGeom prst="rect">
            <a:avLst/>
          </a:prstGeom>
          <a:noFill/>
          <a:ln/>
        </p:spPr>
        <p:txBody>
          <a:bodyPr wrap="square" lIns="0" tIns="0" rIns="0" bIns="0" rtlCol="0" anchor="t"/>
          <a:lstStyle/>
          <a:p>
            <a:pPr indent="0" marL="0">
              <a:buNone/>
            </a:pPr>
            <a:r>
              <a:rPr lang="en-US" sz="1500" b="1" dirty="0">
                <a:solidFill>
                  <a:srgbClr val="14181D"/>
                </a:solidFill>
                <a:latin typeface="Calibri" pitchFamily="34" charset="0"/>
                <a:ea typeface="Calibri" pitchFamily="34" charset="-122"/>
                <a:cs typeface="Calibri" pitchFamily="34" charset="-120"/>
              </a:rPr>
              <a:t>Hexagons</a:t>
            </a:r>
            <a:endParaRPr lang="en-US" sz="1500" dirty="0"/>
          </a:p>
        </p:txBody>
      </p:sp>
      <p:sp>
        <p:nvSpPr>
          <p:cNvPr id="15" name="hx-0"/>
          <p:cNvSpPr/>
          <p:nvPr/>
        </p:nvSpPr>
        <p:spPr>
          <a:xfrm rot="5400000">
            <a:off x="3867912" y="1783080"/>
            <a:ext cx="713232" cy="627644"/>
          </a:xfrm>
          <a:prstGeom prst="hexagon">
            <a:avLst/>
          </a:prstGeom>
          <a:solidFill>
            <a:srgbClr val="DFF2F8"/>
          </a:solidFill>
          <a:ln w="19050">
            <a:solidFill>
              <a:srgbClr val="FFFFFF"/>
            </a:solidFill>
            <a:prstDash val="solid"/>
          </a:ln>
        </p:spPr>
      </p:sp>
      <p:sp>
        <p:nvSpPr>
          <p:cNvPr id="16" name="hx-1"/>
          <p:cNvSpPr/>
          <p:nvPr/>
        </p:nvSpPr>
        <p:spPr>
          <a:xfrm rot="5400000">
            <a:off x="4581144" y="1783080"/>
            <a:ext cx="713232" cy="627644"/>
          </a:xfrm>
          <a:prstGeom prst="hexagon">
            <a:avLst/>
          </a:prstGeom>
          <a:solidFill>
            <a:srgbClr val="DFF2F8"/>
          </a:solidFill>
          <a:ln w="19050">
            <a:solidFill>
              <a:srgbClr val="FFFFFF"/>
            </a:solidFill>
            <a:prstDash val="solid"/>
          </a:ln>
        </p:spPr>
      </p:sp>
      <p:sp>
        <p:nvSpPr>
          <p:cNvPr id="17" name="hx-2"/>
          <p:cNvSpPr/>
          <p:nvPr/>
        </p:nvSpPr>
        <p:spPr>
          <a:xfrm rot="5400000">
            <a:off x="3511296" y="2423277"/>
            <a:ext cx="713232" cy="627644"/>
          </a:xfrm>
          <a:prstGeom prst="hexagon">
            <a:avLst/>
          </a:prstGeom>
          <a:solidFill>
            <a:srgbClr val="DFF2F8"/>
          </a:solidFill>
          <a:ln w="19050">
            <a:solidFill>
              <a:srgbClr val="FFFFFF"/>
            </a:solidFill>
            <a:prstDash val="solid"/>
          </a:ln>
        </p:spPr>
      </p:sp>
      <p:sp>
        <p:nvSpPr>
          <p:cNvPr id="18" name="hx-3"/>
          <p:cNvSpPr/>
          <p:nvPr/>
        </p:nvSpPr>
        <p:spPr>
          <a:xfrm rot="5400000">
            <a:off x="4224528" y="2423277"/>
            <a:ext cx="713232" cy="627644"/>
          </a:xfrm>
          <a:prstGeom prst="hexagon">
            <a:avLst/>
          </a:prstGeom>
          <a:solidFill>
            <a:srgbClr val="14181D"/>
          </a:solidFill>
          <a:ln w="19050">
            <a:solidFill>
              <a:srgbClr val="FFFFFF"/>
            </a:solidFill>
            <a:prstDash val="solid"/>
          </a:ln>
        </p:spPr>
      </p:sp>
      <p:sp>
        <p:nvSpPr>
          <p:cNvPr id="19" name="hx-4"/>
          <p:cNvSpPr/>
          <p:nvPr/>
        </p:nvSpPr>
        <p:spPr>
          <a:xfrm rot="5400000">
            <a:off x="4937760" y="2423277"/>
            <a:ext cx="713232" cy="627644"/>
          </a:xfrm>
          <a:prstGeom prst="hexagon">
            <a:avLst/>
          </a:prstGeom>
          <a:solidFill>
            <a:srgbClr val="DFF2F8"/>
          </a:solidFill>
          <a:ln w="19050">
            <a:solidFill>
              <a:srgbClr val="FFFFFF"/>
            </a:solidFill>
            <a:prstDash val="solid"/>
          </a:ln>
        </p:spPr>
      </p:sp>
      <p:sp>
        <p:nvSpPr>
          <p:cNvPr id="20" name="hx-5"/>
          <p:cNvSpPr/>
          <p:nvPr/>
        </p:nvSpPr>
        <p:spPr>
          <a:xfrm rot="5400000">
            <a:off x="3867912" y="3063474"/>
            <a:ext cx="713232" cy="627644"/>
          </a:xfrm>
          <a:prstGeom prst="hexagon">
            <a:avLst/>
          </a:prstGeom>
          <a:solidFill>
            <a:srgbClr val="DFF2F8"/>
          </a:solidFill>
          <a:ln w="19050">
            <a:solidFill>
              <a:srgbClr val="FFFFFF"/>
            </a:solidFill>
            <a:prstDash val="solid"/>
          </a:ln>
        </p:spPr>
      </p:sp>
      <p:sp>
        <p:nvSpPr>
          <p:cNvPr id="21" name="hx-6"/>
          <p:cNvSpPr/>
          <p:nvPr/>
        </p:nvSpPr>
        <p:spPr>
          <a:xfrm rot="5400000">
            <a:off x="4581144" y="3063474"/>
            <a:ext cx="713232" cy="627644"/>
          </a:xfrm>
          <a:prstGeom prst="hexagon">
            <a:avLst/>
          </a:prstGeom>
          <a:solidFill>
            <a:srgbClr val="DFF2F8"/>
          </a:solidFill>
          <a:ln w="19050">
            <a:solidFill>
              <a:srgbClr val="FFFFFF"/>
            </a:solidFill>
            <a:prstDash val="solid"/>
          </a:ln>
        </p:spPr>
      </p:sp>
      <p:sp>
        <p:nvSpPr>
          <p:cNvPr id="22" name="hx-note"/>
          <p:cNvSpPr txBox="1"/>
          <p:nvPr/>
        </p:nvSpPr>
        <p:spPr>
          <a:xfrm>
            <a:off x="3291840" y="3977640"/>
            <a:ext cx="2560320" cy="548640"/>
          </a:xfrm>
          <a:prstGeom prst="rect">
            <a:avLst/>
          </a:prstGeom>
          <a:noFill/>
          <a:ln/>
        </p:spPr>
        <p:txBody>
          <a:bodyPr wrap="square" lIns="0" tIns="0" rIns="0" bIns="0" rtlCol="0" anchor="t"/>
          <a:lstStyle/>
          <a:p>
            <a:pPr indent="0" marL="0">
              <a:buNone/>
            </a:pPr>
            <a:r>
              <a:rPr lang="en-US" sz="1300" dirty="0">
                <a:solidFill>
                  <a:srgbClr val="4A525C"/>
                </a:solidFill>
                <a:latin typeface="Calibri" pitchFamily="34" charset="0"/>
                <a:ea typeface="Calibri" pitchFamily="34" charset="-122"/>
                <a:cs typeface="Calibri" pitchFamily="34" charset="-120"/>
              </a:rPr>
              <a:t>6 neighbours, all the same distance away</a:t>
            </a:r>
            <a:endParaRPr lang="en-US" sz="1300" dirty="0"/>
          </a:p>
        </p:txBody>
      </p:sp>
      <p:sp>
        <p:nvSpPr>
          <p:cNvPr id="23" name="fair-card"/>
          <p:cNvSpPr/>
          <p:nvPr/>
        </p:nvSpPr>
        <p:spPr>
          <a:xfrm>
            <a:off x="548640" y="4709160"/>
            <a:ext cx="5303520" cy="1417320"/>
          </a:xfrm>
          <a:prstGeom prst="roundRect">
            <a:avLst>
              <a:gd name="adj" fmla="val 6452"/>
            </a:avLst>
          </a:prstGeom>
          <a:solidFill>
            <a:srgbClr val="F1F3F5"/>
          </a:solidFill>
          <a:ln w="12700">
            <a:solidFill>
              <a:srgbClr val="F1F3F5"/>
            </a:solidFill>
            <a:prstDash val="solid"/>
          </a:ln>
        </p:spPr>
      </p:sp>
      <p:sp>
        <p:nvSpPr>
          <p:cNvPr id="24" name="fair-text"/>
          <p:cNvSpPr txBox="1"/>
          <p:nvPr/>
        </p:nvSpPr>
        <p:spPr>
          <a:xfrm>
            <a:off x="777240" y="4892040"/>
            <a:ext cx="4846320" cy="1097280"/>
          </a:xfrm>
          <a:prstGeom prst="rect">
            <a:avLst/>
          </a:prstGeom>
          <a:noFill/>
          <a:ln/>
        </p:spPr>
        <p:txBody>
          <a:bodyPr wrap="square" lIns="0" tIns="0" rIns="0" bIns="0" rtlCol="0" anchor="t"/>
          <a:lstStyle/>
          <a:p>
            <a:pPr indent="0" marL="0">
              <a:buNone/>
            </a:pPr>
            <a:r>
              <a:rPr lang="en-US" sz="1500" b="1" dirty="0">
                <a:solidFill>
                  <a:srgbClr val="14181D"/>
                </a:solidFill>
                <a:latin typeface="Calibri" pitchFamily="34" charset="0"/>
                <a:ea typeface="Calibri" pitchFamily="34" charset="-122"/>
                <a:cs typeface="Calibri" pitchFamily="34" charset="-120"/>
              </a:rPr>
              <a:t>Why it matters: </a:t>
            </a:r>
            <a:pPr indent="0" marL="0">
              <a:buNone/>
            </a:pPr>
            <a:r>
              <a:rPr lang="en-US" sz="1500" dirty="0">
                <a:solidFill>
                  <a:srgbClr val="4A525C"/>
                </a:solidFill>
                <a:latin typeface="Calibri" pitchFamily="34" charset="0"/>
                <a:ea typeface="Calibri" pitchFamily="34" charset="-122"/>
                <a:cs typeface="Calibri" pitchFamily="34" charset="-120"/>
              </a:rPr>
              <a:t>“two hexagons away” is the same distance in every direction, so deciding which communities can share a trip is fair to all of them.</a:t>
            </a:r>
            <a:endParaRPr lang="en-US" sz="1500" dirty="0"/>
          </a:p>
        </p:txBody>
      </p:sp>
      <p:sp>
        <p:nvSpPr>
          <p:cNvPr id="25" name="use-hex-0"/>
          <p:cNvSpPr/>
          <p:nvPr/>
        </p:nvSpPr>
        <p:spPr>
          <a:xfrm>
            <a:off x="6309360" y="1554480"/>
            <a:ext cx="658368" cy="579364"/>
          </a:xfrm>
          <a:prstGeom prst="hexagon">
            <a:avLst/>
          </a:prstGeom>
          <a:solidFill>
            <a:srgbClr val="6E56CF"/>
          </a:solidFill>
          <a:ln w="12700">
            <a:solidFill>
              <a:srgbClr val="6E56CF"/>
            </a:solidFill>
            <a:prstDash val="solid"/>
          </a:ln>
        </p:spPr>
      </p:sp>
      <p:sp>
        <p:nvSpPr>
          <p:cNvPr id="26" name="use-h-0"/>
          <p:cNvSpPr txBox="1"/>
          <p:nvPr/>
        </p:nvSpPr>
        <p:spPr>
          <a:xfrm>
            <a:off x="7178040" y="1463040"/>
            <a:ext cx="4434840" cy="365760"/>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Shared trips</a:t>
            </a:r>
            <a:endParaRPr lang="en-US" sz="1700" dirty="0"/>
          </a:p>
        </p:txBody>
      </p:sp>
      <p:sp>
        <p:nvSpPr>
          <p:cNvPr id="27" name="use-b-0"/>
          <p:cNvSpPr txBox="1"/>
          <p:nvPr/>
        </p:nvSpPr>
        <p:spPr>
          <a:xfrm>
            <a:off x="7178040" y="1847088"/>
            <a:ext cx="443484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Communities within 2 hexagons (about 90 km) can share a trip, saving $67–$76 per repair</a:t>
            </a:r>
            <a:endParaRPr lang="en-US" sz="1400" dirty="0"/>
          </a:p>
        </p:txBody>
      </p:sp>
      <p:sp>
        <p:nvSpPr>
          <p:cNvPr id="28" name="use-hex-1"/>
          <p:cNvSpPr/>
          <p:nvPr/>
        </p:nvSpPr>
        <p:spPr>
          <a:xfrm>
            <a:off x="6309360" y="2743200"/>
            <a:ext cx="658368" cy="579364"/>
          </a:xfrm>
          <a:prstGeom prst="hexagon">
            <a:avLst/>
          </a:prstGeom>
          <a:solidFill>
            <a:srgbClr val="1F9D4C"/>
          </a:solidFill>
          <a:ln w="12700">
            <a:solidFill>
              <a:srgbClr val="1F9D4C"/>
            </a:solidFill>
            <a:prstDash val="solid"/>
          </a:ln>
        </p:spPr>
      </p:sp>
      <p:sp>
        <p:nvSpPr>
          <p:cNvPr id="29" name="use-h-1"/>
          <p:cNvSpPr txBox="1"/>
          <p:nvPr/>
        </p:nvSpPr>
        <p:spPr>
          <a:xfrm>
            <a:off x="7178040" y="2651760"/>
            <a:ext cx="4434840" cy="365760"/>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Privacy</a:t>
            </a:r>
            <a:endParaRPr lang="en-US" sz="1700" dirty="0"/>
          </a:p>
        </p:txBody>
      </p:sp>
      <p:sp>
        <p:nvSpPr>
          <p:cNvPr id="30" name="use-b-1"/>
          <p:cNvSpPr txBox="1"/>
          <p:nvPr/>
        </p:nvSpPr>
        <p:spPr>
          <a:xfrm>
            <a:off x="7178040" y="3035808"/>
            <a:ext cx="443484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A house is stored as a small hexagon, not a street address</a:t>
            </a:r>
            <a:endParaRPr lang="en-US" sz="1400" dirty="0"/>
          </a:p>
        </p:txBody>
      </p:sp>
      <p:sp>
        <p:nvSpPr>
          <p:cNvPr id="31" name="use-hex-2"/>
          <p:cNvSpPr/>
          <p:nvPr/>
        </p:nvSpPr>
        <p:spPr>
          <a:xfrm>
            <a:off x="6309360" y="3931920"/>
            <a:ext cx="658368" cy="579364"/>
          </a:xfrm>
          <a:prstGeom prst="hexagon">
            <a:avLst/>
          </a:prstGeom>
          <a:solidFill>
            <a:srgbClr val="0E8FB8"/>
          </a:solidFill>
          <a:ln w="12700">
            <a:solidFill>
              <a:srgbClr val="0E8FB8"/>
            </a:solidFill>
            <a:prstDash val="solid"/>
          </a:ln>
        </p:spPr>
      </p:sp>
      <p:sp>
        <p:nvSpPr>
          <p:cNvPr id="32" name="use-h-2"/>
          <p:cNvSpPr txBox="1"/>
          <p:nvPr/>
        </p:nvSpPr>
        <p:spPr>
          <a:xfrm>
            <a:off x="7178040" y="3840480"/>
            <a:ext cx="4434840" cy="365760"/>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Public numbers</a:t>
            </a:r>
            <a:endParaRPr lang="en-US" sz="1700" dirty="0"/>
          </a:p>
        </p:txBody>
      </p:sp>
      <p:sp>
        <p:nvSpPr>
          <p:cNvPr id="33" name="use-b-2"/>
          <p:cNvSpPr txBox="1"/>
          <p:nvPr/>
        </p:nvSpPr>
        <p:spPr>
          <a:xfrm>
            <a:off x="7178040" y="4224528"/>
            <a:ext cx="443484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Waits are published per larger hexagon, only where there are at least 5 repairs</a:t>
            </a:r>
            <a:endParaRPr lang="en-US" sz="1400" dirty="0"/>
          </a:p>
        </p:txBody>
      </p:sp>
      <p:sp>
        <p:nvSpPr>
          <p:cNvPr id="34" name="use-hex-3"/>
          <p:cNvSpPr/>
          <p:nvPr/>
        </p:nvSpPr>
        <p:spPr>
          <a:xfrm>
            <a:off x="6309360" y="5120640"/>
            <a:ext cx="658368" cy="579364"/>
          </a:xfrm>
          <a:prstGeom prst="hexagon">
            <a:avLst/>
          </a:prstGeom>
          <a:solidFill>
            <a:srgbClr val="D97706"/>
          </a:solidFill>
          <a:ln w="12700">
            <a:solidFill>
              <a:srgbClr val="D97706"/>
            </a:solidFill>
            <a:prstDash val="solid"/>
          </a:ln>
        </p:spPr>
      </p:sp>
      <p:sp>
        <p:nvSpPr>
          <p:cNvPr id="35" name="use-h-3"/>
          <p:cNvSpPr txBox="1"/>
          <p:nvPr/>
        </p:nvSpPr>
        <p:spPr>
          <a:xfrm>
            <a:off x="7178040" y="5029200"/>
            <a:ext cx="4434840" cy="365760"/>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Field and maps</a:t>
            </a:r>
            <a:endParaRPr lang="en-US" sz="1700" dirty="0"/>
          </a:p>
        </p:txBody>
      </p:sp>
      <p:sp>
        <p:nvSpPr>
          <p:cNvPr id="36" name="use-b-3"/>
          <p:cNvSpPr txBox="1"/>
          <p:nvPr/>
        </p:nvSpPr>
        <p:spPr>
          <a:xfrm>
            <a:off x="7178040" y="5413248"/>
            <a:ext cx="4434840" cy="73152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"Nearby jobs" for tradespeople, the driving-time map, and fast database lookups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Every week, an optimiser plans the trips</a:t>
            </a:r>
            <a:endParaRPr lang="en-US" sz="2800" dirty="0"/>
          </a:p>
        </p:txBody>
      </p:sp>
      <p:sp>
        <p:nvSpPr>
          <p:cNvPr id="3" name="sep-label"/>
          <p:cNvSpPr txBox="1"/>
          <p:nvPr/>
        </p:nvSpPr>
        <p:spPr>
          <a:xfrm>
            <a:off x="548640" y="1417320"/>
            <a:ext cx="2743200" cy="320040"/>
          </a:xfrm>
          <a:prstGeom prst="rect">
            <a:avLst/>
          </a:prstGeom>
          <a:noFill/>
          <a:ln/>
        </p:spPr>
        <p:txBody>
          <a:bodyPr wrap="square" lIns="0" tIns="0" rIns="0" bIns="0" rtlCol="0" anchor="t"/>
          <a:lstStyle/>
          <a:p>
            <a:pPr indent="0" marL="0">
              <a:buNone/>
            </a:pPr>
            <a:r>
              <a:rPr lang="en-US" sz="1500" b="1" dirty="0">
                <a:solidFill>
                  <a:srgbClr val="14181D"/>
                </a:solidFill>
                <a:latin typeface="Calibri" pitchFamily="34" charset="0"/>
                <a:ea typeface="Calibri" pitchFamily="34" charset="-122"/>
                <a:cs typeface="Calibri" pitchFamily="34" charset="-120"/>
              </a:rPr>
              <a:t>Two separate trips</a:t>
            </a:r>
            <a:endParaRPr lang="en-US" sz="1500" dirty="0"/>
          </a:p>
        </p:txBody>
      </p:sp>
      <p:sp>
        <p:nvSpPr>
          <p:cNvPr id="4" name="sep-hub"/>
          <p:cNvSpPr/>
          <p:nvPr/>
        </p:nvSpPr>
        <p:spPr>
          <a:xfrm>
            <a:off x="731520" y="3291840"/>
            <a:ext cx="685800" cy="603504"/>
          </a:xfrm>
          <a:prstGeom prst="hexagon">
            <a:avLst/>
          </a:prstGeom>
          <a:solidFill>
            <a:srgbClr val="14181D"/>
          </a:solidFill>
          <a:ln w="12700">
            <a:solidFill>
              <a:srgbClr val="14181D"/>
            </a:solidFill>
            <a:prstDash val="solid"/>
          </a:ln>
        </p:spPr>
      </p:sp>
      <p:sp>
        <p:nvSpPr>
          <p:cNvPr id="5" name="sep-hub-l"/>
          <p:cNvSpPr txBox="1"/>
          <p:nvPr/>
        </p:nvSpPr>
        <p:spPr>
          <a:xfrm>
            <a:off x="365760" y="395020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Hub</a:t>
            </a:r>
            <a:endParaRPr lang="en-US" sz="1300" dirty="0"/>
          </a:p>
        </p:txBody>
      </p:sp>
      <p:sp>
        <p:nvSpPr>
          <p:cNvPr id="6" name="sep-a"/>
          <p:cNvSpPr/>
          <p:nvPr/>
        </p:nvSpPr>
        <p:spPr>
          <a:xfrm>
            <a:off x="2377440" y="1920240"/>
            <a:ext cx="685800" cy="603504"/>
          </a:xfrm>
          <a:prstGeom prst="hexagon">
            <a:avLst/>
          </a:prstGeom>
          <a:solidFill>
            <a:srgbClr val="6E56CF"/>
          </a:solidFill>
          <a:ln w="12700">
            <a:solidFill>
              <a:srgbClr val="6E56CF"/>
            </a:solidFill>
            <a:prstDash val="solid"/>
          </a:ln>
        </p:spPr>
      </p:sp>
      <p:sp>
        <p:nvSpPr>
          <p:cNvPr id="7" name="sep-a-l"/>
          <p:cNvSpPr txBox="1"/>
          <p:nvPr/>
        </p:nvSpPr>
        <p:spPr>
          <a:xfrm>
            <a:off x="2011680" y="257860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Community A</a:t>
            </a:r>
            <a:endParaRPr lang="en-US" sz="1300" dirty="0"/>
          </a:p>
        </p:txBody>
      </p:sp>
      <p:sp>
        <p:nvSpPr>
          <p:cNvPr id="8" name="sep-b"/>
          <p:cNvSpPr/>
          <p:nvPr/>
        </p:nvSpPr>
        <p:spPr>
          <a:xfrm>
            <a:off x="2926080" y="4023360"/>
            <a:ext cx="685800" cy="603504"/>
          </a:xfrm>
          <a:prstGeom prst="hexagon">
            <a:avLst/>
          </a:prstGeom>
          <a:solidFill>
            <a:srgbClr val="6E56CF"/>
          </a:solidFill>
          <a:ln w="12700">
            <a:solidFill>
              <a:srgbClr val="6E56CF"/>
            </a:solidFill>
            <a:prstDash val="solid"/>
          </a:ln>
        </p:spPr>
      </p:sp>
      <p:sp>
        <p:nvSpPr>
          <p:cNvPr id="9" name="sep-b-l"/>
          <p:cNvSpPr txBox="1"/>
          <p:nvPr/>
        </p:nvSpPr>
        <p:spPr>
          <a:xfrm>
            <a:off x="2560320" y="468172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Community B</a:t>
            </a:r>
            <a:endParaRPr lang="en-US" sz="1300" dirty="0"/>
          </a:p>
        </p:txBody>
      </p:sp>
      <p:sp>
        <p:nvSpPr>
          <p:cNvPr id="10" name="sep-l1"/>
          <p:cNvSpPr/>
          <p:nvPr/>
        </p:nvSpPr>
        <p:spPr>
          <a:xfrm flipV="1">
            <a:off x="1417320" y="2377440"/>
            <a:ext cx="960120" cy="1143000"/>
          </a:xfrm>
          <a:prstGeom prst="line">
            <a:avLst/>
          </a:prstGeom>
          <a:noFill/>
          <a:ln w="31750">
            <a:solidFill>
              <a:srgbClr val="D97706"/>
            </a:solidFill>
            <a:prstDash val="solid"/>
          </a:ln>
        </p:spPr>
      </p:sp>
      <p:sp>
        <p:nvSpPr>
          <p:cNvPr id="11" name="sep-l2"/>
          <p:cNvSpPr/>
          <p:nvPr/>
        </p:nvSpPr>
        <p:spPr>
          <a:xfrm>
            <a:off x="1417320" y="3749040"/>
            <a:ext cx="1508760" cy="548640"/>
          </a:xfrm>
          <a:prstGeom prst="line">
            <a:avLst/>
          </a:prstGeom>
          <a:noFill/>
          <a:ln w="31750">
            <a:solidFill>
              <a:srgbClr val="D97706"/>
            </a:solidFill>
            <a:prstDash val="solid"/>
          </a:ln>
        </p:spPr>
      </p:sp>
      <p:sp>
        <p:nvSpPr>
          <p:cNvPr id="12" name="sep-note"/>
          <p:cNvSpPr txBox="1"/>
          <p:nvPr/>
        </p:nvSpPr>
        <p:spPr>
          <a:xfrm>
            <a:off x="548640" y="4846320"/>
            <a:ext cx="3108960" cy="320040"/>
          </a:xfrm>
          <a:prstGeom prst="rect">
            <a:avLst/>
          </a:prstGeom>
          <a:noFill/>
          <a:ln/>
        </p:spPr>
        <p:txBody>
          <a:bodyPr wrap="square" lIns="0" tIns="0" rIns="0" bIns="0" rtlCol="0" anchor="t"/>
          <a:lstStyle/>
          <a:p>
            <a:pPr indent="0" marL="0">
              <a:buNone/>
            </a:pPr>
            <a:r>
              <a:rPr lang="en-US" sz="1300" b="1" dirty="0">
                <a:solidFill>
                  <a:srgbClr val="D97706"/>
                </a:solidFill>
                <a:latin typeface="Calibri" pitchFamily="34" charset="0"/>
                <a:ea typeface="Calibri" pitchFamily="34" charset="-122"/>
                <a:cs typeface="Calibri" pitchFamily="34" charset="-120"/>
              </a:rPr>
              <a:t>Two drives there and back</a:t>
            </a:r>
            <a:endParaRPr lang="en-US" sz="1300" dirty="0"/>
          </a:p>
        </p:txBody>
      </p:sp>
      <p:sp>
        <p:nvSpPr>
          <p:cNvPr id="13" name="run-label"/>
          <p:cNvSpPr txBox="1"/>
          <p:nvPr/>
        </p:nvSpPr>
        <p:spPr>
          <a:xfrm>
            <a:off x="4023360" y="1417320"/>
            <a:ext cx="2743200" cy="320040"/>
          </a:xfrm>
          <a:prstGeom prst="rect">
            <a:avLst/>
          </a:prstGeom>
          <a:noFill/>
          <a:ln/>
        </p:spPr>
        <p:txBody>
          <a:bodyPr wrap="square" lIns="0" tIns="0" rIns="0" bIns="0" rtlCol="0" anchor="t"/>
          <a:lstStyle/>
          <a:p>
            <a:pPr indent="0" marL="0">
              <a:buNone/>
            </a:pPr>
            <a:r>
              <a:rPr lang="en-US" sz="1500" b="1" dirty="0">
                <a:solidFill>
                  <a:srgbClr val="14181D"/>
                </a:solidFill>
                <a:latin typeface="Calibri" pitchFamily="34" charset="0"/>
                <a:ea typeface="Calibri" pitchFamily="34" charset="-122"/>
                <a:cs typeface="Calibri" pitchFamily="34" charset="-120"/>
              </a:rPr>
              <a:t>One shared trip</a:t>
            </a:r>
            <a:endParaRPr lang="en-US" sz="1500" dirty="0"/>
          </a:p>
        </p:txBody>
      </p:sp>
      <p:sp>
        <p:nvSpPr>
          <p:cNvPr id="14" name="run-hub"/>
          <p:cNvSpPr/>
          <p:nvPr/>
        </p:nvSpPr>
        <p:spPr>
          <a:xfrm>
            <a:off x="4206240" y="3291840"/>
            <a:ext cx="685800" cy="603504"/>
          </a:xfrm>
          <a:prstGeom prst="hexagon">
            <a:avLst/>
          </a:prstGeom>
          <a:solidFill>
            <a:srgbClr val="14181D"/>
          </a:solidFill>
          <a:ln w="12700">
            <a:solidFill>
              <a:srgbClr val="14181D"/>
            </a:solidFill>
            <a:prstDash val="solid"/>
          </a:ln>
        </p:spPr>
      </p:sp>
      <p:sp>
        <p:nvSpPr>
          <p:cNvPr id="15" name="run-hub-l"/>
          <p:cNvSpPr txBox="1"/>
          <p:nvPr/>
        </p:nvSpPr>
        <p:spPr>
          <a:xfrm>
            <a:off x="3840480" y="395020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Hub</a:t>
            </a:r>
            <a:endParaRPr lang="en-US" sz="1300" dirty="0"/>
          </a:p>
        </p:txBody>
      </p:sp>
      <p:sp>
        <p:nvSpPr>
          <p:cNvPr id="16" name="run-a"/>
          <p:cNvSpPr/>
          <p:nvPr/>
        </p:nvSpPr>
        <p:spPr>
          <a:xfrm>
            <a:off x="5852160" y="1920240"/>
            <a:ext cx="685800" cy="603504"/>
          </a:xfrm>
          <a:prstGeom prst="hexagon">
            <a:avLst/>
          </a:prstGeom>
          <a:solidFill>
            <a:srgbClr val="6E56CF"/>
          </a:solidFill>
          <a:ln w="12700">
            <a:solidFill>
              <a:srgbClr val="6E56CF"/>
            </a:solidFill>
            <a:prstDash val="solid"/>
          </a:ln>
        </p:spPr>
      </p:sp>
      <p:sp>
        <p:nvSpPr>
          <p:cNvPr id="17" name="run-a-l"/>
          <p:cNvSpPr txBox="1"/>
          <p:nvPr/>
        </p:nvSpPr>
        <p:spPr>
          <a:xfrm>
            <a:off x="5486400" y="257860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Community A</a:t>
            </a:r>
            <a:endParaRPr lang="en-US" sz="1300" dirty="0"/>
          </a:p>
        </p:txBody>
      </p:sp>
      <p:sp>
        <p:nvSpPr>
          <p:cNvPr id="18" name="run-b"/>
          <p:cNvSpPr/>
          <p:nvPr/>
        </p:nvSpPr>
        <p:spPr>
          <a:xfrm>
            <a:off x="6400800" y="4023360"/>
            <a:ext cx="685800" cy="603504"/>
          </a:xfrm>
          <a:prstGeom prst="hexagon">
            <a:avLst/>
          </a:prstGeom>
          <a:solidFill>
            <a:srgbClr val="6E56CF"/>
          </a:solidFill>
          <a:ln w="12700">
            <a:solidFill>
              <a:srgbClr val="6E56CF"/>
            </a:solidFill>
            <a:prstDash val="solid"/>
          </a:ln>
        </p:spPr>
      </p:sp>
      <p:sp>
        <p:nvSpPr>
          <p:cNvPr id="19" name="run-b-l"/>
          <p:cNvSpPr txBox="1"/>
          <p:nvPr/>
        </p:nvSpPr>
        <p:spPr>
          <a:xfrm>
            <a:off x="6035040" y="4681728"/>
            <a:ext cx="1417320" cy="320040"/>
          </a:xfrm>
          <a:prstGeom prst="rect">
            <a:avLst/>
          </a:prstGeom>
          <a:noFill/>
          <a:ln/>
        </p:spPr>
        <p:txBody>
          <a:bodyPr wrap="square" lIns="0" tIns="0" rIns="0" bIns="0" rtlCol="0" anchor="t"/>
          <a:lstStyle/>
          <a:p>
            <a:pPr algn="ctr" indent="0" marL="0">
              <a:buNone/>
            </a:pPr>
            <a:r>
              <a:rPr lang="en-US" sz="1300" dirty="0">
                <a:solidFill>
                  <a:srgbClr val="4A525C"/>
                </a:solidFill>
                <a:latin typeface="Calibri" pitchFamily="34" charset="0"/>
                <a:ea typeface="Calibri" pitchFamily="34" charset="-122"/>
                <a:cs typeface="Calibri" pitchFamily="34" charset="-120"/>
              </a:rPr>
              <a:t>Community B</a:t>
            </a:r>
            <a:endParaRPr lang="en-US" sz="1300" dirty="0"/>
          </a:p>
        </p:txBody>
      </p:sp>
      <p:sp>
        <p:nvSpPr>
          <p:cNvPr id="20" name="run-l1"/>
          <p:cNvSpPr/>
          <p:nvPr/>
        </p:nvSpPr>
        <p:spPr>
          <a:xfrm flipV="1">
            <a:off x="4892040" y="2377440"/>
            <a:ext cx="960120" cy="1143000"/>
          </a:xfrm>
          <a:prstGeom prst="line">
            <a:avLst/>
          </a:prstGeom>
          <a:noFill/>
          <a:ln w="31750">
            <a:solidFill>
              <a:srgbClr val="0E8FB8"/>
            </a:solidFill>
            <a:prstDash val="solid"/>
          </a:ln>
        </p:spPr>
      </p:sp>
      <p:sp>
        <p:nvSpPr>
          <p:cNvPr id="21" name="run-l2"/>
          <p:cNvSpPr/>
          <p:nvPr/>
        </p:nvSpPr>
        <p:spPr>
          <a:xfrm>
            <a:off x="6309360" y="2697480"/>
            <a:ext cx="411480" cy="1325880"/>
          </a:xfrm>
          <a:prstGeom prst="line">
            <a:avLst/>
          </a:prstGeom>
          <a:noFill/>
          <a:ln w="31750">
            <a:solidFill>
              <a:srgbClr val="0E8FB8"/>
            </a:solidFill>
            <a:prstDash val="solid"/>
          </a:ln>
        </p:spPr>
      </p:sp>
      <p:sp>
        <p:nvSpPr>
          <p:cNvPr id="22" name="run-l3"/>
          <p:cNvSpPr/>
          <p:nvPr/>
        </p:nvSpPr>
        <p:spPr>
          <a:xfrm>
            <a:off x="4892040" y="3749040"/>
            <a:ext cx="1508760" cy="548640"/>
          </a:xfrm>
          <a:prstGeom prst="line">
            <a:avLst/>
          </a:prstGeom>
          <a:noFill/>
          <a:ln w="31750">
            <a:solidFill>
              <a:srgbClr val="0E8FB8"/>
            </a:solidFill>
            <a:prstDash val="solid"/>
          </a:ln>
        </p:spPr>
      </p:sp>
      <p:sp>
        <p:nvSpPr>
          <p:cNvPr id="23" name="run-note"/>
          <p:cNvSpPr txBox="1"/>
          <p:nvPr/>
        </p:nvSpPr>
        <p:spPr>
          <a:xfrm>
            <a:off x="4023360" y="4846320"/>
            <a:ext cx="3291840" cy="320040"/>
          </a:xfrm>
          <a:prstGeom prst="rect">
            <a:avLst/>
          </a:prstGeom>
          <a:noFill/>
          <a:ln/>
        </p:spPr>
        <p:txBody>
          <a:bodyPr wrap="square" lIns="0" tIns="0" rIns="0" bIns="0" rtlCol="0" anchor="t"/>
          <a:lstStyle/>
          <a:p>
            <a:pPr indent="0" marL="0">
              <a:buNone/>
            </a:pPr>
            <a:r>
              <a:rPr lang="en-US" sz="1300" b="1" dirty="0">
                <a:solidFill>
                  <a:srgbClr val="0E8FB8"/>
                </a:solidFill>
                <a:latin typeface="Calibri" pitchFamily="34" charset="0"/>
                <a:ea typeface="Calibri" pitchFamily="34" charset="-122"/>
                <a:cs typeface="Calibri" pitchFamily="34" charset="-120"/>
              </a:rPr>
              <a:t>One loop: hub → A → B → hub</a:t>
            </a:r>
            <a:endParaRPr lang="en-US" sz="1300" dirty="0"/>
          </a:p>
        </p:txBody>
      </p:sp>
      <p:sp>
        <p:nvSpPr>
          <p:cNvPr id="24" name="ortools"/>
          <p:cNvSpPr txBox="1"/>
          <p:nvPr/>
        </p:nvSpPr>
        <p:spPr>
          <a:xfrm>
            <a:off x="548640" y="5257800"/>
            <a:ext cx="6766560" cy="8686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Google OR-Tools (CP-SAT) chooses which communities get a visit and which jobs are done, within each tradesperson's 40 hours, road closures and airstrips. </a:t>
            </a:r>
            <a:pPr indent="0" marL="0">
              <a:buNone/>
            </a:pPr>
            <a:r>
              <a:rPr lang="en-US" sz="1400" b="1" dirty="0">
                <a:solidFill>
                  <a:srgbClr val="14181D"/>
                </a:solidFill>
                <a:latin typeface="Calibri" pitchFamily="34" charset="0"/>
                <a:ea typeface="Calibri" pitchFamily="34" charset="-122"/>
                <a:cs typeface="Calibri" pitchFamily="34" charset="-120"/>
              </a:rPr>
              <a:t>Trades going to the same place travel together: a further $105 off every repair.</a:t>
            </a:r>
            <a:endParaRPr lang="en-US" sz="1400" dirty="0"/>
          </a:p>
        </p:txBody>
      </p:sp>
      <p:sp>
        <p:nvSpPr>
          <p:cNvPr id="25" name="s-saved-n"/>
          <p:cNvSpPr txBox="1"/>
          <p:nvPr/>
        </p:nvSpPr>
        <p:spPr>
          <a:xfrm>
            <a:off x="7955280" y="1508760"/>
            <a:ext cx="3657600" cy="868680"/>
          </a:xfrm>
          <a:prstGeom prst="rect">
            <a:avLst/>
          </a:prstGeom>
          <a:noFill/>
          <a:ln/>
        </p:spPr>
        <p:txBody>
          <a:bodyPr wrap="square" lIns="0" tIns="0" rIns="0" bIns="0" rtlCol="0" anchor="t"/>
          <a:lstStyle/>
          <a:p>
            <a:pPr indent="0" marL="0">
              <a:buNone/>
            </a:pPr>
            <a:r>
              <a:rPr lang="en-US" sz="4800" b="1" dirty="0">
                <a:solidFill>
                  <a:srgbClr val="0E8FB8"/>
                </a:solidFill>
                <a:latin typeface="Arial" pitchFamily="34" charset="0"/>
                <a:ea typeface="Arial" pitchFamily="34" charset="-122"/>
                <a:cs typeface="Arial" pitchFamily="34" charset="-120"/>
              </a:rPr>
              <a:t>$76</a:t>
            </a:r>
            <a:endParaRPr lang="en-US" sz="4800" dirty="0"/>
          </a:p>
        </p:txBody>
      </p:sp>
      <p:sp>
        <p:nvSpPr>
          <p:cNvPr id="26" name="s-saved-l"/>
          <p:cNvSpPr txBox="1"/>
          <p:nvPr/>
        </p:nvSpPr>
        <p:spPr>
          <a:xfrm>
            <a:off x="7955280" y="2423160"/>
            <a:ext cx="365760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saved per repair by shared trips, against the same plan without them</a:t>
            </a:r>
            <a:endParaRPr lang="en-US" sz="1500" dirty="0"/>
          </a:p>
        </p:txBody>
      </p:sp>
      <p:sp>
        <p:nvSpPr>
          <p:cNvPr id="27" name="s-share-harm-n"/>
          <p:cNvSpPr txBox="1"/>
          <p:nvPr/>
        </p:nvSpPr>
        <p:spPr>
          <a:xfrm>
            <a:off x="7955280" y="3108960"/>
            <a:ext cx="3657600" cy="868680"/>
          </a:xfrm>
          <a:prstGeom prst="rect">
            <a:avLst/>
          </a:prstGeom>
          <a:noFill/>
          <a:ln/>
        </p:spPr>
        <p:txBody>
          <a:bodyPr wrap="square" lIns="0" tIns="0" rIns="0" bIns="0" rtlCol="0" anchor="t"/>
          <a:lstStyle/>
          <a:p>
            <a:pPr indent="0" marL="0">
              <a:buNone/>
            </a:pPr>
            <a:r>
              <a:rPr lang="en-US" sz="4800" b="1" dirty="0">
                <a:solidFill>
                  <a:srgbClr val="1F9D4C"/>
                </a:solidFill>
                <a:latin typeface="Arial" pitchFamily="34" charset="0"/>
                <a:ea typeface="Arial" pitchFamily="34" charset="-122"/>
                <a:cs typeface="Arial" pitchFamily="34" charset="-120"/>
              </a:rPr>
              <a:t>17%</a:t>
            </a:r>
            <a:endParaRPr lang="en-US" sz="4800" dirty="0"/>
          </a:p>
        </p:txBody>
      </p:sp>
      <p:sp>
        <p:nvSpPr>
          <p:cNvPr id="28" name="s-share-harm-l"/>
          <p:cNvSpPr txBox="1"/>
          <p:nvPr/>
        </p:nvSpPr>
        <p:spPr>
          <a:xfrm>
            <a:off x="7955280" y="4023360"/>
            <a:ext cx="365760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fewer days households live with a fault, because the saving buys more visits</a:t>
            </a:r>
            <a:endParaRPr lang="en-US" sz="1500" dirty="0"/>
          </a:p>
        </p:txBody>
      </p:sp>
      <p:sp>
        <p:nvSpPr>
          <p:cNvPr id="29" name="s-optimal-n"/>
          <p:cNvSpPr txBox="1"/>
          <p:nvPr/>
        </p:nvSpPr>
        <p:spPr>
          <a:xfrm>
            <a:off x="7955280" y="4709160"/>
            <a:ext cx="3657600" cy="868680"/>
          </a:xfrm>
          <a:prstGeom prst="rect">
            <a:avLst/>
          </a:prstGeom>
          <a:noFill/>
          <a:ln/>
        </p:spPr>
        <p:txBody>
          <a:bodyPr wrap="square" lIns="0" tIns="0" rIns="0" bIns="0" rtlCol="0" anchor="t"/>
          <a:lstStyle/>
          <a:p>
            <a:pPr indent="0" marL="0">
              <a:buNone/>
            </a:pPr>
            <a:r>
              <a:rPr lang="en-US" sz="4000" b="1" dirty="0">
                <a:solidFill>
                  <a:srgbClr val="6E56CF"/>
                </a:solidFill>
                <a:latin typeface="Arial" pitchFamily="34" charset="0"/>
                <a:ea typeface="Arial" pitchFamily="34" charset="-122"/>
                <a:cs typeface="Arial" pitchFamily="34" charset="-120"/>
              </a:rPr>
              <a:t>99.5%</a:t>
            </a:r>
            <a:endParaRPr lang="en-US" sz="4000" dirty="0"/>
          </a:p>
        </p:txBody>
      </p:sp>
      <p:sp>
        <p:nvSpPr>
          <p:cNvPr id="30" name="s-optimal-l"/>
          <p:cNvSpPr txBox="1"/>
          <p:nvPr/>
        </p:nvSpPr>
        <p:spPr>
          <a:xfrm>
            <a:off x="7955280" y="5623560"/>
            <a:ext cx="3657600" cy="100584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of 26,018 weekly plans proved the best possible, in milliseconds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Fairness costs a little more, and saves months of waiting</a:t>
            </a:r>
            <a:endParaRPr lang="en-US" sz="2800" dirty="0"/>
          </a:p>
        </p:txBody>
      </p:sp>
      <p:graphicFrame>
        <p:nvGraphicFramePr>
          <p:cNvPr id="3" name="harm-chart" descr=""/>
          <p:cNvGraphicFramePr/>
          <p:nvPr/>
        </p:nvGraphicFramePr>
        <p:xfrm>
          <a:off x="548640" y="1371600"/>
          <a:ext cx="576072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result-table"/>
          <p:cNvGraphicFramePr>
            <a:graphicFrameLocks noGrp="1"/>
          </p:cNvGraphicFramePr>
          <p:nvPr>
            <p:extLst>
              <p:ext uri="{D42A27DB-BD31-4B8C-83A1-F6EECF244321}">
                <p14:modId xmlns:p14="http://schemas.microsoft.com/office/powerpoint/2010/main" val="1579011935"/>
              </p:ext>
            </p:extLst>
          </p:nvPr>
        </p:nvGraphicFramePr>
        <p:xfrm>
          <a:off x="6675120" y="1463040"/>
          <a:ext cx="4937760" cy="914400"/>
        </p:xfrm>
        <a:graphic>
          <a:graphicData uri="http://schemas.openxmlformats.org/drawingml/2006/table">
            <a:tbl>
              <a:tblPr/>
              <a:tblGrid>
                <a:gridCol w="2377440"/>
                <a:gridCol w="1280160"/>
                <a:gridCol w="1280160"/>
              </a:tblGrid>
              <a:tr h="502920">
                <a:tc>
                  <a:txBody>
                    <a:bodyPr/>
                    <a:lstStyle/>
                    <a:p>
                      <a:pPr indent="0" marL="0">
                        <a:buNone/>
                      </a:pP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1F3F5"/>
                    </a:solidFill>
                  </a:tcPr>
                </a:tc>
                <a:tc>
                  <a:txBody>
                    <a:bodyPr/>
                    <a:lstStyle/>
                    <a:p>
                      <a:pPr indent="0" marL="0">
                        <a:buNone/>
                      </a:pPr>
                      <a:r>
                        <a:rPr lang="en-US" sz="1500" b="1" dirty="0">
                          <a:solidFill>
                            <a:srgbClr val="14181D"/>
                          </a:solidFill>
                          <a:latin typeface="Calibri" pitchFamily="34" charset="0"/>
                          <a:ea typeface="Calibri" pitchFamily="34" charset="-122"/>
                          <a:cs typeface="Calibri" pitchFamily="34" charset="-120"/>
                        </a:rPr>
                        <a:t>Cheapest first</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1F3F5"/>
                    </a:solidFill>
                  </a:tcPr>
                </a:tc>
                <a:tc>
                  <a:txBody>
                    <a:bodyPr/>
                    <a:lstStyle/>
                    <a:p>
                      <a:pPr indent="0" marL="0">
                        <a:buNone/>
                      </a:pPr>
                      <a:r>
                        <a:rPr lang="en-US" sz="1500" b="1" dirty="0">
                          <a:solidFill>
                            <a:srgbClr val="14181D"/>
                          </a:solidFill>
                          <a:latin typeface="Calibri" pitchFamily="34" charset="0"/>
                          <a:ea typeface="Calibri" pitchFamily="34" charset="-122"/>
                          <a:cs typeface="Calibri" pitchFamily="34" charset="-120"/>
                        </a:rPr>
                        <a:t>ReachNT</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1F3F5"/>
                    </a:solidFill>
                  </a:tcPr>
                </a:tc>
              </a:tr>
              <a:tr h="502920">
                <a:tc>
                  <a:txBody>
                    <a:bodyPr/>
                    <a:lstStyle/>
                    <a:p>
                      <a:pPr indent="0" marL="0">
                        <a:buNone/>
                      </a:pPr>
                      <a:r>
                        <a:rPr lang="en-US" sz="1500" b="1" dirty="0">
                          <a:solidFill>
                            <a:srgbClr val="14181D"/>
                          </a:solidFill>
                          <a:latin typeface="Calibri" pitchFamily="34" charset="0"/>
                          <a:ea typeface="Calibri" pitchFamily="34" charset="-122"/>
                          <a:cs typeface="Calibri" pitchFamily="34" charset="-120"/>
                        </a:rPr>
                        <a:t>Average cost per repair</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14181D"/>
                          </a:solidFill>
                          <a:latin typeface="Calibri" pitchFamily="34" charset="0"/>
                          <a:ea typeface="Calibri" pitchFamily="34" charset="-122"/>
                          <a:cs typeface="Calibri" pitchFamily="34" charset="-120"/>
                        </a:rPr>
                        <a:t>$561</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0E8FB8"/>
                          </a:solidFill>
                          <a:latin typeface="Calibri" pitchFamily="34" charset="0"/>
                          <a:ea typeface="Calibri" pitchFamily="34" charset="-122"/>
                          <a:cs typeface="Calibri" pitchFamily="34" charset="-120"/>
                        </a:rPr>
                        <a:t>$821</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4181D"/>
                          </a:solidFill>
                          <a:latin typeface="Calibri" pitchFamily="34" charset="0"/>
                          <a:ea typeface="Calibri" pitchFamily="34" charset="-122"/>
                          <a:cs typeface="Calibri" pitchFamily="34" charset="-120"/>
                        </a:rPr>
                        <a:t>9 in 10 urgent remote repairs fixed within</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14181D"/>
                          </a:solidFill>
                          <a:latin typeface="Calibri" pitchFamily="34" charset="0"/>
                          <a:ea typeface="Calibri" pitchFamily="34" charset="-122"/>
                          <a:cs typeface="Calibri" pitchFamily="34" charset="-120"/>
                        </a:rPr>
                        <a:t>62 days</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0E8FB8"/>
                          </a:solidFill>
                          <a:latin typeface="Calibri" pitchFamily="34" charset="0"/>
                          <a:ea typeface="Calibri" pitchFamily="34" charset="-122"/>
                          <a:cs typeface="Calibri" pitchFamily="34" charset="-120"/>
                        </a:rPr>
                        <a:t>3 days</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4181D"/>
                          </a:solidFill>
                          <a:latin typeface="Calibri" pitchFamily="34" charset="0"/>
                          <a:ea typeface="Calibri" pitchFamily="34" charset="-122"/>
                          <a:cs typeface="Calibri" pitchFamily="34" charset="-120"/>
                        </a:rPr>
                        <a:t>Days living with a fault</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14181D"/>
                          </a:solidFill>
                          <a:latin typeface="Calibri" pitchFamily="34" charset="0"/>
                          <a:ea typeface="Calibri" pitchFamily="34" charset="-122"/>
                          <a:cs typeface="Calibri" pitchFamily="34" charset="-120"/>
                        </a:rPr>
                        <a:t>233k</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500" dirty="0">
                          <a:solidFill>
                            <a:srgbClr val="0E8FB8"/>
                          </a:solidFill>
                          <a:latin typeface="Calibri" pitchFamily="34" charset="0"/>
                          <a:ea typeface="Calibri" pitchFamily="34" charset="-122"/>
                          <a:cs typeface="Calibri" pitchFamily="34" charset="-120"/>
                        </a:rPr>
                        <a:t>62k</a:t>
                      </a:r>
                      <a:endParaRPr lang="en-US" sz="1500" dirty="0">
                        <a:latin typeface="Calibri" charset="0"/>
                        <a:ea typeface="Calibri" charset="0"/>
                        <a:cs typeface="Calibri" charset="0"/>
                      </a:endParaRPr>
                    </a:p>
                  </a:txBody>
                  <a:tcPr marL="91440" marR="91440" marT="45720" marB="45720" anchor="ctr">
                    <a:lnL w="12700" cap="flat" cmpd="sng" algn="ctr">
                      <a:solidFill>
                        <a:srgbClr val="DDE1E6"/>
                      </a:solidFill>
                      <a:prstDash val="solid"/>
                      <a:round/>
                      <a:headEnd type="none" w="med" len="med"/>
                      <a:tailEnd type="none" w="med" len="med"/>
                    </a:lnL>
                    <a:lnR w="12700" cap="flat" cmpd="sng" algn="ctr">
                      <a:solidFill>
                        <a:srgbClr val="DDE1E6"/>
                      </a:solidFill>
                      <a:prstDash val="solid"/>
                      <a:round/>
                      <a:headEnd type="none" w="med" len="med"/>
                      <a:tailEnd type="none" w="med" len="med"/>
                    </a:lnR>
                    <a:lnT w="12700" cap="flat" cmpd="sng" algn="ctr">
                      <a:solidFill>
                        <a:srgbClr val="DDE1E6"/>
                      </a:solidFill>
                      <a:prstDash val="solid"/>
                      <a:round/>
                      <a:headEnd type="none" w="med" len="med"/>
                      <a:tailEnd type="none" w="med" len="med"/>
                    </a:lnT>
                    <a:lnB w="1270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verdict-card"/>
          <p:cNvSpPr/>
          <p:nvPr/>
        </p:nvSpPr>
        <p:spPr>
          <a:xfrm>
            <a:off x="6675120" y="3886200"/>
            <a:ext cx="4937760" cy="1691640"/>
          </a:xfrm>
          <a:prstGeom prst="roundRect">
            <a:avLst>
              <a:gd name="adj" fmla="val 5405"/>
            </a:avLst>
          </a:prstGeom>
          <a:solidFill>
            <a:srgbClr val="DFF2F8"/>
          </a:solidFill>
          <a:ln w="12700">
            <a:solidFill>
              <a:srgbClr val="DFF2F8"/>
            </a:solidFill>
            <a:prstDash val="solid"/>
          </a:ln>
        </p:spPr>
      </p:sp>
      <p:sp>
        <p:nvSpPr>
          <p:cNvPr id="6" name="verdict"/>
          <p:cNvSpPr txBox="1"/>
          <p:nvPr/>
        </p:nvSpPr>
        <p:spPr>
          <a:xfrm>
            <a:off x="6903720" y="4069080"/>
            <a:ext cx="4572000" cy="457200"/>
          </a:xfrm>
          <a:prstGeom prst="rect">
            <a:avLst/>
          </a:prstGeom>
          <a:noFill/>
          <a:ln/>
        </p:spPr>
        <p:txBody>
          <a:bodyPr wrap="square" lIns="0" tIns="0" rIns="0" bIns="0" rtlCol="0" anchor="t"/>
          <a:lstStyle/>
          <a:p>
            <a:pPr indent="0" marL="0">
              <a:buNone/>
            </a:pPr>
            <a:r>
              <a:rPr lang="en-US" sz="2000" b="1" dirty="0">
                <a:solidFill>
                  <a:srgbClr val="14181D"/>
                </a:solidFill>
                <a:latin typeface="Calibri" pitchFamily="34" charset="0"/>
                <a:ea typeface="Calibri" pitchFamily="34" charset="-122"/>
                <a:cs typeface="Calibri" pitchFamily="34" charset="-120"/>
              </a:rPr>
              <a:t>+47% cost, 74% fewer days with a fault</a:t>
            </a:r>
            <a:endParaRPr lang="en-US" sz="2000" dirty="0"/>
          </a:p>
        </p:txBody>
      </p:sp>
      <p:sp>
        <p:nvSpPr>
          <p:cNvPr id="7" name="years"/>
          <p:cNvSpPr txBox="1"/>
          <p:nvPr/>
        </p:nvSpPr>
        <p:spPr>
          <a:xfrm>
            <a:off x="6903720" y="4572000"/>
            <a:ext cx="4572000" cy="868680"/>
          </a:xfrm>
          <a:prstGeom prst="rect">
            <a:avLst/>
          </a:prstGeom>
          <a:noFill/>
          <a:ln/>
        </p:spPr>
        <p:txBody>
          <a:bodyPr wrap="square" lIns="0" tIns="0" rIns="0" bIns="0" rtlCol="0" anchor="t"/>
          <a:lstStyle/>
          <a:p>
            <a:pPr indent="0" marL="0">
              <a:buNone/>
            </a:pPr>
            <a:r>
              <a:rPr lang="en-US" sz="1500" dirty="0">
                <a:solidFill>
                  <a:srgbClr val="4A525C"/>
                </a:solidFill>
                <a:latin typeface="Calibri" pitchFamily="34" charset="0"/>
                <a:ea typeface="Calibri" pitchFamily="34" charset="-122"/>
                <a:cs typeface="Calibri" pitchFamily="34" charset="-120"/>
              </a:rPr>
              <a:t>It held in all five random years we tested: 74%–77% fewer fault-days, for 45%–49% more per repair.</a:t>
            </a:r>
            <a:endParaRPr lang="en-US" sz="1500" dirty="0"/>
          </a:p>
        </p:txBody>
      </p:sp>
      <p:sp>
        <p:nvSpPr>
          <p:cNvPr id="8" name="basis"/>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dirty="0">
                <a:solidFill>
                  <a:srgbClr val="6B7480"/>
                </a:solidFill>
                <a:latin typeface="Calibri" pitchFamily="34" charset="0"/>
                <a:ea typeface="Calibri" pitchFamily="34" charset="-122"/>
                <a:cs typeface="Calibri" pitchFamily="34" charset="-120"/>
              </a:rPr>
              <a:t>One simulated year on real NT geography: 37,508 synthetic repair requests, 70 communities, 5 trade hubs.</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Floods: surge crews, not other communities' trades</a:t>
            </a:r>
            <a:endParaRPr lang="en-US" sz="2800" dirty="0"/>
          </a:p>
        </p:txBody>
      </p:sp>
      <p:sp>
        <p:nvSpPr>
          <p:cNvPr id="3" name="resp-hex-0"/>
          <p:cNvSpPr/>
          <p:nvPr/>
        </p:nvSpPr>
        <p:spPr>
          <a:xfrm>
            <a:off x="548640" y="1472184"/>
            <a:ext cx="512064" cy="450616"/>
          </a:xfrm>
          <a:prstGeom prst="hexagon">
            <a:avLst/>
          </a:prstGeom>
          <a:solidFill>
            <a:srgbClr val="E5352B"/>
          </a:solidFill>
          <a:ln w="12700">
            <a:solidFill>
              <a:srgbClr val="E5352B"/>
            </a:solidFill>
            <a:prstDash val="solid"/>
          </a:ln>
        </p:spPr>
      </p:sp>
      <p:sp>
        <p:nvSpPr>
          <p:cNvPr id="4" name="resp-h-0"/>
          <p:cNvSpPr txBox="1"/>
          <p:nvPr/>
        </p:nvSpPr>
        <p:spPr>
          <a:xfrm>
            <a:off x="1280160" y="1417320"/>
            <a:ext cx="566928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Make every house safe within 48 hours</a:t>
            </a:r>
            <a:endParaRPr lang="en-US" sz="1700" dirty="0"/>
          </a:p>
        </p:txBody>
      </p:sp>
      <p:sp>
        <p:nvSpPr>
          <p:cNvPr id="5" name="resp-b-0"/>
          <p:cNvSpPr txBox="1"/>
          <p:nvPr/>
        </p:nvSpPr>
        <p:spPr>
          <a:xfrm>
            <a:off x="1280160" y="1783080"/>
            <a:ext cx="5669280" cy="45720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Maintenance and housing officers check each one; danger is made safe that day</a:t>
            </a:r>
            <a:endParaRPr lang="en-US" sz="1400" dirty="0"/>
          </a:p>
        </p:txBody>
      </p:sp>
      <p:sp>
        <p:nvSpPr>
          <p:cNvPr id="6" name="resp-hex-1"/>
          <p:cNvSpPr/>
          <p:nvPr/>
        </p:nvSpPr>
        <p:spPr>
          <a:xfrm>
            <a:off x="548640" y="2459736"/>
            <a:ext cx="512064" cy="450616"/>
          </a:xfrm>
          <a:prstGeom prst="hexagon">
            <a:avLst/>
          </a:prstGeom>
          <a:solidFill>
            <a:srgbClr val="0E8FB8"/>
          </a:solidFill>
          <a:ln w="12700">
            <a:solidFill>
              <a:srgbClr val="0E8FB8"/>
            </a:solidFill>
            <a:prstDash val="solid"/>
          </a:ln>
        </p:spPr>
      </p:sp>
      <p:sp>
        <p:nvSpPr>
          <p:cNvPr id="7" name="resp-h-1"/>
          <p:cNvSpPr txBox="1"/>
          <p:nvPr/>
        </p:nvSpPr>
        <p:spPr>
          <a:xfrm>
            <a:off x="1280160" y="2404872"/>
            <a:ext cx="566928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One team, one trip</a:t>
            </a:r>
            <a:endParaRPr lang="en-US" sz="1700" dirty="0"/>
          </a:p>
        </p:txBody>
      </p:sp>
      <p:sp>
        <p:nvSpPr>
          <p:cNvPr id="8" name="resp-b-1"/>
          <p:cNvSpPr txBox="1"/>
          <p:nvPr/>
        </p:nvSpPr>
        <p:spPr>
          <a:xfrm>
            <a:off x="1280160" y="2770632"/>
            <a:ext cx="5669280" cy="45720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Plumber, electrician, carpenter and maintenance share the vehicle or the plane</a:t>
            </a:r>
            <a:endParaRPr lang="en-US" sz="1400" dirty="0"/>
          </a:p>
        </p:txBody>
      </p:sp>
      <p:sp>
        <p:nvSpPr>
          <p:cNvPr id="9" name="resp-hex-2"/>
          <p:cNvSpPr/>
          <p:nvPr/>
        </p:nvSpPr>
        <p:spPr>
          <a:xfrm>
            <a:off x="548640" y="3447288"/>
            <a:ext cx="512064" cy="450616"/>
          </a:xfrm>
          <a:prstGeom prst="hexagon">
            <a:avLst/>
          </a:prstGeom>
          <a:solidFill>
            <a:srgbClr val="6E56CF"/>
          </a:solidFill>
          <a:ln w="12700">
            <a:solidFill>
              <a:srgbClr val="6E56CF"/>
            </a:solidFill>
            <a:prstDash val="solid"/>
          </a:ln>
        </p:spPr>
      </p:sp>
      <p:sp>
        <p:nvSpPr>
          <p:cNvPr id="10" name="resp-h-2"/>
          <p:cNvSpPr txBox="1"/>
          <p:nvPr/>
        </p:nvSpPr>
        <p:spPr>
          <a:xfrm>
            <a:off x="1280160" y="3392424"/>
            <a:ext cx="566928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Surge crews from the contractor panel</a:t>
            </a:r>
            <a:endParaRPr lang="en-US" sz="1700" dirty="0"/>
          </a:p>
        </p:txBody>
      </p:sp>
      <p:sp>
        <p:nvSpPr>
          <p:cNvPr id="11" name="resp-b-2"/>
          <p:cNvSpPr txBox="1"/>
          <p:nvPr/>
        </p:nvSpPr>
        <p:spPr>
          <a:xfrm>
            <a:off x="1280160" y="3758184"/>
            <a:ext cx="5669280" cy="45720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Local Aboriginal Business Enterprises first; a named person signs the request</a:t>
            </a:r>
            <a:endParaRPr lang="en-US" sz="1400" dirty="0"/>
          </a:p>
        </p:txBody>
      </p:sp>
      <p:sp>
        <p:nvSpPr>
          <p:cNvPr id="12" name="resp-hex-3"/>
          <p:cNvSpPr/>
          <p:nvPr/>
        </p:nvSpPr>
        <p:spPr>
          <a:xfrm>
            <a:off x="548640" y="4434840"/>
            <a:ext cx="512064" cy="450616"/>
          </a:xfrm>
          <a:prstGeom prst="hexagon">
            <a:avLst/>
          </a:prstGeom>
          <a:solidFill>
            <a:srgbClr val="1F9D4C"/>
          </a:solidFill>
          <a:ln w="12700">
            <a:solidFill>
              <a:srgbClr val="1F9D4C"/>
            </a:solidFill>
            <a:prstDash val="solid"/>
          </a:ln>
        </p:spPr>
      </p:sp>
      <p:sp>
        <p:nvSpPr>
          <p:cNvPr id="13" name="resp-h-3"/>
          <p:cNvSpPr txBox="1"/>
          <p:nvPr/>
        </p:nvSpPr>
        <p:spPr>
          <a:xfrm>
            <a:off x="1280160" y="4379976"/>
            <a:ext cx="566928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Tell every household</a:t>
            </a:r>
            <a:endParaRPr lang="en-US" sz="1700" dirty="0"/>
          </a:p>
        </p:txBody>
      </p:sp>
      <p:sp>
        <p:nvSpPr>
          <p:cNvPr id="14" name="resp-b-3"/>
          <p:cNvSpPr txBox="1"/>
          <p:nvPr/>
        </p:nvSpPr>
        <p:spPr>
          <a:xfrm>
            <a:off x="1280160" y="4745736"/>
            <a:ext cx="5669280" cy="45720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Hotline, housing officer, free interpreters; every report tagged to the event</a:t>
            </a:r>
            <a:endParaRPr lang="en-US" sz="1400" dirty="0"/>
          </a:p>
        </p:txBody>
      </p:sp>
      <p:sp>
        <p:nvSpPr>
          <p:cNvPr id="15" name="flood-card"/>
          <p:cNvSpPr/>
          <p:nvPr/>
        </p:nvSpPr>
        <p:spPr>
          <a:xfrm>
            <a:off x="7223760" y="1417320"/>
            <a:ext cx="4389120" cy="4343400"/>
          </a:xfrm>
          <a:prstGeom prst="roundRect">
            <a:avLst>
              <a:gd name="adj" fmla="val 2105"/>
            </a:avLst>
          </a:prstGeom>
          <a:solidFill>
            <a:srgbClr val="F1F3F5"/>
          </a:solidFill>
          <a:ln w="12700">
            <a:solidFill>
              <a:srgbClr val="F1F3F5"/>
            </a:solidFill>
            <a:prstDash val="solid"/>
          </a:ln>
        </p:spPr>
      </p:sp>
      <p:sp>
        <p:nvSpPr>
          <p:cNvPr id="16" name="flood-h"/>
          <p:cNvSpPr txBox="1"/>
          <p:nvPr/>
        </p:nvSpPr>
        <p:spPr>
          <a:xfrm>
            <a:off x="7452360" y="1554480"/>
            <a:ext cx="3931920" cy="365760"/>
          </a:xfrm>
          <a:prstGeom prst="rect">
            <a:avLst/>
          </a:prstGeom>
          <a:noFill/>
          <a:ln/>
        </p:spPr>
        <p:txBody>
          <a:bodyPr wrap="square" lIns="0" tIns="0" rIns="0" bIns="0" rtlCol="0" anchor="t"/>
          <a:lstStyle/>
          <a:p>
            <a:pPr indent="0" marL="0">
              <a:buNone/>
            </a:pPr>
            <a:r>
              <a:rPr lang="en-US" sz="1400" b="1" dirty="0">
                <a:solidFill>
                  <a:srgbClr val="14181D"/>
                </a:solidFill>
                <a:latin typeface="Calibri" pitchFamily="34" charset="0"/>
                <a:ea typeface="Calibri" pitchFamily="34" charset="-122"/>
                <a:cs typeface="Calibri" pitchFamily="34" charset="-120"/>
              </a:rPr>
              <a:t>Modelled flood: Kalkarindji, Daguragu, Pigeon Hole</a:t>
            </a:r>
            <a:endParaRPr lang="en-US" sz="1400" dirty="0"/>
          </a:p>
        </p:txBody>
      </p:sp>
      <p:sp>
        <p:nvSpPr>
          <p:cNvPr id="17" name="flood-sub"/>
          <p:cNvSpPr txBox="1"/>
          <p:nvPr/>
        </p:nvSpPr>
        <p:spPr>
          <a:xfrm>
            <a:off x="7452360" y="1920240"/>
            <a:ext cx="3931920" cy="640080"/>
          </a:xfrm>
          <a:prstGeom prst="rect">
            <a:avLst/>
          </a:prstGeom>
          <a:noFill/>
          <a:ln/>
        </p:spPr>
        <p:txBody>
          <a:bodyPr wrap="square" lIns="0" tIns="0" rIns="0" bIns="0" rtlCol="0" anchor="t"/>
          <a:lstStyle/>
          <a:p>
            <a:pPr indent="0" marL="0">
              <a:buNone/>
            </a:pPr>
            <a:r>
              <a:rPr lang="en-US" sz="1300" dirty="0">
                <a:solidFill>
                  <a:srgbClr val="4A525C"/>
                </a:solidFill>
                <a:latin typeface="Calibri" pitchFamily="34" charset="0"/>
                <a:ea typeface="Calibri" pitchFamily="34" charset="-122"/>
                <a:cs typeface="Calibri" pitchFamily="34" charset="-120"/>
              </a:rPr>
              <a:t>94 repairs, roads cut for 4 weeks (like January 2023). 9 in 10 urgent repairs fixed within:</a:t>
            </a:r>
            <a:endParaRPr lang="en-US" sz="1300" dirty="0"/>
          </a:p>
        </p:txBody>
      </p:sp>
      <p:sp>
        <p:nvSpPr>
          <p:cNvPr id="18" name="fl-event-l"/>
          <p:cNvSpPr txBox="1"/>
          <p:nvPr/>
        </p:nvSpPr>
        <p:spPr>
          <a:xfrm>
            <a:off x="7452360" y="2606040"/>
            <a:ext cx="3931920" cy="320040"/>
          </a:xfrm>
          <a:prstGeom prst="rect">
            <a:avLst/>
          </a:prstGeom>
          <a:noFill/>
          <a:ln/>
        </p:spPr>
        <p:txBody>
          <a:bodyPr wrap="square" lIns="0" tIns="0" rIns="0" bIns="0" rtlCol="0" anchor="t"/>
          <a:lstStyle/>
          <a:p>
            <a:pPr indent="0" marL="0">
              <a:buNone/>
            </a:pPr>
            <a:r>
              <a:rPr lang="en-US" sz="1400" b="1" dirty="0">
                <a:solidFill>
                  <a:srgbClr val="14181D"/>
                </a:solidFill>
                <a:latin typeface="Calibri" pitchFamily="34" charset="0"/>
                <a:ea typeface="Calibri" pitchFamily="34" charset="-122"/>
                <a:cs typeface="Calibri" pitchFamily="34" charset="-120"/>
              </a:rPr>
              <a:t>In the flooded communities</a:t>
            </a:r>
            <a:endParaRPr lang="en-US" sz="1400" dirty="0"/>
          </a:p>
        </p:txBody>
      </p:sp>
      <p:sp>
        <p:nvSpPr>
          <p:cNvPr id="19" name="fl-event-n0"/>
          <p:cNvSpPr txBox="1"/>
          <p:nvPr/>
        </p:nvSpPr>
        <p:spPr>
          <a:xfrm>
            <a:off x="7452360" y="2935224"/>
            <a:ext cx="1920240" cy="457200"/>
          </a:xfrm>
          <a:prstGeom prst="rect">
            <a:avLst/>
          </a:prstGeom>
          <a:noFill/>
          <a:ln/>
        </p:spPr>
        <p:txBody>
          <a:bodyPr wrap="square" lIns="0" tIns="0" rIns="0" bIns="0" rtlCol="0" anchor="t"/>
          <a:lstStyle/>
          <a:p>
            <a:pPr indent="0" marL="0">
              <a:buNone/>
            </a:pPr>
            <a:r>
              <a:rPr lang="en-US" sz="2600" b="1" dirty="0">
                <a:solidFill>
                  <a:srgbClr val="D97706"/>
                </a:solidFill>
                <a:latin typeface="Arial" pitchFamily="34" charset="0"/>
                <a:ea typeface="Arial" pitchFamily="34" charset="-122"/>
                <a:cs typeface="Arial" pitchFamily="34" charset="-120"/>
              </a:rPr>
              <a:t>14 days</a:t>
            </a:r>
            <a:endParaRPr lang="en-US" sz="2600" dirty="0"/>
          </a:p>
        </p:txBody>
      </p:sp>
      <p:sp>
        <p:nvSpPr>
          <p:cNvPr id="20" name="fl-event-u0"/>
          <p:cNvSpPr txBox="1"/>
          <p:nvPr/>
        </p:nvSpPr>
        <p:spPr>
          <a:xfrm>
            <a:off x="7452360" y="3374136"/>
            <a:ext cx="1920240"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usual crews</a:t>
            </a:r>
            <a:endParaRPr lang="en-US" sz="1200" dirty="0"/>
          </a:p>
        </p:txBody>
      </p:sp>
      <p:sp>
        <p:nvSpPr>
          <p:cNvPr id="21" name="fl-event-n1"/>
          <p:cNvSpPr txBox="1"/>
          <p:nvPr/>
        </p:nvSpPr>
        <p:spPr>
          <a:xfrm>
            <a:off x="9464040" y="2935224"/>
            <a:ext cx="1920240" cy="457200"/>
          </a:xfrm>
          <a:prstGeom prst="rect">
            <a:avLst/>
          </a:prstGeom>
          <a:noFill/>
          <a:ln/>
        </p:spPr>
        <p:txBody>
          <a:bodyPr wrap="square" lIns="0" tIns="0" rIns="0" bIns="0" rtlCol="0" anchor="t"/>
          <a:lstStyle/>
          <a:p>
            <a:pPr indent="0" marL="0">
              <a:buNone/>
            </a:pPr>
            <a:r>
              <a:rPr lang="en-US" sz="2600" b="1" dirty="0">
                <a:solidFill>
                  <a:srgbClr val="1F9D4C"/>
                </a:solidFill>
                <a:latin typeface="Arial" pitchFamily="34" charset="0"/>
                <a:ea typeface="Arial" pitchFamily="34" charset="-122"/>
                <a:cs typeface="Arial" pitchFamily="34" charset="-120"/>
              </a:rPr>
              <a:t>3 days</a:t>
            </a:r>
            <a:endParaRPr lang="en-US" sz="2600" dirty="0"/>
          </a:p>
        </p:txBody>
      </p:sp>
      <p:sp>
        <p:nvSpPr>
          <p:cNvPr id="22" name="fl-event-u1"/>
          <p:cNvSpPr txBox="1"/>
          <p:nvPr/>
        </p:nvSpPr>
        <p:spPr>
          <a:xfrm>
            <a:off x="9464040" y="3374136"/>
            <a:ext cx="1920240"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surge crews</a:t>
            </a:r>
            <a:endParaRPr lang="en-US" sz="1200" dirty="0"/>
          </a:p>
        </p:txBody>
      </p:sp>
      <p:sp>
        <p:nvSpPr>
          <p:cNvPr id="23" name="fl-other-l"/>
          <p:cNvSpPr txBox="1"/>
          <p:nvPr/>
        </p:nvSpPr>
        <p:spPr>
          <a:xfrm>
            <a:off x="7452360" y="3749040"/>
            <a:ext cx="3931920" cy="320040"/>
          </a:xfrm>
          <a:prstGeom prst="rect">
            <a:avLst/>
          </a:prstGeom>
          <a:noFill/>
          <a:ln/>
        </p:spPr>
        <p:txBody>
          <a:bodyPr wrap="square" lIns="0" tIns="0" rIns="0" bIns="0" rtlCol="0" anchor="t"/>
          <a:lstStyle/>
          <a:p>
            <a:pPr indent="0" marL="0">
              <a:buNone/>
            </a:pPr>
            <a:r>
              <a:rPr lang="en-US" sz="1400" b="1" dirty="0">
                <a:solidFill>
                  <a:srgbClr val="14181D"/>
                </a:solidFill>
                <a:latin typeface="Calibri" pitchFamily="34" charset="0"/>
                <a:ea typeface="Calibri" pitchFamily="34" charset="-122"/>
                <a:cs typeface="Calibri" pitchFamily="34" charset="-120"/>
              </a:rPr>
              <a:t>Everywhere else in the hub (3 with no flood)</a:t>
            </a:r>
            <a:endParaRPr lang="en-US" sz="1400" dirty="0"/>
          </a:p>
        </p:txBody>
      </p:sp>
      <p:sp>
        <p:nvSpPr>
          <p:cNvPr id="24" name="fl-other-n0"/>
          <p:cNvSpPr txBox="1"/>
          <p:nvPr/>
        </p:nvSpPr>
        <p:spPr>
          <a:xfrm>
            <a:off x="7452360" y="4078224"/>
            <a:ext cx="1920240" cy="457200"/>
          </a:xfrm>
          <a:prstGeom prst="rect">
            <a:avLst/>
          </a:prstGeom>
          <a:noFill/>
          <a:ln/>
        </p:spPr>
        <p:txBody>
          <a:bodyPr wrap="square" lIns="0" tIns="0" rIns="0" bIns="0" rtlCol="0" anchor="t"/>
          <a:lstStyle/>
          <a:p>
            <a:pPr indent="0" marL="0">
              <a:buNone/>
            </a:pPr>
            <a:r>
              <a:rPr lang="en-US" sz="2600" b="1" dirty="0">
                <a:solidFill>
                  <a:srgbClr val="D97706"/>
                </a:solidFill>
                <a:latin typeface="Arial" pitchFamily="34" charset="0"/>
                <a:ea typeface="Arial" pitchFamily="34" charset="-122"/>
                <a:cs typeface="Arial" pitchFamily="34" charset="-120"/>
              </a:rPr>
              <a:t>10 days</a:t>
            </a:r>
            <a:endParaRPr lang="en-US" sz="2600" dirty="0"/>
          </a:p>
        </p:txBody>
      </p:sp>
      <p:sp>
        <p:nvSpPr>
          <p:cNvPr id="25" name="fl-other-u0"/>
          <p:cNvSpPr txBox="1"/>
          <p:nvPr/>
        </p:nvSpPr>
        <p:spPr>
          <a:xfrm>
            <a:off x="7452360" y="4517136"/>
            <a:ext cx="1920240"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usual crews</a:t>
            </a:r>
            <a:endParaRPr lang="en-US" sz="1200" dirty="0"/>
          </a:p>
        </p:txBody>
      </p:sp>
      <p:sp>
        <p:nvSpPr>
          <p:cNvPr id="26" name="fl-other-n1"/>
          <p:cNvSpPr txBox="1"/>
          <p:nvPr/>
        </p:nvSpPr>
        <p:spPr>
          <a:xfrm>
            <a:off x="9464040" y="4078224"/>
            <a:ext cx="1920240" cy="457200"/>
          </a:xfrm>
          <a:prstGeom prst="rect">
            <a:avLst/>
          </a:prstGeom>
          <a:noFill/>
          <a:ln/>
        </p:spPr>
        <p:txBody>
          <a:bodyPr wrap="square" lIns="0" tIns="0" rIns="0" bIns="0" rtlCol="0" anchor="t"/>
          <a:lstStyle/>
          <a:p>
            <a:pPr indent="0" marL="0">
              <a:buNone/>
            </a:pPr>
            <a:r>
              <a:rPr lang="en-US" sz="2600" b="1" dirty="0">
                <a:solidFill>
                  <a:srgbClr val="1F9D4C"/>
                </a:solidFill>
                <a:latin typeface="Arial" pitchFamily="34" charset="0"/>
                <a:ea typeface="Arial" pitchFamily="34" charset="-122"/>
                <a:cs typeface="Arial" pitchFamily="34" charset="-120"/>
              </a:rPr>
              <a:t>3 days</a:t>
            </a:r>
            <a:endParaRPr lang="en-US" sz="2600" dirty="0"/>
          </a:p>
        </p:txBody>
      </p:sp>
      <p:sp>
        <p:nvSpPr>
          <p:cNvPr id="27" name="fl-other-u1"/>
          <p:cNvSpPr txBox="1"/>
          <p:nvPr/>
        </p:nvSpPr>
        <p:spPr>
          <a:xfrm>
            <a:off x="9464040" y="4517136"/>
            <a:ext cx="1920240" cy="274320"/>
          </a:xfrm>
          <a:prstGeom prst="rect">
            <a:avLst/>
          </a:prstGeom>
          <a:noFill/>
          <a:ln/>
        </p:spPr>
        <p:txBody>
          <a:bodyPr wrap="square" lIns="0" tIns="0" rIns="0" bIns="0" rtlCol="0" anchor="t"/>
          <a:lstStyle/>
          <a:p>
            <a:pPr indent="0" marL="0">
              <a:buNone/>
            </a:pPr>
            <a:r>
              <a:rPr lang="en-US" sz="1200" dirty="0">
                <a:solidFill>
                  <a:srgbClr val="6B7480"/>
                </a:solidFill>
                <a:latin typeface="Calibri" pitchFamily="34" charset="0"/>
                <a:ea typeface="Calibri" pitchFamily="34" charset="-122"/>
                <a:cs typeface="Calibri" pitchFamily="34" charset="-120"/>
              </a:rPr>
              <a:t>surge crews</a:t>
            </a:r>
            <a:endParaRPr lang="en-US" sz="1200" dirty="0"/>
          </a:p>
        </p:txBody>
      </p:sp>
      <p:sp>
        <p:nvSpPr>
          <p:cNvPr id="28" name="fl-safe"/>
          <p:cNvSpPr txBox="1"/>
          <p:nvPr/>
        </p:nvSpPr>
        <p:spPr>
          <a:xfrm>
            <a:off x="7452360" y="5029200"/>
            <a:ext cx="3931920" cy="640080"/>
          </a:xfrm>
          <a:prstGeom prst="rect">
            <a:avLst/>
          </a:prstGeom>
          <a:noFill/>
          <a:ln/>
        </p:spPr>
        <p:txBody>
          <a:bodyPr wrap="square" lIns="0" tIns="0" rIns="0" bIns="0" rtlCol="0" anchor="t"/>
          <a:lstStyle/>
          <a:p>
            <a:pPr indent="0" marL="0">
              <a:buNone/>
            </a:pPr>
            <a:r>
              <a:rPr lang="en-US" sz="1300" i="1" dirty="0">
                <a:solidFill>
                  <a:srgbClr val="4A525C"/>
                </a:solidFill>
                <a:latin typeface="Calibri" pitchFamily="34" charset="0"/>
                <a:ea typeface="Calibri" pitchFamily="34" charset="-122"/>
                <a:cs typeface="Calibri" pitchFamily="34" charset="-120"/>
              </a:rPr>
              <a:t>Dangerous faults the reader recognised were made safe within a day (we assume a maintenance officer on hand).</a:t>
            </a:r>
            <a:endParaRPr lang="en-US" sz="1300" dirty="0"/>
          </a:p>
        </p:txBody>
      </p:sp>
      <p:sp>
        <p:nvSpPr>
          <p:cNvPr id="29" name="fl-foot"/>
          <p:cNvSpPr txBox="1"/>
          <p:nvPr/>
        </p:nvSpPr>
        <p:spPr>
          <a:xfrm>
            <a:off x="548640" y="5532120"/>
            <a:ext cx="6400800" cy="685800"/>
          </a:xfrm>
          <a:prstGeom prst="rect">
            <a:avLst/>
          </a:prstGeom>
          <a:noFill/>
          <a:ln/>
        </p:spPr>
        <p:txBody>
          <a:bodyPr wrap="square" lIns="0" tIns="0" rIns="0" bIns="0" rtlCol="0" anchor="t"/>
          <a:lstStyle/>
          <a:p>
            <a:pPr indent="0" marL="0">
              <a:buNone/>
            </a:pPr>
            <a:r>
              <a:rPr lang="en-US" sz="1350" i="1" dirty="0">
                <a:solidFill>
                  <a:srgbClr val="4A525C"/>
                </a:solidFill>
                <a:latin typeface="Calibri" pitchFamily="34" charset="0"/>
                <a:ea typeface="Calibri" pitchFamily="34" charset="-122"/>
                <a:cs typeface="Calibri" pitchFamily="34" charset="-120"/>
              </a:rPr>
              <a:t>Live NT Road Report and Bureau of Meteorology readings prompt the coordinator: a road closure, heavy rain (“Declare a flood?”) or heat for Tier 1 homes. A person decides.</a:t>
            </a:r>
            <a:endParaRPr lang="en-US" sz="13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t"/>
          <a:lstStyle/>
          <a:p>
            <a:pPr algn="l" indent="0" marL="0">
              <a:buNone/>
            </a:pPr>
            <a:r>
              <a:rPr lang="en-US" sz="3000" b="1" dirty="0">
                <a:solidFill>
                  <a:schemeClr val="bg1"/>
                </a:solidFill>
                <a:latin typeface="Arial" pitchFamily="34" charset="0"/>
                <a:ea typeface="Arial" pitchFamily="34" charset="-122"/>
                <a:cs typeface="Arial" pitchFamily="34" charset="-120"/>
              </a:rPr>
              <a:t>Live now, on a real satellite map, and on any phone</a:t>
            </a:r>
            <a:endParaRPr lang="en-US" sz="3000" dirty="0"/>
          </a:p>
        </p:txBody>
      </p:sp>
      <p:pic>
        <p:nvPicPr>
          <p:cNvPr id="3" name="shot-coord" descr="shot-coord">    </p:cNvPr>
          <p:cNvPicPr>
            <a:picLocks noChangeAspect="1"/>
          </p:cNvPicPr>
          <p:nvPr/>
        </p:nvPicPr>
        <p:blipFill>
          <a:blip r:embed="rId1"/>
          <a:stretch>
            <a:fillRect/>
          </a:stretch>
        </p:blipFill>
        <p:spPr>
          <a:xfrm>
            <a:off x="548640" y="1280160"/>
            <a:ext cx="6949440" cy="4343400"/>
          </a:xfrm>
          <a:prstGeom prst="rect">
            <a:avLst/>
          </a:prstGeom>
        </p:spPr>
      </p:pic>
      <p:pic>
        <p:nvPicPr>
          <p:cNvPr id="4" name="shot-coord_phone" descr="shot-coord_phone">    </p:cNvPr>
          <p:cNvPicPr>
            <a:picLocks noChangeAspect="1"/>
          </p:cNvPicPr>
          <p:nvPr/>
        </p:nvPicPr>
        <p:blipFill>
          <a:blip r:embed="rId2"/>
          <a:stretch>
            <a:fillRect/>
          </a:stretch>
        </p:blipFill>
        <p:spPr>
          <a:xfrm>
            <a:off x="7818120" y="1280160"/>
            <a:ext cx="1188720" cy="2569464"/>
          </a:xfrm>
          <a:prstGeom prst="rect">
            <a:avLst/>
          </a:prstGeom>
        </p:spPr>
      </p:pic>
      <p:sp>
        <p:nvSpPr>
          <p:cNvPr id="5" name="shot-l-0"/>
          <p:cNvSpPr txBox="1"/>
          <p:nvPr/>
        </p:nvSpPr>
        <p:spPr>
          <a:xfrm>
            <a:off x="7726680" y="3931920"/>
            <a:ext cx="1371600" cy="274320"/>
          </a:xfrm>
          <a:prstGeom prst="rect">
            <a:avLst/>
          </a:prstGeom>
          <a:noFill/>
          <a:ln/>
        </p:spPr>
        <p:txBody>
          <a:bodyPr wrap="square" lIns="0" tIns="0" rIns="0" bIns="0" rtlCol="0" anchor="t"/>
          <a:lstStyle/>
          <a:p>
            <a:pPr algn="ctr" indent="0" marL="0">
              <a:buNone/>
            </a:pPr>
            <a:r>
              <a:rPr lang="en-US" sz="1200" dirty="0">
                <a:solidFill>
                  <a:srgbClr val="C9CFD6"/>
                </a:solidFill>
                <a:latin typeface="Calibri" pitchFamily="34" charset="0"/>
                <a:ea typeface="Calibri" pitchFamily="34" charset="-122"/>
                <a:cs typeface="Calibri" pitchFamily="34" charset="-120"/>
              </a:rPr>
              <a:t>Coordinator</a:t>
            </a:r>
            <a:endParaRPr lang="en-US" sz="1200" dirty="0"/>
          </a:p>
        </p:txBody>
      </p:sp>
      <p:pic>
        <p:nvPicPr>
          <p:cNvPr id="6" name="shot-field_phone" descr="shot-field_phone">    </p:cNvPr>
          <p:cNvPicPr>
            <a:picLocks noChangeAspect="1"/>
          </p:cNvPicPr>
          <p:nvPr/>
        </p:nvPicPr>
        <p:blipFill>
          <a:blip r:embed="rId3"/>
          <a:stretch>
            <a:fillRect/>
          </a:stretch>
        </p:blipFill>
        <p:spPr>
          <a:xfrm>
            <a:off x="9116568" y="1280160"/>
            <a:ext cx="1188720" cy="2569464"/>
          </a:xfrm>
          <a:prstGeom prst="rect">
            <a:avLst/>
          </a:prstGeom>
        </p:spPr>
      </p:pic>
      <p:sp>
        <p:nvSpPr>
          <p:cNvPr id="7" name="shot-l-1"/>
          <p:cNvSpPr txBox="1"/>
          <p:nvPr/>
        </p:nvSpPr>
        <p:spPr>
          <a:xfrm>
            <a:off x="9025128" y="3931920"/>
            <a:ext cx="1371600" cy="274320"/>
          </a:xfrm>
          <a:prstGeom prst="rect">
            <a:avLst/>
          </a:prstGeom>
          <a:noFill/>
          <a:ln/>
        </p:spPr>
        <p:txBody>
          <a:bodyPr wrap="square" lIns="0" tIns="0" rIns="0" bIns="0" rtlCol="0" anchor="t"/>
          <a:lstStyle/>
          <a:p>
            <a:pPr algn="ctr" indent="0" marL="0">
              <a:buNone/>
            </a:pPr>
            <a:r>
              <a:rPr lang="en-US" sz="1200" dirty="0">
                <a:solidFill>
                  <a:srgbClr val="C9CFD6"/>
                </a:solidFill>
                <a:latin typeface="Calibri" pitchFamily="34" charset="0"/>
                <a:ea typeface="Calibri" pitchFamily="34" charset="-122"/>
                <a:cs typeface="Calibri" pitchFamily="34" charset="-120"/>
              </a:rPr>
              <a:t>Tradesperson</a:t>
            </a:r>
            <a:endParaRPr lang="en-US" sz="1200" dirty="0"/>
          </a:p>
        </p:txBody>
      </p:sp>
      <p:pic>
        <p:nvPicPr>
          <p:cNvPr id="8" name="shot-tenant_phone" descr="shot-tenant_phone">    </p:cNvPr>
          <p:cNvPicPr>
            <a:picLocks noChangeAspect="1"/>
          </p:cNvPicPr>
          <p:nvPr/>
        </p:nvPicPr>
        <p:blipFill>
          <a:blip r:embed="rId4"/>
          <a:stretch>
            <a:fillRect/>
          </a:stretch>
        </p:blipFill>
        <p:spPr>
          <a:xfrm>
            <a:off x="10415016" y="1280160"/>
            <a:ext cx="1188720" cy="2569464"/>
          </a:xfrm>
          <a:prstGeom prst="rect">
            <a:avLst/>
          </a:prstGeom>
        </p:spPr>
      </p:pic>
      <p:sp>
        <p:nvSpPr>
          <p:cNvPr id="9" name="shot-l-2"/>
          <p:cNvSpPr txBox="1"/>
          <p:nvPr/>
        </p:nvSpPr>
        <p:spPr>
          <a:xfrm>
            <a:off x="10323576" y="3931920"/>
            <a:ext cx="1371600" cy="274320"/>
          </a:xfrm>
          <a:prstGeom prst="rect">
            <a:avLst/>
          </a:prstGeom>
          <a:noFill/>
          <a:ln/>
        </p:spPr>
        <p:txBody>
          <a:bodyPr wrap="square" lIns="0" tIns="0" rIns="0" bIns="0" rtlCol="0" anchor="t"/>
          <a:lstStyle/>
          <a:p>
            <a:pPr algn="ctr" indent="0" marL="0">
              <a:buNone/>
            </a:pPr>
            <a:r>
              <a:rPr lang="en-US" sz="1200" dirty="0">
                <a:solidFill>
                  <a:srgbClr val="C9CFD6"/>
                </a:solidFill>
                <a:latin typeface="Calibri" pitchFamily="34" charset="0"/>
                <a:ea typeface="Calibri" pitchFamily="34" charset="-122"/>
                <a:cs typeface="Calibri" pitchFamily="34" charset="-120"/>
              </a:rPr>
              <a:t>Tenant</a:t>
            </a:r>
            <a:endParaRPr lang="en-US" sz="1200" dirty="0"/>
          </a:p>
        </p:txBody>
      </p:sp>
      <p:sp>
        <p:nvSpPr>
          <p:cNvPr id="10" name="feat-0"/>
          <p:cNvSpPr txBox="1"/>
          <p:nvPr/>
        </p:nvSpPr>
        <p:spPr>
          <a:xfrm>
            <a:off x="7818120" y="4434840"/>
            <a:ext cx="3840480" cy="548640"/>
          </a:xfrm>
          <a:prstGeom prst="rect">
            <a:avLst/>
          </a:prstGeom>
          <a:noFill/>
          <a:ln/>
        </p:spPr>
        <p:txBody>
          <a:bodyPr wrap="square" lIns="0" tIns="0" rIns="0" bIns="0" rtlCol="0" anchor="t"/>
          <a:lstStyle/>
          <a:p>
            <a:pPr marL="342900" indent="-342900">
              <a:buSzPct val="100000"/>
              <a:buChar char="•"/>
            </a:pPr>
            <a:r>
              <a:rPr lang="en-US" sz="1300" dirty="0">
                <a:solidFill>
                  <a:srgbClr val="E3E7EB"/>
                </a:solidFill>
                <a:latin typeface="Calibri" pitchFamily="34" charset="0"/>
                <a:ea typeface="Calibri" pitchFamily="34" charset="-122"/>
                <a:cs typeface="Calibri" pitchFamily="34" charset="-120"/>
              </a:rPr>
              <a:t>Anyone the tenant tells can log a report, with the same questions</a:t>
            </a:r>
            <a:endParaRPr lang="en-US" sz="1300" dirty="0"/>
          </a:p>
        </p:txBody>
      </p:sp>
      <p:sp>
        <p:nvSpPr>
          <p:cNvPr id="11" name="feat-1"/>
          <p:cNvSpPr txBox="1"/>
          <p:nvPr/>
        </p:nvSpPr>
        <p:spPr>
          <a:xfrm>
            <a:off x="7818120" y="5001768"/>
            <a:ext cx="3840480" cy="548640"/>
          </a:xfrm>
          <a:prstGeom prst="rect">
            <a:avLst/>
          </a:prstGeom>
          <a:noFill/>
          <a:ln/>
        </p:spPr>
        <p:txBody>
          <a:bodyPr wrap="square" lIns="0" tIns="0" rIns="0" bIns="0" rtlCol="0" anchor="t"/>
          <a:lstStyle/>
          <a:p>
            <a:pPr marL="342900" indent="-342900">
              <a:buSzPct val="100000"/>
              <a:buChar char="•"/>
            </a:pPr>
            <a:r>
              <a:rPr lang="en-US" sz="1300" dirty="0">
                <a:solidFill>
                  <a:srgbClr val="E3E7EB"/>
                </a:solidFill>
                <a:latin typeface="Calibri" pitchFamily="34" charset="0"/>
                <a:ea typeface="Calibri" pitchFamily="34" charset="-122"/>
                <a:cs typeface="Calibri" pitchFamily="34" charset="-120"/>
              </a:rPr>
              <a:t>Works without signal: updates are saved on the phone and sent later</a:t>
            </a:r>
            <a:endParaRPr lang="en-US" sz="1300" dirty="0"/>
          </a:p>
        </p:txBody>
      </p:sp>
      <p:sp>
        <p:nvSpPr>
          <p:cNvPr id="12" name="feat-2"/>
          <p:cNvSpPr txBox="1"/>
          <p:nvPr/>
        </p:nvSpPr>
        <p:spPr>
          <a:xfrm>
            <a:off x="7818120" y="5568696"/>
            <a:ext cx="3840480" cy="548640"/>
          </a:xfrm>
          <a:prstGeom prst="rect">
            <a:avLst/>
          </a:prstGeom>
          <a:noFill/>
          <a:ln/>
        </p:spPr>
        <p:txBody>
          <a:bodyPr wrap="square" lIns="0" tIns="0" rIns="0" bIns="0" rtlCol="0" anchor="t"/>
          <a:lstStyle/>
          <a:p>
            <a:pPr marL="342900" indent="-342900">
              <a:buSzPct val="100000"/>
              <a:buChar char="•"/>
            </a:pPr>
            <a:r>
              <a:rPr lang="en-US" sz="1300" dirty="0">
                <a:solidFill>
                  <a:srgbClr val="E3E7EB"/>
                </a:solidFill>
                <a:latin typeface="Calibri" pitchFamily="34" charset="0"/>
                <a:ea typeface="Calibri" pitchFamily="34" charset="-122"/>
                <a:cs typeface="Calibri" pitchFamily="34" charset="-120"/>
              </a:rPr>
              <a:t>Plain words, WCAG 2.2 AA checked, PDFs, no confidence percentages</a:t>
            </a:r>
            <a:endParaRPr lang="en-US" sz="1300" dirty="0"/>
          </a:p>
        </p:txBody>
      </p:sp>
      <p:sp>
        <p:nvSpPr>
          <p:cNvPr id="13" name="shot-url"/>
          <p:cNvSpPr txBox="1"/>
          <p:nvPr/>
        </p:nvSpPr>
        <p:spPr>
          <a:xfrm>
            <a:off x="548640" y="5760720"/>
            <a:ext cx="6949440" cy="365760"/>
          </a:xfrm>
          <a:prstGeom prst="rect">
            <a:avLst/>
          </a:prstGeom>
          <a:noFill/>
          <a:ln/>
        </p:spPr>
        <p:txBody>
          <a:bodyPr wrap="square" lIns="0" tIns="0" rIns="0" bIns="0" rtlCol="0" anchor="t"/>
          <a:lstStyle/>
          <a:p>
            <a:pPr indent="0" marL="0">
              <a:buNone/>
            </a:pPr>
            <a:r>
              <a:rPr lang="en-US" sz="1600" b="1" dirty="0">
                <a:solidFill>
                  <a:srgbClr val="64D2FF"/>
                </a:solidFill>
                <a:latin typeface="Calibri" pitchFamily="34" charset="0"/>
                <a:ea typeface="Calibri" pitchFamily="34" charset="-122"/>
                <a:cs typeface="Calibri" pitchFamily="34" charset="-120"/>
              </a:rPr>
              <a:t>reachnt.vercel.app</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3AD"/>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People stay in charge, and tenants can push back</a:t>
            </a:r>
            <a:endParaRPr lang="en-US" sz="2800" dirty="0"/>
          </a:p>
        </p:txBody>
      </p:sp>
      <p:pic>
        <p:nvPicPr>
          <p:cNvPr id="3" name="trust-phone" descr="trust-phone">    </p:cNvPr>
          <p:cNvPicPr>
            <a:picLocks noChangeAspect="1"/>
          </p:cNvPicPr>
          <p:nvPr/>
        </p:nvPicPr>
        <p:blipFill>
          <a:blip r:embed="rId1"/>
          <a:stretch>
            <a:fillRect/>
          </a:stretch>
        </p:blipFill>
        <p:spPr>
          <a:xfrm>
            <a:off x="548640" y="1325880"/>
            <a:ext cx="2194560" cy="4754880"/>
          </a:xfrm>
          <a:prstGeom prst="rect">
            <a:avLst/>
          </a:prstGeom>
        </p:spPr>
      </p:pic>
      <p:sp>
        <p:nvSpPr>
          <p:cNvPr id="4" name="trust-hex-0"/>
          <p:cNvSpPr/>
          <p:nvPr/>
        </p:nvSpPr>
        <p:spPr>
          <a:xfrm>
            <a:off x="3108960" y="1335024"/>
            <a:ext cx="512064" cy="450616"/>
          </a:xfrm>
          <a:prstGeom prst="hexagon">
            <a:avLst/>
          </a:prstGeom>
          <a:solidFill>
            <a:srgbClr val="D97706"/>
          </a:solidFill>
          <a:ln w="12700">
            <a:solidFill>
              <a:srgbClr val="D97706"/>
            </a:solidFill>
            <a:prstDash val="solid"/>
          </a:ln>
        </p:spPr>
      </p:sp>
      <p:sp>
        <p:nvSpPr>
          <p:cNvPr id="5" name="trust-h-0"/>
          <p:cNvSpPr txBox="1"/>
          <p:nvPr/>
        </p:nvSpPr>
        <p:spPr>
          <a:xfrm>
            <a:off x="3840480" y="1280160"/>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A named person signs the trade-off</a:t>
            </a:r>
            <a:endParaRPr lang="en-US" sz="1700" dirty="0"/>
          </a:p>
        </p:txBody>
      </p:sp>
      <p:sp>
        <p:nvSpPr>
          <p:cNvPr id="6" name="trust-b-0"/>
          <p:cNvSpPr txBox="1"/>
          <p:nvPr/>
        </p:nvSpPr>
        <p:spPr>
          <a:xfrm>
            <a:off x="3840480" y="1636776"/>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How much cost may count is a signed decision, kept in a tamper-evident record</a:t>
            </a:r>
            <a:endParaRPr lang="en-US" sz="1400" dirty="0"/>
          </a:p>
        </p:txBody>
      </p:sp>
      <p:sp>
        <p:nvSpPr>
          <p:cNvPr id="7" name="trust-hex-1"/>
          <p:cNvSpPr/>
          <p:nvPr/>
        </p:nvSpPr>
        <p:spPr>
          <a:xfrm>
            <a:off x="3108960" y="2148840"/>
            <a:ext cx="512064" cy="450616"/>
          </a:xfrm>
          <a:prstGeom prst="hexagon">
            <a:avLst/>
          </a:prstGeom>
          <a:solidFill>
            <a:srgbClr val="E5352B"/>
          </a:solidFill>
          <a:ln w="12700">
            <a:solidFill>
              <a:srgbClr val="E5352B"/>
            </a:solidFill>
            <a:prstDash val="solid"/>
          </a:ln>
        </p:spPr>
      </p:sp>
      <p:sp>
        <p:nvSpPr>
          <p:cNvPr id="8" name="trust-h-1"/>
          <p:cNvSpPr txBox="1"/>
          <p:nvPr/>
        </p:nvSpPr>
        <p:spPr>
          <a:xfrm>
            <a:off x="3840480" y="2093976"/>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A person can change urgency at any time</a:t>
            </a:r>
            <a:endParaRPr lang="en-US" sz="1700" dirty="0"/>
          </a:p>
        </p:txBody>
      </p:sp>
      <p:sp>
        <p:nvSpPr>
          <p:cNvPr id="9" name="trust-b-1"/>
          <p:cNvSpPr txBox="1"/>
          <p:nvPr/>
        </p:nvSpPr>
        <p:spPr>
          <a:xfrm>
            <a:off x="3840480" y="2450592"/>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From a call, a visit, a photo or a review. Lowering danger needs someone who spoke to the tenant or saw it</a:t>
            </a:r>
            <a:endParaRPr lang="en-US" sz="1400" dirty="0"/>
          </a:p>
        </p:txBody>
      </p:sp>
      <p:sp>
        <p:nvSpPr>
          <p:cNvPr id="10" name="trust-hex-2"/>
          <p:cNvSpPr/>
          <p:nvPr/>
        </p:nvSpPr>
        <p:spPr>
          <a:xfrm>
            <a:off x="3108960" y="2962656"/>
            <a:ext cx="512064" cy="450616"/>
          </a:xfrm>
          <a:prstGeom prst="hexagon">
            <a:avLst/>
          </a:prstGeom>
          <a:solidFill>
            <a:srgbClr val="1F9D4C"/>
          </a:solidFill>
          <a:ln w="12700">
            <a:solidFill>
              <a:srgbClr val="1F9D4C"/>
            </a:solidFill>
            <a:prstDash val="solid"/>
          </a:ln>
        </p:spPr>
      </p:sp>
      <p:sp>
        <p:nvSpPr>
          <p:cNvPr id="11" name="trust-h-2"/>
          <p:cNvSpPr txBox="1"/>
          <p:nvPr/>
        </p:nvSpPr>
        <p:spPr>
          <a:xfrm>
            <a:off x="3840480" y="2907792"/>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A missed visit is never closed, and keeps its place</a:t>
            </a:r>
            <a:endParaRPr lang="en-US" sz="1700" dirty="0"/>
          </a:p>
        </p:txBody>
      </p:sp>
      <p:sp>
        <p:nvSpPr>
          <p:cNvPr id="12" name="trust-b-2"/>
          <p:cNvSpPr txBox="1"/>
          <p:nvPr/>
        </p:nvSpPr>
        <p:spPr>
          <a:xfrm>
            <a:off x="3840480" y="3264408"/>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Time and what was tried are recorded; then the next trip, another crew, or anyone who can go sooner</a:t>
            </a:r>
            <a:endParaRPr lang="en-US" sz="1400" dirty="0"/>
          </a:p>
        </p:txBody>
      </p:sp>
      <p:sp>
        <p:nvSpPr>
          <p:cNvPr id="13" name="trust-hex-3"/>
          <p:cNvSpPr/>
          <p:nvPr/>
        </p:nvSpPr>
        <p:spPr>
          <a:xfrm>
            <a:off x="3108960" y="3776472"/>
            <a:ext cx="512064" cy="450616"/>
          </a:xfrm>
          <a:prstGeom prst="hexagon">
            <a:avLst/>
          </a:prstGeom>
          <a:solidFill>
            <a:srgbClr val="6E56CF"/>
          </a:solidFill>
          <a:ln w="12700">
            <a:solidFill>
              <a:srgbClr val="6E56CF"/>
            </a:solidFill>
            <a:prstDash val="solid"/>
          </a:ln>
        </p:spPr>
      </p:sp>
      <p:sp>
        <p:nvSpPr>
          <p:cNvPr id="14" name="trust-h-3"/>
          <p:cNvSpPr txBox="1"/>
          <p:nvPr/>
        </p:nvSpPr>
        <p:spPr>
          <a:xfrm>
            <a:off x="3840480" y="3721608"/>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No app needed: the housing officer acts for the tenant</a:t>
            </a:r>
            <a:endParaRPr lang="en-US" sz="1700" dirty="0"/>
          </a:p>
        </p:txBody>
      </p:sp>
      <p:sp>
        <p:nvSpPr>
          <p:cNvPr id="15" name="trust-b-3"/>
          <p:cNvSpPr txBox="1"/>
          <p:nvPr/>
        </p:nvSpPr>
        <p:spPr>
          <a:xfrm>
            <a:off x="3840480" y="4078224"/>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Fixed, still broken, got worse or a review. A fix that didn't hold moves up the line</a:t>
            </a:r>
            <a:endParaRPr lang="en-US" sz="1400" dirty="0"/>
          </a:p>
        </p:txBody>
      </p:sp>
      <p:sp>
        <p:nvSpPr>
          <p:cNvPr id="16" name="trust-hex-4"/>
          <p:cNvSpPr/>
          <p:nvPr/>
        </p:nvSpPr>
        <p:spPr>
          <a:xfrm>
            <a:off x="3108960" y="4590288"/>
            <a:ext cx="512064" cy="450616"/>
          </a:xfrm>
          <a:prstGeom prst="hexagon">
            <a:avLst/>
          </a:prstGeom>
          <a:solidFill>
            <a:srgbClr val="0E8FB8"/>
          </a:solidFill>
          <a:ln w="12700">
            <a:solidFill>
              <a:srgbClr val="0E8FB8"/>
            </a:solidFill>
            <a:prstDash val="solid"/>
          </a:ln>
        </p:spPr>
      </p:sp>
      <p:sp>
        <p:nvSpPr>
          <p:cNvPr id="17" name="trust-h-4"/>
          <p:cNvSpPr txBox="1"/>
          <p:nvPr/>
        </p:nvSpPr>
        <p:spPr>
          <a:xfrm>
            <a:off x="3840480" y="4535424"/>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People check the AI every week</a:t>
            </a:r>
            <a:endParaRPr lang="en-US" sz="1700" dirty="0"/>
          </a:p>
        </p:txBody>
      </p:sp>
      <p:sp>
        <p:nvSpPr>
          <p:cNvPr id="18" name="trust-b-4"/>
          <p:cNvSpPr txBox="1"/>
          <p:nvPr/>
        </p:nvSpPr>
        <p:spPr>
          <a:xfrm>
            <a:off x="3840480" y="4892040"/>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1 in 20 reports the computer read alone is re-read by a person</a:t>
            </a:r>
            <a:endParaRPr lang="en-US" sz="1400" dirty="0"/>
          </a:p>
        </p:txBody>
      </p:sp>
      <p:sp>
        <p:nvSpPr>
          <p:cNvPr id="19" name="trust-hex-5"/>
          <p:cNvSpPr/>
          <p:nvPr/>
        </p:nvSpPr>
        <p:spPr>
          <a:xfrm>
            <a:off x="3108960" y="5404104"/>
            <a:ext cx="512064" cy="450616"/>
          </a:xfrm>
          <a:prstGeom prst="hexagon">
            <a:avLst/>
          </a:prstGeom>
          <a:solidFill>
            <a:srgbClr val="14181D"/>
          </a:solidFill>
          <a:ln w="12700">
            <a:solidFill>
              <a:srgbClr val="14181D"/>
            </a:solidFill>
            <a:prstDash val="solid"/>
          </a:ln>
        </p:spPr>
      </p:sp>
      <p:sp>
        <p:nvSpPr>
          <p:cNvPr id="20" name="trust-h-5"/>
          <p:cNvSpPr txBox="1"/>
          <p:nvPr/>
        </p:nvSpPr>
        <p:spPr>
          <a:xfrm>
            <a:off x="3840480" y="5349240"/>
            <a:ext cx="7772400" cy="347472"/>
          </a:xfrm>
          <a:prstGeom prst="rect">
            <a:avLst/>
          </a:prstGeom>
          <a:noFill/>
          <a:ln/>
        </p:spPr>
        <p:txBody>
          <a:bodyPr wrap="square" lIns="0" tIns="0" rIns="0" bIns="0" rtlCol="0" anchor="t"/>
          <a:lstStyle/>
          <a:p>
            <a:pPr indent="0" marL="0">
              <a:buNone/>
            </a:pPr>
            <a:r>
              <a:rPr lang="en-US" sz="1700" b="1" dirty="0">
                <a:solidFill>
                  <a:srgbClr val="14181D"/>
                </a:solidFill>
                <a:latin typeface="Calibri" pitchFamily="34" charset="0"/>
                <a:ea typeface="Calibri" pitchFamily="34" charset="-122"/>
                <a:cs typeface="Calibri" pitchFamily="34" charset="-120"/>
              </a:rPr>
              <a:t>Personal details locked away</a:t>
            </a:r>
            <a:endParaRPr lang="en-US" sz="1700" dirty="0"/>
          </a:p>
        </p:txBody>
      </p:sp>
      <p:sp>
        <p:nvSpPr>
          <p:cNvPr id="21" name="trust-b-5"/>
          <p:cNvSpPr txBox="1"/>
          <p:nvPr/>
        </p:nvSpPr>
        <p:spPr>
          <a:xfrm>
            <a:off x="3840480" y="5705856"/>
            <a:ext cx="7772400" cy="411480"/>
          </a:xfrm>
          <a:prstGeom prst="rect">
            <a:avLst/>
          </a:prstGeom>
          <a:noFill/>
          <a:ln/>
        </p:spPr>
        <p:txBody>
          <a:bodyPr wrap="square" lIns="0" tIns="0" rIns="0" bIns="0" rtlCol="0" anchor="t"/>
          <a:lstStyle/>
          <a:p>
            <a:pPr indent="0" marL="0">
              <a:buNone/>
            </a:pPr>
            <a:r>
              <a:rPr lang="en-US" sz="1400" dirty="0">
                <a:solidFill>
                  <a:srgbClr val="4A525C"/>
                </a:solidFill>
                <a:latin typeface="Calibri" pitchFamily="34" charset="0"/>
                <a:ea typeface="Calibri" pitchFamily="34" charset="-122"/>
                <a:cs typeface="Calibri" pitchFamily="34" charset="-120"/>
              </a:rPr>
              <a:t>Names, phones and addresses in an encrypted vault; the house is just a hexagon</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What we tested, and what we can't claim yet</a:t>
            </a:r>
            <a:endParaRPr lang="en-US" sz="2800" dirty="0"/>
          </a:p>
        </p:txBody>
      </p:sp>
      <p:sp>
        <p:nvSpPr>
          <p:cNvPr id="3" name="tested-card"/>
          <p:cNvSpPr/>
          <p:nvPr/>
        </p:nvSpPr>
        <p:spPr>
          <a:xfrm>
            <a:off x="548640" y="1417320"/>
            <a:ext cx="5349240" cy="4663440"/>
          </a:xfrm>
          <a:prstGeom prst="roundRect">
            <a:avLst>
              <a:gd name="adj" fmla="val 1961"/>
            </a:avLst>
          </a:prstGeom>
          <a:solidFill>
            <a:srgbClr val="E3F4E8"/>
          </a:solidFill>
          <a:ln w="12700">
            <a:solidFill>
              <a:srgbClr val="E3F4E8"/>
            </a:solidFill>
            <a:prstDash val="solid"/>
          </a:ln>
        </p:spPr>
      </p:sp>
      <p:sp>
        <p:nvSpPr>
          <p:cNvPr id="4" name="tested-h"/>
          <p:cNvSpPr txBox="1"/>
          <p:nvPr/>
        </p:nvSpPr>
        <p:spPr>
          <a:xfrm>
            <a:off x="822960" y="1645920"/>
            <a:ext cx="4846320" cy="457200"/>
          </a:xfrm>
          <a:prstGeom prst="rect">
            <a:avLst/>
          </a:prstGeom>
          <a:noFill/>
          <a:ln/>
        </p:spPr>
        <p:txBody>
          <a:bodyPr wrap="square" lIns="0" tIns="0" rIns="0" bIns="0" rtlCol="0" anchor="t"/>
          <a:lstStyle/>
          <a:p>
            <a:pPr indent="0" marL="0">
              <a:buNone/>
            </a:pPr>
            <a:r>
              <a:rPr lang="en-US" sz="2200" b="1" dirty="0">
                <a:solidFill>
                  <a:srgbClr val="1F9D4C"/>
                </a:solidFill>
                <a:latin typeface="Arial" pitchFamily="34" charset="0"/>
                <a:ea typeface="Arial" pitchFamily="34" charset="-122"/>
                <a:cs typeface="Arial" pitchFamily="34" charset="-120"/>
              </a:rPr>
              <a:t>Tested</a:t>
            </a:r>
            <a:endParaRPr lang="en-US" sz="2200" dirty="0"/>
          </a:p>
        </p:txBody>
      </p:sp>
      <p:sp>
        <p:nvSpPr>
          <p:cNvPr id="5" name="tested-0"/>
          <p:cNvSpPr txBox="1"/>
          <p:nvPr/>
        </p:nvSpPr>
        <p:spPr>
          <a:xfrm>
            <a:off x="822960" y="2240280"/>
            <a:ext cx="4846320" cy="68580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148 automated checks on every code change: data, the reader, fair intake, the planner, the server</a:t>
            </a:r>
            <a:endParaRPr lang="en-US" sz="1500" dirty="0"/>
          </a:p>
        </p:txBody>
      </p:sp>
      <p:sp>
        <p:nvSpPr>
          <p:cNvPr id="6" name="tested-1"/>
          <p:cNvSpPr txBox="1"/>
          <p:nvPr/>
        </p:nvSpPr>
        <p:spPr>
          <a:xfrm>
            <a:off x="822960" y="2990088"/>
            <a:ext cx="4846320" cy="68580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Five random years of requests; the result held in all five</a:t>
            </a:r>
            <a:endParaRPr lang="en-US" sz="1500" dirty="0"/>
          </a:p>
        </p:txBody>
      </p:sp>
      <p:sp>
        <p:nvSpPr>
          <p:cNvPr id="7" name="tested-2"/>
          <p:cNvSpPr txBox="1"/>
          <p:nvPr/>
        </p:nvSpPr>
        <p:spPr>
          <a:xfrm>
            <a:off x="822960" y="3739896"/>
            <a:ext cx="4846320" cy="68580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Every community's position checked against satellite photos</a:t>
            </a:r>
            <a:endParaRPr lang="en-US" sz="1500" dirty="0"/>
          </a:p>
        </p:txBody>
      </p:sp>
      <p:sp>
        <p:nvSpPr>
          <p:cNvPr id="8" name="tested-3"/>
          <p:cNvSpPr txBox="1"/>
          <p:nvPr/>
        </p:nvSpPr>
        <p:spPr>
          <a:xfrm>
            <a:off x="822960" y="4489704"/>
            <a:ext cx="4846320" cy="68580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Accessibility: 0 WCAG 2.2 AA issues in every view</a:t>
            </a:r>
            <a:endParaRPr lang="en-US" sz="1500" dirty="0"/>
          </a:p>
        </p:txBody>
      </p:sp>
      <p:sp>
        <p:nvSpPr>
          <p:cNvPr id="9" name="tested-4"/>
          <p:cNvSpPr txBox="1"/>
          <p:nvPr/>
        </p:nvSpPr>
        <p:spPr>
          <a:xfrm>
            <a:off x="822960" y="5239512"/>
            <a:ext cx="4846320" cy="68580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Security: locked-down site, validated inputs, sign-in rules ready</a:t>
            </a:r>
            <a:endParaRPr lang="en-US" sz="1500" dirty="0"/>
          </a:p>
        </p:txBody>
      </p:sp>
      <p:sp>
        <p:nvSpPr>
          <p:cNvPr id="10" name="limits-card"/>
          <p:cNvSpPr/>
          <p:nvPr/>
        </p:nvSpPr>
        <p:spPr>
          <a:xfrm>
            <a:off x="6263640" y="1417320"/>
            <a:ext cx="5349240" cy="4663440"/>
          </a:xfrm>
          <a:prstGeom prst="roundRect">
            <a:avLst>
              <a:gd name="adj" fmla="val 1961"/>
            </a:avLst>
          </a:prstGeom>
          <a:solidFill>
            <a:srgbClr val="FBEEDD"/>
          </a:solidFill>
          <a:ln w="12700">
            <a:solidFill>
              <a:srgbClr val="FBEEDD"/>
            </a:solidFill>
            <a:prstDash val="solid"/>
          </a:ln>
        </p:spPr>
      </p:sp>
      <p:sp>
        <p:nvSpPr>
          <p:cNvPr id="11" name="limits-h"/>
          <p:cNvSpPr txBox="1"/>
          <p:nvPr/>
        </p:nvSpPr>
        <p:spPr>
          <a:xfrm>
            <a:off x="6537960" y="1645920"/>
            <a:ext cx="4846320" cy="457200"/>
          </a:xfrm>
          <a:prstGeom prst="rect">
            <a:avLst/>
          </a:prstGeom>
          <a:noFill/>
          <a:ln/>
        </p:spPr>
        <p:txBody>
          <a:bodyPr wrap="square" lIns="0" tIns="0" rIns="0" bIns="0" rtlCol="0" anchor="t"/>
          <a:lstStyle/>
          <a:p>
            <a:pPr indent="0" marL="0">
              <a:buNone/>
            </a:pPr>
            <a:r>
              <a:rPr lang="en-US" sz="2200" b="1" dirty="0">
                <a:solidFill>
                  <a:srgbClr val="D97706"/>
                </a:solidFill>
                <a:latin typeface="Arial" pitchFamily="34" charset="0"/>
                <a:ea typeface="Arial" pitchFamily="34" charset="-122"/>
                <a:cs typeface="Arial" pitchFamily="34" charset="-120"/>
              </a:rPr>
              <a:t>Not yet</a:t>
            </a:r>
            <a:endParaRPr lang="en-US" sz="2200" dirty="0"/>
          </a:p>
        </p:txBody>
      </p:sp>
      <p:sp>
        <p:nvSpPr>
          <p:cNvPr id="12" name="limit-0"/>
          <p:cNvSpPr txBox="1"/>
          <p:nvPr/>
        </p:nvSpPr>
        <p:spPr>
          <a:xfrm>
            <a:off x="6537960" y="2240280"/>
            <a:ext cx="4846320" cy="86868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The repair requests and households are synthetic: no public NT repair data exists</a:t>
            </a:r>
            <a:endParaRPr lang="en-US" sz="1500" dirty="0"/>
          </a:p>
        </p:txBody>
      </p:sp>
      <p:sp>
        <p:nvSpPr>
          <p:cNvPr id="13" name="limit-1"/>
          <p:cNvSpPr txBox="1"/>
          <p:nvPr/>
        </p:nvSpPr>
        <p:spPr>
          <a:xfrm>
            <a:off x="6537960" y="3154680"/>
            <a:ext cx="4846320" cy="86868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The reader is tested in English only. Tenants speak Kriol, Aboriginal English and many languages</a:t>
            </a:r>
            <a:endParaRPr lang="en-US" sz="1500" dirty="0"/>
          </a:p>
        </p:txBody>
      </p:sp>
      <p:sp>
        <p:nvSpPr>
          <p:cNvPr id="14" name="limit-2"/>
          <p:cNvSpPr txBox="1"/>
          <p:nvPr/>
        </p:nvSpPr>
        <p:spPr>
          <a:xfrm>
            <a:off x="6537960" y="4069080"/>
            <a:ext cx="4846320" cy="86868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No community has reviewed it yet. That comes first, not last</a:t>
            </a:r>
            <a:endParaRPr lang="en-US" sz="1500" dirty="0"/>
          </a:p>
        </p:txBody>
      </p:sp>
      <p:sp>
        <p:nvSpPr>
          <p:cNvPr id="15" name="limit-3"/>
          <p:cNvSpPr txBox="1"/>
          <p:nvPr/>
        </p:nvSpPr>
        <p:spPr>
          <a:xfrm>
            <a:off x="6537960" y="4983480"/>
            <a:ext cx="4846320" cy="868680"/>
          </a:xfrm>
          <a:prstGeom prst="rect">
            <a:avLst/>
          </a:prstGeom>
          <a:noFill/>
          <a:ln/>
        </p:spPr>
        <p:txBody>
          <a:bodyPr wrap="square" lIns="0" tIns="0" rIns="0" bIns="0" rtlCol="0" anchor="t"/>
          <a:lstStyle/>
          <a:p>
            <a:pPr marL="342900" indent="-342900">
              <a:buSzPct val="100000"/>
              <a:buChar char="•"/>
            </a:pPr>
            <a:r>
              <a:rPr lang="en-US" sz="1500" dirty="0">
                <a:solidFill>
                  <a:srgbClr val="14181D"/>
                </a:solidFill>
                <a:latin typeface="Calibri" pitchFamily="34" charset="0"/>
                <a:ea typeface="Calibri" pitchFamily="34" charset="-122"/>
                <a:cs typeface="Calibri" pitchFamily="34" charset="-120"/>
              </a:rPr>
              <a:t>Our test kit is ready the day real reports arrive, labelled with the Aboriginal Interpreter Service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nchor="t"/>
          <a:lstStyle/>
          <a:p>
            <a:pPr algn="l" indent="0" marL="0">
              <a:buNone/>
            </a:pPr>
            <a:r>
              <a:rPr lang="en-US" sz="2800" b="1" dirty="0">
                <a:solidFill>
                  <a:schemeClr val="tx1"/>
                </a:solidFill>
                <a:latin typeface="Arial" pitchFamily="34" charset="0"/>
                <a:ea typeface="Arial" pitchFamily="34" charset="-122"/>
                <a:cs typeface="Arial" pitchFamily="34" charset="-120"/>
              </a:rPr>
              <a:t>What we recommend</a:t>
            </a:r>
            <a:endParaRPr lang="en-US" sz="2800" dirty="0"/>
          </a:p>
        </p:txBody>
      </p:sp>
      <p:sp>
        <p:nvSpPr>
          <p:cNvPr id="3" name="rec-1"/>
          <p:cNvSpPr/>
          <p:nvPr/>
        </p:nvSpPr>
        <p:spPr>
          <a:xfrm>
            <a:off x="548640" y="1463040"/>
            <a:ext cx="11064240" cy="1371600"/>
          </a:xfrm>
          <a:prstGeom prst="roundRect">
            <a:avLst>
              <a:gd name="adj" fmla="val 6667"/>
            </a:avLst>
          </a:prstGeom>
          <a:solidFill>
            <a:srgbClr val="F1F3F5"/>
          </a:solidFill>
          <a:ln w="12700">
            <a:solidFill>
              <a:srgbClr val="F1F3F5"/>
            </a:solidFill>
            <a:prstDash val="solid"/>
          </a:ln>
        </p:spPr>
      </p:sp>
      <p:sp>
        <p:nvSpPr>
          <p:cNvPr id="4" name="rec-hex-1"/>
          <p:cNvSpPr/>
          <p:nvPr/>
        </p:nvSpPr>
        <p:spPr>
          <a:xfrm>
            <a:off x="868680" y="1737360"/>
            <a:ext cx="868680" cy="764438"/>
          </a:xfrm>
          <a:prstGeom prst="hexagon">
            <a:avLst/>
          </a:prstGeom>
          <a:solidFill>
            <a:srgbClr val="D97706"/>
          </a:solidFill>
          <a:ln w="12700">
            <a:solidFill>
              <a:srgbClr val="D97706"/>
            </a:solidFill>
            <a:prstDash val="solid"/>
          </a:ln>
        </p:spPr>
      </p:sp>
      <p:sp>
        <p:nvSpPr>
          <p:cNvPr id="5" name="rec-hex-1-t"/>
          <p:cNvSpPr txBox="1"/>
          <p:nvPr/>
        </p:nvSpPr>
        <p:spPr>
          <a:xfrm>
            <a:off x="868680" y="173736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6" name="rec-h-1"/>
          <p:cNvSpPr txBox="1"/>
          <p:nvPr/>
        </p:nvSpPr>
        <p:spPr>
          <a:xfrm>
            <a:off x="2057400" y="1664208"/>
            <a:ext cx="9326880" cy="41148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Make the trade-off a signed decision</a:t>
            </a:r>
            <a:endParaRPr lang="en-US" sz="2100" dirty="0"/>
          </a:p>
        </p:txBody>
      </p:sp>
      <p:sp>
        <p:nvSpPr>
          <p:cNvPr id="7" name="rec-b-1"/>
          <p:cNvSpPr txBox="1"/>
          <p:nvPr/>
        </p:nvSpPr>
        <p:spPr>
          <a:xfrm>
            <a:off x="2057400" y="2121408"/>
            <a:ext cx="9326880" cy="640080"/>
          </a:xfrm>
          <a:prstGeom prst="rect">
            <a:avLst/>
          </a:prstGeom>
          <a:noFill/>
          <a:ln/>
        </p:spPr>
        <p:txBody>
          <a:bodyPr wrap="square" lIns="0" tIns="0" rIns="0" bIns="0" rtlCol="0" anchor="t"/>
          <a:lstStyle/>
          <a:p>
            <a:pPr indent="0" marL="0">
              <a:buNone/>
            </a:pPr>
            <a:r>
              <a:rPr lang="en-US" sz="1600" dirty="0">
                <a:solidFill>
                  <a:srgbClr val="4A525C"/>
                </a:solidFill>
                <a:latin typeface="Calibri" pitchFamily="34" charset="0"/>
                <a:ea typeface="Calibri" pitchFamily="34" charset="-122"/>
                <a:cs typeface="Calibri" pitchFamily="34" charset="-120"/>
              </a:rPr>
              <a:t>Publish the triage rules, ask every tenant the same questions however they report, and record who decides how much cost may count.</a:t>
            </a:r>
            <a:endParaRPr lang="en-US" sz="1600" dirty="0"/>
          </a:p>
        </p:txBody>
      </p:sp>
      <p:sp>
        <p:nvSpPr>
          <p:cNvPr id="8" name="rec-2"/>
          <p:cNvSpPr/>
          <p:nvPr/>
        </p:nvSpPr>
        <p:spPr>
          <a:xfrm>
            <a:off x="548640" y="3017520"/>
            <a:ext cx="11064240" cy="1371600"/>
          </a:xfrm>
          <a:prstGeom prst="roundRect">
            <a:avLst>
              <a:gd name="adj" fmla="val 6667"/>
            </a:avLst>
          </a:prstGeom>
          <a:solidFill>
            <a:srgbClr val="F1F3F5"/>
          </a:solidFill>
          <a:ln w="12700">
            <a:solidFill>
              <a:srgbClr val="F1F3F5"/>
            </a:solidFill>
            <a:prstDash val="solid"/>
          </a:ln>
        </p:spPr>
      </p:sp>
      <p:sp>
        <p:nvSpPr>
          <p:cNvPr id="9" name="rec-hex-2"/>
          <p:cNvSpPr/>
          <p:nvPr/>
        </p:nvSpPr>
        <p:spPr>
          <a:xfrm>
            <a:off x="868680" y="3291840"/>
            <a:ext cx="868680" cy="764438"/>
          </a:xfrm>
          <a:prstGeom prst="hexagon">
            <a:avLst/>
          </a:prstGeom>
          <a:solidFill>
            <a:srgbClr val="0E8FB8"/>
          </a:solidFill>
          <a:ln w="12700">
            <a:solidFill>
              <a:srgbClr val="0E8FB8"/>
            </a:solidFill>
            <a:prstDash val="solid"/>
          </a:ln>
        </p:spPr>
      </p:sp>
      <p:sp>
        <p:nvSpPr>
          <p:cNvPr id="10" name="rec-hex-2-t"/>
          <p:cNvSpPr txBox="1"/>
          <p:nvPr/>
        </p:nvSpPr>
        <p:spPr>
          <a:xfrm>
            <a:off x="868680" y="329184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1" name="rec-h-2"/>
          <p:cNvSpPr txBox="1"/>
          <p:nvPr/>
        </p:nvSpPr>
        <p:spPr>
          <a:xfrm>
            <a:off x="2057400" y="3218688"/>
            <a:ext cx="9326880" cy="41148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Pilot in one region, with communities</a:t>
            </a:r>
            <a:endParaRPr lang="en-US" sz="2100" dirty="0"/>
          </a:p>
        </p:txBody>
      </p:sp>
      <p:sp>
        <p:nvSpPr>
          <p:cNvPr id="12" name="rec-b-2"/>
          <p:cNvSpPr txBox="1"/>
          <p:nvPr/>
        </p:nvSpPr>
        <p:spPr>
          <a:xfrm>
            <a:off x="2057400" y="3675888"/>
            <a:ext cx="9326880" cy="640080"/>
          </a:xfrm>
          <a:prstGeom prst="rect">
            <a:avLst/>
          </a:prstGeom>
          <a:noFill/>
          <a:ln/>
        </p:spPr>
        <p:txBody>
          <a:bodyPr wrap="square" lIns="0" tIns="0" rIns="0" bIns="0" rtlCol="0" anchor="t"/>
          <a:lstStyle/>
          <a:p>
            <a:pPr indent="0" marL="0">
              <a:buNone/>
            </a:pPr>
            <a:r>
              <a:rPr lang="en-US" sz="1600" dirty="0">
                <a:solidFill>
                  <a:srgbClr val="4A525C"/>
                </a:solidFill>
                <a:latin typeface="Calibri" pitchFamily="34" charset="0"/>
                <a:ea typeface="Calibri" pitchFamily="34" charset="-122"/>
                <a:cs typeface="Calibri" pitchFamily="34" charset="-120"/>
              </a:rPr>
              <a:t>Start with the Katherine hub's 16 communities, co-designed with tenants, Aboriginal Housing NT, land councils and the Interpreter Service.</a:t>
            </a:r>
            <a:endParaRPr lang="en-US" sz="1600" dirty="0"/>
          </a:p>
        </p:txBody>
      </p:sp>
      <p:sp>
        <p:nvSpPr>
          <p:cNvPr id="13" name="rec-3"/>
          <p:cNvSpPr/>
          <p:nvPr/>
        </p:nvSpPr>
        <p:spPr>
          <a:xfrm>
            <a:off x="548640" y="4572000"/>
            <a:ext cx="11064240" cy="1371600"/>
          </a:xfrm>
          <a:prstGeom prst="roundRect">
            <a:avLst>
              <a:gd name="adj" fmla="val 6667"/>
            </a:avLst>
          </a:prstGeom>
          <a:solidFill>
            <a:srgbClr val="F1F3F5"/>
          </a:solidFill>
          <a:ln w="12700">
            <a:solidFill>
              <a:srgbClr val="F1F3F5"/>
            </a:solidFill>
            <a:prstDash val="solid"/>
          </a:ln>
        </p:spPr>
      </p:sp>
      <p:sp>
        <p:nvSpPr>
          <p:cNvPr id="14" name="rec-hex-3"/>
          <p:cNvSpPr/>
          <p:nvPr/>
        </p:nvSpPr>
        <p:spPr>
          <a:xfrm>
            <a:off x="868680" y="4846320"/>
            <a:ext cx="868680" cy="764438"/>
          </a:xfrm>
          <a:prstGeom prst="hexagon">
            <a:avLst/>
          </a:prstGeom>
          <a:solidFill>
            <a:srgbClr val="6E56CF"/>
          </a:solidFill>
          <a:ln w="12700">
            <a:solidFill>
              <a:srgbClr val="6E56CF"/>
            </a:solidFill>
            <a:prstDash val="solid"/>
          </a:ln>
        </p:spPr>
      </p:sp>
      <p:sp>
        <p:nvSpPr>
          <p:cNvPr id="15" name="rec-hex-3-t"/>
          <p:cNvSpPr txBox="1"/>
          <p:nvPr/>
        </p:nvSpPr>
        <p:spPr>
          <a:xfrm>
            <a:off x="868680" y="4846320"/>
            <a:ext cx="868680" cy="76443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6" name="rec-h-3"/>
          <p:cNvSpPr txBox="1"/>
          <p:nvPr/>
        </p:nvSpPr>
        <p:spPr>
          <a:xfrm>
            <a:off x="2057400" y="4773168"/>
            <a:ext cx="9326880" cy="411480"/>
          </a:xfrm>
          <a:prstGeom prst="rect">
            <a:avLst/>
          </a:prstGeom>
          <a:noFill/>
          <a:ln/>
        </p:spPr>
        <p:txBody>
          <a:bodyPr wrap="square" lIns="0" tIns="0" rIns="0" bIns="0" rtlCol="0" anchor="t"/>
          <a:lstStyle/>
          <a:p>
            <a:pPr indent="0" marL="0">
              <a:buNone/>
            </a:pPr>
            <a:r>
              <a:rPr lang="en-US" sz="2100" b="1" dirty="0">
                <a:solidFill>
                  <a:srgbClr val="14181D"/>
                </a:solidFill>
                <a:latin typeface="Arial" pitchFamily="34" charset="0"/>
                <a:ea typeface="Arial" pitchFamily="34" charset="-122"/>
                <a:cs typeface="Arial" pitchFamily="34" charset="-120"/>
              </a:rPr>
              <a:t>Test the AI on real words first</a:t>
            </a:r>
            <a:endParaRPr lang="en-US" sz="2100" dirty="0"/>
          </a:p>
        </p:txBody>
      </p:sp>
      <p:sp>
        <p:nvSpPr>
          <p:cNvPr id="17" name="rec-b-3"/>
          <p:cNvSpPr txBox="1"/>
          <p:nvPr/>
        </p:nvSpPr>
        <p:spPr>
          <a:xfrm>
            <a:off x="2057400" y="5230368"/>
            <a:ext cx="9326880" cy="640080"/>
          </a:xfrm>
          <a:prstGeom prst="rect">
            <a:avLst/>
          </a:prstGeom>
          <a:noFill/>
          <a:ln/>
        </p:spPr>
        <p:txBody>
          <a:bodyPr wrap="square" lIns="0" tIns="0" rIns="0" bIns="0" rtlCol="0" anchor="t"/>
          <a:lstStyle/>
          <a:p>
            <a:pPr indent="0" marL="0">
              <a:buNone/>
            </a:pPr>
            <a:r>
              <a:rPr lang="en-US" sz="1600" dirty="0">
                <a:solidFill>
                  <a:srgbClr val="4A525C"/>
                </a:solidFill>
                <a:latin typeface="Calibri" pitchFamily="34" charset="0"/>
                <a:ea typeface="Calibri" pitchFamily="34" charset="-122"/>
                <a:cs typeface="Calibri" pitchFamily="34" charset="-120"/>
              </a:rPr>
              <a:t>Score the reader on real reports in Kriol and Aboriginal English before it reads a single one on its own.</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close-backdrop" descr="close-backdrop">    </p:cNvPr>
          <p:cNvPicPr>
            <a:picLocks noChangeAspect="1"/>
          </p:cNvPicPr>
          <p:nvPr/>
        </p:nvPicPr>
        <p:blipFill>
          <a:blip r:embed="rId1">
            <a:alphaModFix amt="70000"/>
          </a:blip>
          <a:srcRect l="0" r="0" t="0" b="0"/>
          <a:stretch/>
        </p:blipFill>
        <p:spPr>
          <a:xfrm>
            <a:off x="6035040" y="0"/>
            <a:ext cx="6153912" cy="6858000"/>
          </a:xfrm>
          <a:prstGeom prst="rect">
            <a:avLst/>
          </a:prstGeom>
        </p:spPr>
      </p:pic>
      <p:sp>
        <p:nvSpPr>
          <p:cNvPr id="3" name="close-veil"/>
          <p:cNvSpPr/>
          <p:nvPr/>
        </p:nvSpPr>
        <p:spPr>
          <a:xfrm>
            <a:off x="0" y="0"/>
            <a:ext cx="6583680" cy="6858000"/>
          </a:xfrm>
          <a:prstGeom prst="rect">
            <a:avLst/>
          </a:prstGeom>
          <a:solidFill>
            <a:srgbClr val="0D1418"/>
          </a:solidFill>
          <a:ln w="12700">
            <a:solidFill>
              <a:srgbClr val="0D1418"/>
            </a:solidFill>
            <a:prstDash val="solid"/>
          </a:ln>
        </p:spPr>
      </p:sp>
      <p:sp>
        <p:nvSpPr>
          <p:cNvPr id="4" name="close-title"/>
          <p:cNvSpPr txBox="1"/>
          <p:nvPr/>
        </p:nvSpPr>
        <p:spPr>
          <a:xfrm>
            <a:off x="731520" y="685800"/>
            <a:ext cx="5486400" cy="2103120"/>
          </a:xfrm>
          <a:prstGeom prst="rect">
            <a:avLst/>
          </a:prstGeom>
          <a:noFill/>
          <a:ln/>
        </p:spPr>
        <p:txBody>
          <a:bodyPr wrap="square" lIns="0" tIns="0" rIns="0" bIns="0" rtlCol="0" anchor="b"/>
          <a:lstStyle/>
          <a:p>
            <a:pPr indent="0" marL="0">
              <a:buNone/>
            </a:pPr>
            <a:r>
              <a:rPr lang="en-US" sz="3600" b="1" dirty="0">
                <a:solidFill>
                  <a:srgbClr val="FFFFFF"/>
                </a:solidFill>
                <a:latin typeface="Arial" pitchFamily="34" charset="0"/>
                <a:ea typeface="Arial" pitchFamily="34" charset="-122"/>
                <a:cs typeface="Arial" pitchFamily="34" charset="-120"/>
              </a:rPr>
              <a:t>Where someone lives shouldn't decide how long they wait</a:t>
            </a:r>
            <a:endParaRPr lang="en-US" sz="3600" dirty="0"/>
          </a:p>
        </p:txBody>
      </p:sp>
      <p:sp>
        <p:nvSpPr>
          <p:cNvPr id="5" name="Text 0"/>
          <p:cNvSpPr/>
          <p:nvPr>
            <p:ph idx="101" type="body" hasCustomPrompt="1"/>
          </p:nvPr>
        </p:nvSpPr>
        <p:spPr>
          <a:xfrm>
            <a:off x="731520" y="2880360"/>
            <a:ext cx="6035040" cy="1645920"/>
          </a:xfrm>
          <a:prstGeom prst="rect">
            <a:avLst/>
          </a:prstGeom>
          <a:noFill/>
          <a:ln/>
        </p:spPr>
        <p:txBody>
          <a:bodyPr wrap="square" rtlCol="0" anchor="t"/>
          <a:lstStyle/>
          <a:p>
            <a:pPr algn="l" indent="0" marL="0">
              <a:buNone/>
            </a:pPr>
            <a:r>
              <a:rPr lang="en-US" sz="2200" dirty="0">
                <a:solidFill>
                  <a:srgbClr val="C9CFD6"/>
                </a:solidFill>
              </a:rPr>
              <a:t>ReachNT fixes 9 in 10 urgent remote repairs within 3 days instead of 62, for 47% more, and makes someone own that choice.</a:t>
            </a:r>
            <a:endParaRPr lang="en-US" sz="2200" dirty="0"/>
          </a:p>
        </p:txBody>
      </p:sp>
      <p:sp>
        <p:nvSpPr>
          <p:cNvPr id="6" name="close-links"/>
          <p:cNvSpPr txBox="1"/>
          <p:nvPr/>
        </p:nvSpPr>
        <p:spPr>
          <a:xfrm>
            <a:off x="731520" y="5074920"/>
            <a:ext cx="5852160" cy="365760"/>
          </a:xfrm>
          <a:prstGeom prst="rect">
            <a:avLst/>
          </a:prstGeom>
          <a:noFill/>
          <a:ln/>
        </p:spPr>
        <p:txBody>
          <a:bodyPr wrap="square" lIns="0" tIns="0" rIns="0" bIns="0" rtlCol="0" anchor="t"/>
          <a:lstStyle/>
          <a:p>
            <a:pPr indent="0" marL="0">
              <a:buNone/>
            </a:pPr>
            <a:r>
              <a:rPr lang="en-US" sz="1600" b="1" dirty="0">
                <a:solidFill>
                  <a:srgbClr val="64D2FF"/>
                </a:solidFill>
                <a:latin typeface="Calibri" pitchFamily="34" charset="0"/>
                <a:ea typeface="Calibri" pitchFamily="34" charset="-122"/>
                <a:cs typeface="Calibri" pitchFamily="34" charset="-120"/>
              </a:rPr>
              <a:t>reachnt.vercel.app  ·  github.com/harshrastogii/reachnt</a:t>
            </a:r>
            <a:endParaRPr lang="en-US" sz="1600" dirty="0"/>
          </a:p>
        </p:txBody>
      </p:sp>
      <p:sp>
        <p:nvSpPr>
          <p:cNvPr id="7" name="thanks"/>
          <p:cNvSpPr txBox="1"/>
          <p:nvPr/>
        </p:nvSpPr>
        <p:spPr>
          <a:xfrm>
            <a:off x="731520" y="5486400"/>
            <a:ext cx="5852160" cy="3657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Thank you. Questions welcome.</a:t>
            </a:r>
            <a:endParaRPr lang="en-US" sz="1800" dirty="0"/>
          </a:p>
        </p:txBody>
      </p:sp>
      <p:sp>
        <p:nvSpPr>
          <p:cNvPr id="9" name="Text 0"/>
          <p:cNvSpPr/>
          <p:nvPr>
            <p:ph idx="100" type="title" hasCustomPrompt="1"/>
          </p:nvPr>
        </p:nvSpPr>
        <p:spPr>
          <a:xfrm>
            <a:off x="731520" y="1463040"/>
            <a:ext cx="6766560" cy="1280160"/>
          </a:xfrm>
          <a:prstGeom prst="rect">
            <a:avLst/>
          </a:prstGeom>
          <a:noFill/>
          <a:ln/>
        </p:spPr>
        <p:txBody>
          <a:bodyPr wrap="square" rtlCol="0" anchor="b"/>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ReachNT</dc:title>
  <dc:subject>CDU IT Code Fair 2026, Artificial Intelligence Challenge: housing maintenance triage</dc:subject>
  <dc:creator>Team AIC015 Top Enders</dc:creator>
  <cp:lastModifiedBy>Team AIC015 Top Enders</cp:lastModifiedBy>
  <cp:revision>1</cp:revision>
  <dcterms:created xsi:type="dcterms:W3CDTF">2026-10-08T13:07:51Z</dcterms:created>
  <dcterms:modified xsi:type="dcterms:W3CDTF">2026-10-08T13:07:51Z</dcterms:modified>
</cp:coreProperties>
</file>